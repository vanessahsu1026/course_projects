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sldIdLst>
    <p:sldId id="256" r:id="rId2"/>
    <p:sldId id="257" r:id="rId3"/>
    <p:sldId id="261" r:id="rId4"/>
    <p:sldId id="258" r:id="rId5"/>
    <p:sldId id="259" r:id="rId6"/>
    <p:sldId id="260" r:id="rId7"/>
    <p:sldId id="262" r:id="rId8"/>
    <p:sldId id="263" r:id="rId9"/>
    <p:sldId id="264" r:id="rId10"/>
    <p:sldId id="265" r:id="rId11"/>
    <p:sldId id="266" r:id="rId12"/>
    <p:sldId id="269" r:id="rId13"/>
    <p:sldId id="270" r:id="rId14"/>
    <p:sldId id="271" r:id="rId15"/>
    <p:sldId id="273" r:id="rId16"/>
    <p:sldId id="274" r:id="rId17"/>
    <p:sldId id="275" r:id="rId18"/>
    <p:sldId id="276" r:id="rId19"/>
    <p:sldId id="277" r:id="rId20"/>
    <p:sldId id="278" r:id="rId21"/>
    <p:sldId id="279" r:id="rId22"/>
    <p:sldId id="280" r:id="rId23"/>
    <p:sldId id="281" r:id="rId24"/>
    <p:sldId id="268" r:id="rId25"/>
    <p:sldId id="267"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764" autoAdjust="0"/>
    <p:restoredTop sz="94660"/>
  </p:normalViewPr>
  <p:slideViewPr>
    <p:cSldViewPr snapToGrid="0">
      <p:cViewPr varScale="1">
        <p:scale>
          <a:sx n="104" d="100"/>
          <a:sy n="104" d="100"/>
        </p:scale>
        <p:origin x="72" y="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0B6DC9-55FC-496D-B2E6-9F6799D3AF2E}" type="datetimeFigureOut">
              <a:rPr lang="zh-TW" altLang="en-US" smtClean="0"/>
              <a:t>2024/12/17</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22B0A8-0201-4F59-B0DA-D2E94650F493}" type="slidenum">
              <a:rPr lang="zh-TW" altLang="en-US" smtClean="0"/>
              <a:t>‹#›</a:t>
            </a:fld>
            <a:endParaRPr lang="zh-TW" altLang="en-US"/>
          </a:p>
        </p:txBody>
      </p:sp>
    </p:spTree>
    <p:extLst>
      <p:ext uri="{BB962C8B-B14F-4D97-AF65-F5344CB8AC3E}">
        <p14:creationId xmlns:p14="http://schemas.microsoft.com/office/powerpoint/2010/main" val="8647731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9622B0A8-0201-4F59-B0DA-D2E94650F493}" type="slidenum">
              <a:rPr lang="zh-TW" altLang="en-US" smtClean="0"/>
              <a:t>1</a:t>
            </a:fld>
            <a:endParaRPr lang="zh-TW" altLang="en-US"/>
          </a:p>
        </p:txBody>
      </p:sp>
    </p:spTree>
    <p:extLst>
      <p:ext uri="{BB962C8B-B14F-4D97-AF65-F5344CB8AC3E}">
        <p14:creationId xmlns:p14="http://schemas.microsoft.com/office/powerpoint/2010/main" val="9064030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zh-TW" altLang="en-US"/>
              <a:t>按一下以編輯母片標題樣式</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686BF4B3-741A-468C-BF84-B94FDA57E9D3}" type="datetime1">
              <a:rPr lang="zh-TW" altLang="en-US" smtClean="0"/>
              <a:t>2024/12/17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3BADD90-1659-401A-8CB6-1FAE4798FEBF}" type="slidenum">
              <a:rPr lang="zh-TW" altLang="en-US" smtClean="0"/>
              <a:t>‹#›</a:t>
            </a:fld>
            <a:endParaRPr lang="zh-TW" alt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29361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711633D5-6A8E-4264-BE5D-C8918A8B16E9}" type="datetime1">
              <a:rPr lang="zh-TW" altLang="en-US" smtClean="0"/>
              <a:t>2024/12/17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3BADD90-1659-401A-8CB6-1FAE4798FEBF}" type="slidenum">
              <a:rPr lang="zh-TW" altLang="en-US" smtClean="0"/>
              <a:t>‹#›</a:t>
            </a:fld>
            <a:endParaRPr lang="zh-TW" altLang="en-US"/>
          </a:p>
        </p:txBody>
      </p:sp>
    </p:spTree>
    <p:extLst>
      <p:ext uri="{BB962C8B-B14F-4D97-AF65-F5344CB8AC3E}">
        <p14:creationId xmlns:p14="http://schemas.microsoft.com/office/powerpoint/2010/main" val="31184357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章節標題">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zh-TW" altLang="en-US"/>
              <a:t>按一下以編輯母片標題樣式</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p>
            <a:fld id="{30F93CF6-4390-4A2D-ABC6-C411E3CDB981}" type="datetime1">
              <a:rPr lang="zh-TW" altLang="en-US" smtClean="0"/>
              <a:t>2024/12/17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3BADD90-1659-401A-8CB6-1FAE4798FEBF}" type="slidenum">
              <a:rPr lang="zh-TW" altLang="en-US" smtClean="0"/>
              <a:t>‹#›</a:t>
            </a:fld>
            <a:endParaRPr lang="zh-TW" alt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14135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388CE076-7D61-4BC7-859C-A20CF0E88684}" type="datetime1">
              <a:rPr lang="zh-TW" altLang="en-US" smtClean="0"/>
              <a:t>2024/12/17</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3BADD90-1659-401A-8CB6-1FAE4798FEBF}" type="slidenum">
              <a:rPr lang="zh-TW" altLang="en-US" smtClean="0"/>
              <a:t>‹#›</a:t>
            </a:fld>
            <a:endParaRPr lang="zh-TW" altLang="en-US"/>
          </a:p>
        </p:txBody>
      </p:sp>
    </p:spTree>
    <p:extLst>
      <p:ext uri="{BB962C8B-B14F-4D97-AF65-F5344CB8AC3E}">
        <p14:creationId xmlns:p14="http://schemas.microsoft.com/office/powerpoint/2010/main" val="4306642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Content Placeholder 3"/>
          <p:cNvSpPr>
            <a:spLocks noGrp="1"/>
          </p:cNvSpPr>
          <p:nvPr>
            <p:ph sz="half" idx="2"/>
          </p:nvPr>
        </p:nvSpPr>
        <p:spPr>
          <a:xfrm>
            <a:off x="1097280" y="2582334"/>
            <a:ext cx="4937760" cy="3378200"/>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Content Placeholder 5"/>
          <p:cNvSpPr>
            <a:spLocks noGrp="1"/>
          </p:cNvSpPr>
          <p:nvPr>
            <p:ph sz="quarter" idx="4"/>
          </p:nvPr>
        </p:nvSpPr>
        <p:spPr>
          <a:xfrm>
            <a:off x="6217920" y="2582334"/>
            <a:ext cx="4937760" cy="3378200"/>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EC4ACD93-2604-42E2-B029-5239A3EE7BD1}" type="datetime1">
              <a:rPr lang="zh-TW" altLang="en-US" smtClean="0"/>
              <a:t>2024/12/17</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83BADD90-1659-401A-8CB6-1FAE4798FEBF}" type="slidenum">
              <a:rPr lang="zh-TW" altLang="en-US" smtClean="0"/>
              <a:t>‹#›</a:t>
            </a:fld>
            <a:endParaRPr lang="zh-TW" altLang="en-US"/>
          </a:p>
        </p:txBody>
      </p:sp>
    </p:spTree>
    <p:extLst>
      <p:ext uri="{BB962C8B-B14F-4D97-AF65-F5344CB8AC3E}">
        <p14:creationId xmlns:p14="http://schemas.microsoft.com/office/powerpoint/2010/main" val="32885704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9F644E7B-0193-43BA-89E5-5D0BDC60FE31}" type="datetime1">
              <a:rPr lang="zh-TW" altLang="en-US" smtClean="0"/>
              <a:t>2024/12/17</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83BADD90-1659-401A-8CB6-1FAE4798FEBF}" type="slidenum">
              <a:rPr lang="zh-TW" altLang="en-US" smtClean="0"/>
              <a:t>‹#›</a:t>
            </a:fld>
            <a:endParaRPr lang="zh-TW" altLang="en-US"/>
          </a:p>
        </p:txBody>
      </p:sp>
    </p:spTree>
    <p:extLst>
      <p:ext uri="{BB962C8B-B14F-4D97-AF65-F5344CB8AC3E}">
        <p14:creationId xmlns:p14="http://schemas.microsoft.com/office/powerpoint/2010/main" val="5464367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2CD11372-A5A9-41CD-8235-3FD344870B17}" type="datetime1">
              <a:rPr lang="zh-TW" altLang="en-US" smtClean="0"/>
              <a:t>2024/12/17</a:t>
            </a:fld>
            <a:endParaRPr lang="zh-TW" alt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zh-TW" altLang="en-US"/>
          </a:p>
        </p:txBody>
      </p:sp>
      <p:sp>
        <p:nvSpPr>
          <p:cNvPr id="9" name="Slide Number Placeholder 8"/>
          <p:cNvSpPr>
            <a:spLocks noGrp="1"/>
          </p:cNvSpPr>
          <p:nvPr>
            <p:ph type="sldNum" sz="quarter" idx="12"/>
          </p:nvPr>
        </p:nvSpPr>
        <p:spPr/>
        <p:txBody>
          <a:bodyPr/>
          <a:lstStyle/>
          <a:p>
            <a:fld id="{83BADD90-1659-401A-8CB6-1FAE4798FEBF}" type="slidenum">
              <a:rPr lang="zh-TW" altLang="en-US" smtClean="0"/>
              <a:t>‹#›</a:t>
            </a:fld>
            <a:endParaRPr lang="zh-TW" altLang="en-US"/>
          </a:p>
        </p:txBody>
      </p:sp>
    </p:spTree>
    <p:extLst>
      <p:ext uri="{BB962C8B-B14F-4D97-AF65-F5344CB8AC3E}">
        <p14:creationId xmlns:p14="http://schemas.microsoft.com/office/powerpoint/2010/main" val="38201512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含輔助字幕的內容">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zh-TW" altLang="en-US"/>
              <a:t>按一下以編輯母片標題樣式</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CB032279-D2D9-4B7F-BC54-23EF97498925}" type="datetime1">
              <a:rPr lang="zh-TW" altLang="en-US" smtClean="0"/>
              <a:t>2024/12/17</a:t>
            </a:fld>
            <a:endParaRPr lang="zh-TW" alt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zh-TW" alt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83BADD90-1659-401A-8CB6-1FAE4798FEBF}" type="slidenum">
              <a:rPr lang="zh-TW" altLang="en-US" smtClean="0"/>
              <a:t>‹#›</a:t>
            </a:fld>
            <a:endParaRPr lang="zh-TW" altLang="en-US"/>
          </a:p>
        </p:txBody>
      </p:sp>
    </p:spTree>
    <p:extLst>
      <p:ext uri="{BB962C8B-B14F-4D97-AF65-F5344CB8AC3E}">
        <p14:creationId xmlns:p14="http://schemas.microsoft.com/office/powerpoint/2010/main" val="29364149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含輔助字幕的圖片">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3294632E-EA22-444D-BCE3-7282109BE860}" type="datetime1">
              <a:rPr lang="zh-TW" altLang="en-US" smtClean="0"/>
              <a:t>2024/12/17</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3BADD90-1659-401A-8CB6-1FAE4798FEBF}" type="slidenum">
              <a:rPr lang="zh-TW" altLang="en-US" smtClean="0"/>
              <a:t>‹#›</a:t>
            </a:fld>
            <a:endParaRPr lang="zh-TW" altLang="en-US"/>
          </a:p>
        </p:txBody>
      </p:sp>
    </p:spTree>
    <p:extLst>
      <p:ext uri="{BB962C8B-B14F-4D97-AF65-F5344CB8AC3E}">
        <p14:creationId xmlns:p14="http://schemas.microsoft.com/office/powerpoint/2010/main" val="39815433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8DA0E0B0-A6A0-4F96-8D98-19AB1E614CD6}" type="datetime1">
              <a:rPr lang="zh-TW" altLang="en-US" smtClean="0"/>
              <a:t>2024/12/17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3BADD90-1659-401A-8CB6-1FAE4798FEBF}" type="slidenum">
              <a:rPr lang="zh-TW" altLang="en-US" smtClean="0"/>
              <a:t>‹#›</a:t>
            </a:fld>
            <a:endParaRPr lang="zh-TW" altLang="en-US"/>
          </a:p>
        </p:txBody>
      </p:sp>
    </p:spTree>
    <p:extLst>
      <p:ext uri="{BB962C8B-B14F-4D97-AF65-F5344CB8AC3E}">
        <p14:creationId xmlns:p14="http://schemas.microsoft.com/office/powerpoint/2010/main" val="12256332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直排標題及文字">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C808B0FD-458B-435C-8A75-57975963D940}" type="datetime1">
              <a:rPr lang="zh-TW" altLang="en-US" smtClean="0"/>
              <a:t>2024/12/17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3BADD90-1659-401A-8CB6-1FAE4798FEBF}" type="slidenum">
              <a:rPr lang="zh-TW" altLang="en-US" smtClean="0"/>
              <a:t>‹#›</a:t>
            </a:fld>
            <a:endParaRPr lang="zh-TW" altLang="en-US"/>
          </a:p>
        </p:txBody>
      </p:sp>
    </p:spTree>
    <p:extLst>
      <p:ext uri="{BB962C8B-B14F-4D97-AF65-F5344CB8AC3E}">
        <p14:creationId xmlns:p14="http://schemas.microsoft.com/office/powerpoint/2010/main" val="416659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E4F5FFC-53EC-4266-898D-C7CC3F632659}" type="datetime1">
              <a:rPr lang="zh-TW" altLang="en-US" smtClean="0"/>
              <a:t>2024/12/17</a:t>
            </a:fld>
            <a:endParaRPr lang="zh-TW" alt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zh-TW" alt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83BADD90-1659-401A-8CB6-1FAE4798FEBF}" type="slidenum">
              <a:rPr lang="zh-TW" altLang="en-US" smtClean="0"/>
              <a:t>‹#›</a:t>
            </a:fld>
            <a:endParaRPr lang="zh-TW" alt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333603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colab.research.google.com/drive/1gEsI2vCJnodkFuqDm1RZfLJLZeu4ERs3" TargetMode="External"/><Relationship Id="rId2" Type="http://schemas.openxmlformats.org/officeDocument/2006/relationships/hyperlink" Target="https://github.com/Project-MONAI/MONAI" TargetMode="External"/><Relationship Id="rId1" Type="http://schemas.openxmlformats.org/officeDocument/2006/relationships/slideLayout" Target="../slideLayouts/slideLayout2.xml"/><Relationship Id="rId6" Type="http://schemas.openxmlformats.org/officeDocument/2006/relationships/hyperlink" Target="https://github.com/Project-MONAI/GenerativeModels/blob/main/tutorials/generative/2d_ddpm/2d_ddpm_tutorial.ipynb" TargetMode="External"/><Relationship Id="rId5" Type="http://schemas.openxmlformats.org/officeDocument/2006/relationships/hyperlink" Target="https://medium.com/@lmpo/mastering-denoising-diffusion-probabilistic-models-8654cb6f6eff" TargetMode="External"/><Relationship Id="rId4" Type="http://schemas.openxmlformats.org/officeDocument/2006/relationships/hyperlink" Target="https://colab.research.google.com/drive/1FMugDEqZpLT4XIpcu9zxS2N53Xi5YdoH#scrollTo=f72__3Tn0Udc"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DBF3CBA-64B3-4CC4-58C0-EF2144BA598E}"/>
              </a:ext>
            </a:extLst>
          </p:cNvPr>
          <p:cNvSpPr>
            <a:spLocks noGrp="1"/>
          </p:cNvSpPr>
          <p:nvPr>
            <p:ph type="ctrTitle"/>
          </p:nvPr>
        </p:nvSpPr>
        <p:spPr>
          <a:xfrm>
            <a:off x="1183913" y="1722597"/>
            <a:ext cx="9824174" cy="2387600"/>
          </a:xfrm>
        </p:spPr>
        <p:txBody>
          <a:bodyPr>
            <a:normAutofit/>
          </a:bodyPr>
          <a:lstStyle/>
          <a:p>
            <a:pPr algn="ctr">
              <a:lnSpc>
                <a:spcPct val="150000"/>
              </a:lnSpc>
            </a:pPr>
            <a:r>
              <a:rPr lang="en-US" altLang="zh-TW" sz="4800" b="1" dirty="0">
                <a:solidFill>
                  <a:schemeClr val="tx1">
                    <a:lumMod val="75000"/>
                    <a:lumOff val="25000"/>
                  </a:schemeClr>
                </a:solidFill>
                <a:latin typeface="Times New Roman" panose="02020603050405020304" pitchFamily="18" charset="0"/>
                <a:cs typeface="Times New Roman" panose="02020603050405020304" pitchFamily="18" charset="0"/>
              </a:rPr>
              <a:t>Facilitate DDPMs</a:t>
            </a:r>
            <a:br>
              <a:rPr lang="en-US" altLang="zh-TW" sz="4800" b="1" dirty="0">
                <a:solidFill>
                  <a:schemeClr val="tx1">
                    <a:lumMod val="75000"/>
                    <a:lumOff val="25000"/>
                  </a:schemeClr>
                </a:solidFill>
                <a:latin typeface="Times New Roman" panose="02020603050405020304" pitchFamily="18" charset="0"/>
                <a:cs typeface="Times New Roman" panose="02020603050405020304" pitchFamily="18" charset="0"/>
              </a:rPr>
            </a:br>
            <a:r>
              <a:rPr lang="en-US" altLang="zh-TW" sz="4800" b="1" dirty="0">
                <a:solidFill>
                  <a:schemeClr val="tx1">
                    <a:lumMod val="75000"/>
                    <a:lumOff val="25000"/>
                  </a:schemeClr>
                </a:solidFill>
                <a:latin typeface="Times New Roman" panose="02020603050405020304" pitchFamily="18" charset="0"/>
                <a:cs typeface="Times New Roman" panose="02020603050405020304" pitchFamily="18" charset="0"/>
              </a:rPr>
              <a:t>in MONAI</a:t>
            </a:r>
            <a:endParaRPr lang="zh-TW" altLang="en-US" sz="4800" b="1"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9EC9F33B-FAE7-85EC-EF3A-8B7DE3B3A795}"/>
              </a:ext>
            </a:extLst>
          </p:cNvPr>
          <p:cNvSpPr>
            <a:spLocks noGrp="1"/>
          </p:cNvSpPr>
          <p:nvPr>
            <p:ph type="subTitle" idx="1"/>
          </p:nvPr>
        </p:nvSpPr>
        <p:spPr/>
        <p:txBody>
          <a:bodyPr/>
          <a:lstStyle/>
          <a:p>
            <a:r>
              <a:rPr lang="en-US" altLang="zh-TW" b="1" dirty="0">
                <a:latin typeface="Times New Roman" panose="02020603050405020304" pitchFamily="18" charset="0"/>
                <a:cs typeface="Times New Roman" panose="02020603050405020304" pitchFamily="18" charset="0"/>
              </a:rPr>
              <a:t>Group: 8</a:t>
            </a:r>
          </a:p>
          <a:p>
            <a:r>
              <a:rPr lang="en-US" altLang="zh-TW" b="1" dirty="0">
                <a:latin typeface="Times New Roman" panose="02020603050405020304" pitchFamily="18" charset="0"/>
                <a:cs typeface="Times New Roman" panose="02020603050405020304" pitchFamily="18" charset="0"/>
              </a:rPr>
              <a:t>Members:</a:t>
            </a:r>
            <a:r>
              <a:rPr lang="en-US" altLang="zh-TW" b="1" dirty="0"/>
              <a:t> </a:t>
            </a:r>
            <a:r>
              <a:rPr lang="zh-TW" altLang="en-US" b="1" dirty="0">
                <a:latin typeface="標楷體" panose="03000509000000000000" pitchFamily="65" charset="-120"/>
                <a:ea typeface="標楷體" panose="03000509000000000000" pitchFamily="65" charset="-120"/>
              </a:rPr>
              <a:t>徐綉惠、王家駿、林俞琛</a:t>
            </a:r>
          </a:p>
        </p:txBody>
      </p:sp>
      <p:sp>
        <p:nvSpPr>
          <p:cNvPr id="5" name="投影片編號版面配置區 4">
            <a:extLst>
              <a:ext uri="{FF2B5EF4-FFF2-40B4-BE49-F238E27FC236}">
                <a16:creationId xmlns:a16="http://schemas.microsoft.com/office/drawing/2014/main" id="{9918E2B8-F4E2-9BC3-3C2D-D2473542142F}"/>
              </a:ext>
            </a:extLst>
          </p:cNvPr>
          <p:cNvSpPr>
            <a:spLocks noGrp="1"/>
          </p:cNvSpPr>
          <p:nvPr>
            <p:ph type="sldNum" sz="quarter" idx="12"/>
          </p:nvPr>
        </p:nvSpPr>
        <p:spPr/>
        <p:txBody>
          <a:bodyPr/>
          <a:lstStyle/>
          <a:p>
            <a:fld id="{83BADD90-1659-401A-8CB6-1FAE4798FEBF}" type="slidenum">
              <a:rPr lang="zh-TW" altLang="en-US" smtClean="0"/>
              <a:t>1</a:t>
            </a:fld>
            <a:endParaRPr lang="zh-TW" altLang="en-US"/>
          </a:p>
        </p:txBody>
      </p:sp>
    </p:spTree>
    <p:extLst>
      <p:ext uri="{BB962C8B-B14F-4D97-AF65-F5344CB8AC3E}">
        <p14:creationId xmlns:p14="http://schemas.microsoft.com/office/powerpoint/2010/main" val="28400204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B947100-FC73-389D-0F30-A1BA3B9A17F9}"/>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Outline</a:t>
            </a:r>
            <a:endParaRPr lang="zh-TW" altLang="en-US"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9D6ADF84-BEB6-64D5-BA75-E4C977BA719F}"/>
              </a:ext>
            </a:extLst>
          </p:cNvPr>
          <p:cNvSpPr>
            <a:spLocks noGrp="1"/>
          </p:cNvSpPr>
          <p:nvPr>
            <p:ph idx="1"/>
          </p:nvPr>
        </p:nvSpPr>
        <p:spPr/>
        <p:txBody>
          <a:bodyPr>
            <a:normAutofit/>
          </a:bodyPr>
          <a:lstStyle/>
          <a:p>
            <a:pPr>
              <a:buFont typeface="Wingdings" panose="05000000000000000000" pitchFamily="2" charset="2"/>
              <a:buChar char="Ø"/>
            </a:pPr>
            <a:r>
              <a:rPr lang="en-US" altLang="zh-TW" sz="2400" dirty="0">
                <a:latin typeface="Times New Roman" panose="02020603050405020304" pitchFamily="18" charset="0"/>
                <a:cs typeface="Times New Roman" panose="02020603050405020304" pitchFamily="18" charset="0"/>
              </a:rPr>
              <a:t> Introduction</a:t>
            </a:r>
          </a:p>
          <a:p>
            <a:pPr>
              <a:buFont typeface="Wingdings" panose="05000000000000000000" pitchFamily="2" charset="2"/>
              <a:buChar char="Ø"/>
            </a:pPr>
            <a:r>
              <a:rPr lang="en-US" altLang="zh-TW" sz="2400" dirty="0">
                <a:latin typeface="Times New Roman" panose="02020603050405020304" pitchFamily="18" charset="0"/>
                <a:cs typeface="Times New Roman" panose="02020603050405020304" pitchFamily="18" charset="0"/>
              </a:rPr>
              <a:t> Review of Previous Work</a:t>
            </a:r>
          </a:p>
          <a:p>
            <a:pPr>
              <a:buFont typeface="Wingdings" panose="05000000000000000000" pitchFamily="2" charset="2"/>
              <a:buChar char="Ø"/>
            </a:pP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Technical Part</a:t>
            </a:r>
          </a:p>
          <a:p>
            <a:pPr>
              <a:buFont typeface="Wingdings" panose="05000000000000000000" pitchFamily="2" charset="2"/>
              <a:buChar char="Ø"/>
            </a:pPr>
            <a:r>
              <a:rPr lang="en-US" altLang="zh-TW" sz="2400" dirty="0">
                <a:latin typeface="Times New Roman" panose="02020603050405020304" pitchFamily="18" charset="0"/>
                <a:cs typeface="Times New Roman" panose="02020603050405020304" pitchFamily="18" charset="0"/>
              </a:rPr>
              <a:t> Experiments</a:t>
            </a:r>
          </a:p>
          <a:p>
            <a:pPr>
              <a:buFont typeface="Wingdings" panose="05000000000000000000" pitchFamily="2" charset="2"/>
              <a:buChar char="Ø"/>
            </a:pPr>
            <a:r>
              <a:rPr lang="en-US" altLang="zh-TW" sz="2400" dirty="0">
                <a:latin typeface="Times New Roman" panose="02020603050405020304" pitchFamily="18" charset="0"/>
                <a:cs typeface="Times New Roman" panose="02020603050405020304" pitchFamily="18" charset="0"/>
              </a:rPr>
              <a:t> Conclusions</a:t>
            </a:r>
          </a:p>
          <a:p>
            <a:pPr>
              <a:buFont typeface="Wingdings" panose="05000000000000000000" pitchFamily="2" charset="2"/>
              <a:buChar char="Ø"/>
            </a:pP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References</a:t>
            </a:r>
            <a:endParaRPr lang="zh-TW" altLang="en-US" sz="24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4B4F5B6B-6C6F-6221-D023-D33AD45C797D}"/>
              </a:ext>
            </a:extLst>
          </p:cNvPr>
          <p:cNvSpPr>
            <a:spLocks noGrp="1"/>
          </p:cNvSpPr>
          <p:nvPr>
            <p:ph type="sldNum" sz="quarter" idx="12"/>
          </p:nvPr>
        </p:nvSpPr>
        <p:spPr/>
        <p:txBody>
          <a:bodyPr/>
          <a:lstStyle/>
          <a:p>
            <a:fld id="{83BADD90-1659-401A-8CB6-1FAE4798FEBF}" type="slidenum">
              <a:rPr lang="zh-TW" altLang="en-US" smtClean="0"/>
              <a:t>2</a:t>
            </a:fld>
            <a:endParaRPr lang="zh-TW" altLang="en-US"/>
          </a:p>
        </p:txBody>
      </p:sp>
    </p:spTree>
    <p:extLst>
      <p:ext uri="{BB962C8B-B14F-4D97-AF65-F5344CB8AC3E}">
        <p14:creationId xmlns:p14="http://schemas.microsoft.com/office/powerpoint/2010/main" val="38559533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2760DBD-9522-C0F4-E4F4-9148B418D1EF}"/>
              </a:ext>
            </a:extLst>
          </p:cNvPr>
          <p:cNvSpPr>
            <a:spLocks noGrp="1"/>
          </p:cNvSpPr>
          <p:nvPr>
            <p:ph type="title"/>
          </p:nvPr>
        </p:nvSpPr>
        <p:spPr/>
        <p:txBody>
          <a:bodyPr/>
          <a:lstStyle/>
          <a:p>
            <a:r>
              <a:rPr lang="en-US" altLang="zh-TW" sz="4800" b="1" dirty="0">
                <a:latin typeface="Times New Roman" panose="02020603050405020304" pitchFamily="18" charset="0"/>
                <a:cs typeface="Times New Roman" panose="02020603050405020304" pitchFamily="18" charset="0"/>
              </a:rPr>
              <a:t>Introduction</a:t>
            </a:r>
            <a:endParaRPr lang="zh-TW" altLang="en-US" dirty="0"/>
          </a:p>
        </p:txBody>
      </p:sp>
      <p:sp>
        <p:nvSpPr>
          <p:cNvPr id="3" name="內容版面配置區 2">
            <a:extLst>
              <a:ext uri="{FF2B5EF4-FFF2-40B4-BE49-F238E27FC236}">
                <a16:creationId xmlns:a16="http://schemas.microsoft.com/office/drawing/2014/main" id="{079A1DEF-6C5C-A247-B5BD-6F63DDFFE0F3}"/>
              </a:ext>
            </a:extLst>
          </p:cNvPr>
          <p:cNvSpPr>
            <a:spLocks noGrp="1"/>
          </p:cNvSpPr>
          <p:nvPr>
            <p:ph idx="1"/>
          </p:nvPr>
        </p:nvSpPr>
        <p:spPr/>
        <p:txBody>
          <a:bodyPr/>
          <a:lstStyle/>
          <a:p>
            <a:pPr>
              <a:buFont typeface="Wingdings" panose="05000000000000000000" pitchFamily="2" charset="2"/>
              <a:buChar char="Ø"/>
            </a:pPr>
            <a:r>
              <a:rPr lang="zh-TW" altLang="en-US" dirty="0"/>
              <a:t> </a:t>
            </a:r>
            <a:r>
              <a:rPr lang="en-US" altLang="zh-TW" sz="2400" b="1" dirty="0">
                <a:latin typeface="Times New Roman" panose="02020603050405020304" pitchFamily="18" charset="0"/>
                <a:cs typeface="Times New Roman" panose="02020603050405020304" pitchFamily="18" charset="0"/>
              </a:rPr>
              <a:t>Framework</a:t>
            </a:r>
            <a:endParaRPr lang="zh-TW" altLang="en-US" sz="2400" b="1"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510A6E09-F456-DBC6-6564-30140BAFA7C2}"/>
              </a:ext>
            </a:extLst>
          </p:cNvPr>
          <p:cNvSpPr>
            <a:spLocks noGrp="1"/>
          </p:cNvSpPr>
          <p:nvPr>
            <p:ph type="sldNum" sz="quarter" idx="12"/>
          </p:nvPr>
        </p:nvSpPr>
        <p:spPr/>
        <p:txBody>
          <a:bodyPr/>
          <a:lstStyle/>
          <a:p>
            <a:fld id="{83BADD90-1659-401A-8CB6-1FAE4798FEBF}" type="slidenum">
              <a:rPr lang="zh-TW" altLang="en-US" smtClean="0"/>
              <a:t>3</a:t>
            </a:fld>
            <a:endParaRPr lang="zh-TW" altLang="en-US"/>
          </a:p>
        </p:txBody>
      </p:sp>
      <p:pic>
        <p:nvPicPr>
          <p:cNvPr id="8" name="圖片 7">
            <a:extLst>
              <a:ext uri="{FF2B5EF4-FFF2-40B4-BE49-F238E27FC236}">
                <a16:creationId xmlns:a16="http://schemas.microsoft.com/office/drawing/2014/main" id="{04EB0867-C14D-E258-45D3-238EDE091D77}"/>
              </a:ext>
            </a:extLst>
          </p:cNvPr>
          <p:cNvPicPr>
            <a:picLocks noChangeAspect="1"/>
          </p:cNvPicPr>
          <p:nvPr/>
        </p:nvPicPr>
        <p:blipFill>
          <a:blip r:embed="rId2"/>
          <a:stretch>
            <a:fillRect/>
          </a:stretch>
        </p:blipFill>
        <p:spPr>
          <a:xfrm>
            <a:off x="1097279" y="2543129"/>
            <a:ext cx="10115407" cy="3135776"/>
          </a:xfrm>
          <a:prstGeom prst="rect">
            <a:avLst/>
          </a:prstGeom>
        </p:spPr>
      </p:pic>
    </p:spTree>
    <p:extLst>
      <p:ext uri="{BB962C8B-B14F-4D97-AF65-F5344CB8AC3E}">
        <p14:creationId xmlns:p14="http://schemas.microsoft.com/office/powerpoint/2010/main" val="14421916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3D944A7-A754-1610-C2F3-52F8B6721F80}"/>
              </a:ext>
            </a:extLst>
          </p:cNvPr>
          <p:cNvSpPr>
            <a:spLocks noGrp="1"/>
          </p:cNvSpPr>
          <p:nvPr>
            <p:ph type="title"/>
          </p:nvPr>
        </p:nvSpPr>
        <p:spPr/>
        <p:txBody>
          <a:bodyPr/>
          <a:lstStyle/>
          <a:p>
            <a:r>
              <a:rPr lang="en-US" altLang="zh-TW" sz="4800" b="1" dirty="0">
                <a:latin typeface="Times New Roman" panose="02020603050405020304" pitchFamily="18" charset="0"/>
                <a:cs typeface="Times New Roman" panose="02020603050405020304" pitchFamily="18" charset="0"/>
              </a:rPr>
              <a:t>Introduction</a:t>
            </a:r>
            <a:endParaRPr lang="zh-TW" altLang="en-US" b="1" dirty="0"/>
          </a:p>
        </p:txBody>
      </p:sp>
      <p:sp>
        <p:nvSpPr>
          <p:cNvPr id="3" name="內容版面配置區 2">
            <a:extLst>
              <a:ext uri="{FF2B5EF4-FFF2-40B4-BE49-F238E27FC236}">
                <a16:creationId xmlns:a16="http://schemas.microsoft.com/office/drawing/2014/main" id="{AB8D1F46-1FEC-D967-D364-38359DC5F7D0}"/>
              </a:ext>
            </a:extLst>
          </p:cNvPr>
          <p:cNvSpPr>
            <a:spLocks noGrp="1"/>
          </p:cNvSpPr>
          <p:nvPr>
            <p:ph idx="1"/>
          </p:nvPr>
        </p:nvSpPr>
        <p:spPr/>
        <p:txBody>
          <a:bodyPr/>
          <a:lstStyle/>
          <a:p>
            <a:pPr algn="just">
              <a:lnSpc>
                <a:spcPct val="150000"/>
              </a:lnSpc>
              <a:buFont typeface="Wingdings" panose="05000000000000000000" pitchFamily="2" charset="2"/>
              <a:buChar char="Ø"/>
            </a:pPr>
            <a:r>
              <a:rPr lang="zh-TW" altLang="en-US" dirty="0"/>
              <a:t> </a:t>
            </a:r>
            <a:r>
              <a:rPr lang="en-US" altLang="zh-TW" b="1" dirty="0">
                <a:latin typeface="Times New Roman" panose="02020603050405020304" pitchFamily="18" charset="0"/>
                <a:cs typeface="Times New Roman" panose="02020603050405020304" pitchFamily="18" charset="0"/>
              </a:rPr>
              <a:t>Generative Models in Medical Imaging:</a:t>
            </a:r>
          </a:p>
          <a:p>
            <a:pPr marL="0" indent="0" algn="just">
              <a:lnSpc>
                <a:spcPct val="150000"/>
              </a:lnSpc>
              <a:buNone/>
            </a:pPr>
            <a:r>
              <a:rPr lang="en-US" altLang="zh-TW" dirty="0">
                <a:latin typeface="Times New Roman" panose="02020603050405020304" pitchFamily="18" charset="0"/>
                <a:cs typeface="Times New Roman" panose="02020603050405020304" pitchFamily="18" charset="0"/>
              </a:rPr>
              <a:t>Generative models address data scarcity and variability in medical imaging by enabling tasks such as </a:t>
            </a:r>
            <a:r>
              <a:rPr lang="en-US" altLang="zh-TW" b="1" dirty="0">
                <a:solidFill>
                  <a:srgbClr val="FF0000"/>
                </a:solidFill>
                <a:latin typeface="Times New Roman" panose="02020603050405020304" pitchFamily="18" charset="0"/>
                <a:cs typeface="Times New Roman" panose="02020603050405020304" pitchFamily="18" charset="0"/>
              </a:rPr>
              <a:t>data augmentation</a:t>
            </a:r>
            <a:r>
              <a:rPr lang="en-US" altLang="zh-TW" dirty="0">
                <a:latin typeface="Times New Roman" panose="02020603050405020304" pitchFamily="18" charset="0"/>
                <a:cs typeface="Times New Roman" panose="02020603050405020304" pitchFamily="18" charset="0"/>
              </a:rPr>
              <a:t>, </a:t>
            </a:r>
            <a:r>
              <a:rPr lang="en-US" altLang="zh-TW" b="1" dirty="0">
                <a:solidFill>
                  <a:srgbClr val="FF0000"/>
                </a:solidFill>
                <a:latin typeface="Times New Roman" panose="02020603050405020304" pitchFamily="18" charset="0"/>
                <a:cs typeface="Times New Roman" panose="02020603050405020304" pitchFamily="18" charset="0"/>
              </a:rPr>
              <a:t>image reconstruction</a:t>
            </a:r>
            <a:r>
              <a:rPr lang="en-US" altLang="zh-TW" dirty="0">
                <a:latin typeface="Times New Roman" panose="02020603050405020304" pitchFamily="18" charset="0"/>
                <a:cs typeface="Times New Roman" panose="02020603050405020304" pitchFamily="18" charset="0"/>
              </a:rPr>
              <a:t>, and </a:t>
            </a:r>
            <a:r>
              <a:rPr lang="en-US" altLang="zh-TW" b="1" dirty="0">
                <a:solidFill>
                  <a:srgbClr val="FF0000"/>
                </a:solidFill>
                <a:latin typeface="Times New Roman" panose="02020603050405020304" pitchFamily="18" charset="0"/>
                <a:cs typeface="Times New Roman" panose="02020603050405020304" pitchFamily="18" charset="0"/>
              </a:rPr>
              <a:t>rare condition synthesis</a:t>
            </a:r>
            <a:r>
              <a:rPr lang="en-US" altLang="zh-TW" dirty="0">
                <a:latin typeface="Times New Roman" panose="02020603050405020304" pitchFamily="18" charset="0"/>
                <a:cs typeface="Times New Roman" panose="02020603050405020304" pitchFamily="18" charset="0"/>
              </a:rPr>
              <a:t>, improving diagnostic accuracy.</a:t>
            </a:r>
          </a:p>
          <a:p>
            <a:pPr algn="just">
              <a:lnSpc>
                <a:spcPct val="150000"/>
              </a:lnSpc>
              <a:buFont typeface="Wingdings" panose="05000000000000000000" pitchFamily="2" charset="2"/>
              <a:buChar char="Ø"/>
            </a:pPr>
            <a:r>
              <a:rPr lang="zh-TW" altLang="en-US" dirty="0">
                <a:latin typeface="Times New Roman" panose="02020603050405020304" pitchFamily="18" charset="0"/>
                <a:cs typeface="Times New Roman" panose="02020603050405020304" pitchFamily="18" charset="0"/>
              </a:rPr>
              <a:t> </a:t>
            </a:r>
            <a:r>
              <a:rPr lang="en-US" altLang="zh-TW" b="1" dirty="0">
                <a:latin typeface="Times New Roman" panose="02020603050405020304" pitchFamily="18" charset="0"/>
                <a:cs typeface="Times New Roman" panose="02020603050405020304" pitchFamily="18" charset="0"/>
              </a:rPr>
              <a:t>Challenges with GANs:</a:t>
            </a:r>
          </a:p>
          <a:p>
            <a:pPr marL="0" indent="0" algn="just">
              <a:lnSpc>
                <a:spcPct val="150000"/>
              </a:lnSpc>
              <a:buNone/>
            </a:pPr>
            <a:r>
              <a:rPr lang="en-US" altLang="zh-TW" sz="1800" kern="0" dirty="0">
                <a:effectLst/>
                <a:latin typeface="Times New Roman" panose="02020603050405020304" pitchFamily="18" charset="0"/>
                <a:ea typeface="新細明體" panose="02020500000000000000" pitchFamily="18" charset="-120"/>
              </a:rPr>
              <a:t>Generative Adversarial Networks (</a:t>
            </a:r>
            <a:r>
              <a:rPr lang="en-US" altLang="zh-TW" dirty="0">
                <a:latin typeface="Times New Roman" panose="02020603050405020304" pitchFamily="18" charset="0"/>
                <a:cs typeface="Times New Roman" panose="02020603050405020304" pitchFamily="18" charset="0"/>
              </a:rPr>
              <a:t>GANs) are effective at generating high-quality medical images but often suffer from </a:t>
            </a:r>
            <a:r>
              <a:rPr lang="en-US" altLang="zh-TW" b="1" dirty="0">
                <a:latin typeface="Times New Roman" panose="02020603050405020304" pitchFamily="18" charset="0"/>
                <a:cs typeface="Times New Roman" panose="02020603050405020304" pitchFamily="18" charset="0"/>
              </a:rPr>
              <a:t>mode collapse</a:t>
            </a:r>
            <a:r>
              <a:rPr lang="en-US" altLang="zh-TW" dirty="0">
                <a:latin typeface="Times New Roman" panose="02020603050405020304" pitchFamily="18" charset="0"/>
                <a:cs typeface="Times New Roman" panose="02020603050405020304" pitchFamily="18" charset="0"/>
              </a:rPr>
              <a:t>, </a:t>
            </a:r>
            <a:r>
              <a:rPr lang="en-US" altLang="zh-TW" b="1" dirty="0">
                <a:latin typeface="Times New Roman" panose="02020603050405020304" pitchFamily="18" charset="0"/>
                <a:cs typeface="Times New Roman" panose="02020603050405020304" pitchFamily="18" charset="0"/>
              </a:rPr>
              <a:t>training instability</a:t>
            </a:r>
            <a:r>
              <a:rPr lang="en-US" altLang="zh-TW" dirty="0">
                <a:latin typeface="Times New Roman" panose="02020603050405020304" pitchFamily="18" charset="0"/>
                <a:cs typeface="Times New Roman" panose="02020603050405020304" pitchFamily="18" charset="0"/>
              </a:rPr>
              <a:t>, and </a:t>
            </a:r>
            <a:r>
              <a:rPr lang="en-US" altLang="zh-TW" b="1" dirty="0">
                <a:latin typeface="Times New Roman" panose="02020603050405020304" pitchFamily="18" charset="0"/>
                <a:cs typeface="Times New Roman" panose="02020603050405020304" pitchFamily="18" charset="0"/>
              </a:rPr>
              <a:t>high computational demands</a:t>
            </a: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B5722A3E-F011-AAD5-124F-3C3D2DAE74D4}"/>
              </a:ext>
            </a:extLst>
          </p:cNvPr>
          <p:cNvSpPr>
            <a:spLocks noGrp="1"/>
          </p:cNvSpPr>
          <p:nvPr>
            <p:ph type="sldNum" sz="quarter" idx="12"/>
          </p:nvPr>
        </p:nvSpPr>
        <p:spPr/>
        <p:txBody>
          <a:bodyPr/>
          <a:lstStyle/>
          <a:p>
            <a:fld id="{83BADD90-1659-401A-8CB6-1FAE4798FEBF}" type="slidenum">
              <a:rPr lang="zh-TW" altLang="en-US" smtClean="0"/>
              <a:t>4</a:t>
            </a:fld>
            <a:endParaRPr lang="zh-TW" altLang="en-US"/>
          </a:p>
        </p:txBody>
      </p:sp>
    </p:spTree>
    <p:extLst>
      <p:ext uri="{BB962C8B-B14F-4D97-AF65-F5344CB8AC3E}">
        <p14:creationId xmlns:p14="http://schemas.microsoft.com/office/powerpoint/2010/main" val="2685691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C8C899-BA27-E69F-2750-167A966F57E2}"/>
              </a:ext>
            </a:extLst>
          </p:cNvPr>
          <p:cNvSpPr>
            <a:spLocks noGrp="1"/>
          </p:cNvSpPr>
          <p:nvPr>
            <p:ph type="title"/>
          </p:nvPr>
        </p:nvSpPr>
        <p:spPr/>
        <p:txBody>
          <a:bodyPr/>
          <a:lstStyle/>
          <a:p>
            <a:r>
              <a:rPr lang="en-US" altLang="zh-TW" sz="4800" b="1" dirty="0">
                <a:latin typeface="Times New Roman" panose="02020603050405020304" pitchFamily="18" charset="0"/>
                <a:cs typeface="Times New Roman" panose="02020603050405020304" pitchFamily="18" charset="0"/>
              </a:rPr>
              <a:t>Introduction</a:t>
            </a:r>
            <a:endParaRPr lang="zh-TW" altLang="en-US" dirty="0"/>
          </a:p>
        </p:txBody>
      </p:sp>
      <p:sp>
        <p:nvSpPr>
          <p:cNvPr id="3" name="內容版面配置區 2">
            <a:extLst>
              <a:ext uri="{FF2B5EF4-FFF2-40B4-BE49-F238E27FC236}">
                <a16:creationId xmlns:a16="http://schemas.microsoft.com/office/drawing/2014/main" id="{6D40A167-D5B6-6ABF-ED1A-964FF897D9A6}"/>
              </a:ext>
            </a:extLst>
          </p:cNvPr>
          <p:cNvSpPr>
            <a:spLocks noGrp="1"/>
          </p:cNvSpPr>
          <p:nvPr>
            <p:ph idx="1"/>
          </p:nvPr>
        </p:nvSpPr>
        <p:spPr/>
        <p:txBody>
          <a:bodyPr/>
          <a:lstStyle/>
          <a:p>
            <a:pPr algn="just">
              <a:lnSpc>
                <a:spcPct val="150000"/>
              </a:lnSpc>
              <a:buFont typeface="Wingdings" panose="05000000000000000000" pitchFamily="2" charset="2"/>
              <a:buChar char="Ø"/>
            </a:pPr>
            <a:r>
              <a:rPr lang="zh-TW" altLang="en-US" dirty="0"/>
              <a:t> </a:t>
            </a:r>
            <a:r>
              <a:rPr lang="en-US" altLang="zh-TW" b="1" dirty="0">
                <a:latin typeface="Times New Roman" panose="02020603050405020304" pitchFamily="18" charset="0"/>
                <a:cs typeface="Times New Roman" panose="02020603050405020304" pitchFamily="18" charset="0"/>
              </a:rPr>
              <a:t>Trade-offs of DDPMs:</a:t>
            </a:r>
          </a:p>
          <a:p>
            <a:pPr marL="0" indent="0" algn="just">
              <a:lnSpc>
                <a:spcPct val="150000"/>
              </a:lnSpc>
              <a:buNone/>
            </a:pPr>
            <a:r>
              <a:rPr lang="en-US" altLang="zh-TW" sz="1800" b="1" kern="0" dirty="0">
                <a:effectLst/>
                <a:latin typeface="Times New Roman" panose="02020603050405020304" pitchFamily="18" charset="0"/>
                <a:ea typeface="新細明體" panose="02020500000000000000" pitchFamily="18" charset="-120"/>
                <a:cs typeface="Times New Roman" panose="02020603050405020304" pitchFamily="18" charset="0"/>
              </a:rPr>
              <a:t>Denoising Diffusion Probabilistic Models </a:t>
            </a:r>
            <a:r>
              <a:rPr lang="en-US" altLang="zh-TW" sz="1800" kern="0" dirty="0">
                <a:effectLst/>
                <a:latin typeface="Times New Roman" panose="02020603050405020304" pitchFamily="18" charset="0"/>
                <a:ea typeface="新細明體" panose="02020500000000000000" pitchFamily="18" charset="-12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DDPMs) produce stable and diverse outputs by adding and removing noise iteratively. However, their </a:t>
            </a:r>
            <a:r>
              <a:rPr lang="en-US" altLang="zh-TW" b="1" dirty="0">
                <a:latin typeface="Times New Roman" panose="02020603050405020304" pitchFamily="18" charset="0"/>
                <a:cs typeface="Times New Roman" panose="02020603050405020304" pitchFamily="18" charset="0"/>
              </a:rPr>
              <a:t>high computational cost </a:t>
            </a:r>
            <a:r>
              <a:rPr lang="en-US" altLang="zh-TW" dirty="0">
                <a:latin typeface="Times New Roman" panose="02020603050405020304" pitchFamily="18" charset="0"/>
                <a:cs typeface="Times New Roman" panose="02020603050405020304" pitchFamily="18" charset="0"/>
              </a:rPr>
              <a:t>and </a:t>
            </a:r>
            <a:r>
              <a:rPr lang="en-US" altLang="zh-TW" b="1" dirty="0">
                <a:latin typeface="Times New Roman" panose="02020603050405020304" pitchFamily="18" charset="0"/>
                <a:cs typeface="Times New Roman" panose="02020603050405020304" pitchFamily="18" charset="0"/>
              </a:rPr>
              <a:t>slow image generation</a:t>
            </a:r>
            <a:r>
              <a:rPr lang="en-US" altLang="zh-TW" dirty="0">
                <a:latin typeface="Times New Roman" panose="02020603050405020304" pitchFamily="18" charset="0"/>
                <a:cs typeface="Times New Roman" panose="02020603050405020304" pitchFamily="18" charset="0"/>
              </a:rPr>
              <a:t> </a:t>
            </a:r>
            <a:r>
              <a:rPr lang="en-US" altLang="zh-TW" b="1" dirty="0">
                <a:latin typeface="Times New Roman" panose="02020603050405020304" pitchFamily="18" charset="0"/>
                <a:cs typeface="Times New Roman" panose="02020603050405020304" pitchFamily="18" charset="0"/>
              </a:rPr>
              <a:t>process</a:t>
            </a:r>
            <a:r>
              <a:rPr lang="en-US" altLang="zh-TW" dirty="0">
                <a:latin typeface="Times New Roman" panose="02020603050405020304" pitchFamily="18" charset="0"/>
                <a:cs typeface="Times New Roman" panose="02020603050405020304" pitchFamily="18" charset="0"/>
              </a:rPr>
              <a:t> are significant drawbacks.</a:t>
            </a:r>
          </a:p>
          <a:p>
            <a:pPr algn="just">
              <a:lnSpc>
                <a:spcPct val="150000"/>
              </a:lnSpc>
              <a:buFont typeface="Wingdings" panose="05000000000000000000" pitchFamily="2" charset="2"/>
              <a:buChar char="Ø"/>
            </a:pPr>
            <a:r>
              <a:rPr lang="zh-TW" altLang="en-US" dirty="0">
                <a:latin typeface="Times New Roman" panose="02020603050405020304" pitchFamily="18" charset="0"/>
                <a:cs typeface="Times New Roman" panose="02020603050405020304" pitchFamily="18" charset="0"/>
              </a:rPr>
              <a:t> </a:t>
            </a:r>
            <a:r>
              <a:rPr lang="en-US" altLang="zh-TW" b="1" dirty="0">
                <a:latin typeface="Times New Roman" panose="02020603050405020304" pitchFamily="18" charset="0"/>
                <a:cs typeface="Times New Roman" panose="02020603050405020304" pitchFamily="18" charset="0"/>
              </a:rPr>
              <a:t>Proposed DDPM Improvement:</a:t>
            </a:r>
          </a:p>
          <a:p>
            <a:pPr marL="0" indent="0" algn="just">
              <a:lnSpc>
                <a:spcPct val="150000"/>
              </a:lnSpc>
              <a:buNone/>
            </a:pPr>
            <a:r>
              <a:rPr lang="en-US" altLang="zh-TW" b="1" dirty="0">
                <a:solidFill>
                  <a:srgbClr val="FF0000"/>
                </a:solidFill>
                <a:latin typeface="Times New Roman" panose="02020603050405020304" pitchFamily="18" charset="0"/>
                <a:cs typeface="Times New Roman" panose="02020603050405020304" pitchFamily="18" charset="0"/>
              </a:rPr>
              <a:t>Using noised images as inputs transforms DDPMs into denoisers</a:t>
            </a:r>
            <a:r>
              <a:rPr lang="en-US" altLang="zh-TW" dirty="0">
                <a:latin typeface="Times New Roman" panose="02020603050405020304" pitchFamily="18" charset="0"/>
                <a:cs typeface="Times New Roman" panose="02020603050405020304" pitchFamily="18" charset="0"/>
              </a:rPr>
              <a:t>, reducing training time while retaining the benefits of stable and diverse image generation.</a:t>
            </a:r>
          </a:p>
        </p:txBody>
      </p:sp>
      <p:sp>
        <p:nvSpPr>
          <p:cNvPr id="4" name="投影片編號版面配置區 3">
            <a:extLst>
              <a:ext uri="{FF2B5EF4-FFF2-40B4-BE49-F238E27FC236}">
                <a16:creationId xmlns:a16="http://schemas.microsoft.com/office/drawing/2014/main" id="{170F1564-BF71-992E-95FD-A879E4B2092C}"/>
              </a:ext>
            </a:extLst>
          </p:cNvPr>
          <p:cNvSpPr>
            <a:spLocks noGrp="1"/>
          </p:cNvSpPr>
          <p:nvPr>
            <p:ph type="sldNum" sz="quarter" idx="12"/>
          </p:nvPr>
        </p:nvSpPr>
        <p:spPr/>
        <p:txBody>
          <a:bodyPr/>
          <a:lstStyle/>
          <a:p>
            <a:fld id="{83BADD90-1659-401A-8CB6-1FAE4798FEBF}" type="slidenum">
              <a:rPr lang="zh-TW" altLang="en-US" smtClean="0"/>
              <a:t>5</a:t>
            </a:fld>
            <a:endParaRPr lang="zh-TW" altLang="en-US"/>
          </a:p>
        </p:txBody>
      </p:sp>
    </p:spTree>
    <p:extLst>
      <p:ext uri="{BB962C8B-B14F-4D97-AF65-F5344CB8AC3E}">
        <p14:creationId xmlns:p14="http://schemas.microsoft.com/office/powerpoint/2010/main" val="6892979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06E8D19-CAEC-D545-31BF-3975EC09874C}"/>
              </a:ext>
            </a:extLst>
          </p:cNvPr>
          <p:cNvSpPr>
            <a:spLocks noGrp="1"/>
          </p:cNvSpPr>
          <p:nvPr>
            <p:ph type="title"/>
          </p:nvPr>
        </p:nvSpPr>
        <p:spPr/>
        <p:txBody>
          <a:bodyPr/>
          <a:lstStyle/>
          <a:p>
            <a:r>
              <a:rPr lang="en-US" altLang="zh-TW" sz="4800" b="1" dirty="0">
                <a:latin typeface="Times New Roman" panose="02020603050405020304" pitchFamily="18" charset="0"/>
                <a:cs typeface="Times New Roman" panose="02020603050405020304" pitchFamily="18" charset="0"/>
              </a:rPr>
              <a:t>Review of Previous Work</a:t>
            </a:r>
            <a:endParaRPr lang="zh-TW" altLang="en-US" b="1" dirty="0"/>
          </a:p>
        </p:txBody>
      </p:sp>
      <p:sp>
        <p:nvSpPr>
          <p:cNvPr id="3" name="內容版面配置區 2">
            <a:extLst>
              <a:ext uri="{FF2B5EF4-FFF2-40B4-BE49-F238E27FC236}">
                <a16:creationId xmlns:a16="http://schemas.microsoft.com/office/drawing/2014/main" id="{FB456FB8-018E-A511-C952-EC68D033A6E2}"/>
              </a:ext>
            </a:extLst>
          </p:cNvPr>
          <p:cNvSpPr>
            <a:spLocks noGrp="1"/>
          </p:cNvSpPr>
          <p:nvPr>
            <p:ph idx="1"/>
          </p:nvPr>
        </p:nvSpPr>
        <p:spPr>
          <a:xfrm>
            <a:off x="1097280" y="1845733"/>
            <a:ext cx="10058400" cy="4303453"/>
          </a:xfrm>
        </p:spPr>
        <p:txBody>
          <a:bodyPr>
            <a:normAutofit lnSpcReduction="10000"/>
          </a:bodyPr>
          <a:lstStyle/>
          <a:p>
            <a:pPr algn="just">
              <a:lnSpc>
                <a:spcPct val="150000"/>
              </a:lnSpc>
              <a:buFont typeface="Wingdings" panose="05000000000000000000" pitchFamily="2" charset="2"/>
              <a:buChar char="Ø"/>
            </a:pPr>
            <a:r>
              <a:rPr lang="zh-TW" altLang="en-US" dirty="0"/>
              <a:t> </a:t>
            </a:r>
            <a:r>
              <a:rPr lang="en-US" altLang="zh-TW" b="1" dirty="0">
                <a:latin typeface="Times New Roman" panose="02020603050405020304" pitchFamily="18" charset="0"/>
                <a:cs typeface="Times New Roman" panose="02020603050405020304" pitchFamily="18" charset="0"/>
              </a:rPr>
              <a:t>Denoising Diffusion Implicit Models (DDIMs) </a:t>
            </a:r>
            <a:r>
              <a:rPr lang="en-US" altLang="zh-TW" dirty="0">
                <a:latin typeface="Times New Roman" panose="02020603050405020304" pitchFamily="18" charset="0"/>
                <a:cs typeface="Times New Roman" panose="02020603050405020304" pitchFamily="18" charset="0"/>
              </a:rPr>
              <a:t>improve the efficiency of DDPMs by incorporating key modifications that significantly reduce training time: </a:t>
            </a:r>
          </a:p>
          <a:p>
            <a:pPr marL="457200" indent="-457200" algn="just">
              <a:lnSpc>
                <a:spcPct val="150000"/>
              </a:lnSpc>
              <a:buAutoNum type="arabicParenBoth"/>
            </a:pPr>
            <a:r>
              <a:rPr lang="en-US" altLang="zh-TW" b="1" dirty="0">
                <a:latin typeface="Times New Roman" panose="02020603050405020304" pitchFamily="18" charset="0"/>
                <a:cs typeface="Times New Roman" panose="02020603050405020304" pitchFamily="18" charset="0"/>
              </a:rPr>
              <a:t>Deterministic Sampling:</a:t>
            </a:r>
          </a:p>
          <a:p>
            <a:pPr marL="0" indent="0" algn="just">
              <a:lnSpc>
                <a:spcPct val="150000"/>
              </a:lnSpc>
              <a:buNone/>
            </a:pPr>
            <a:r>
              <a:rPr lang="en-US" altLang="zh-TW" dirty="0">
                <a:latin typeface="Times New Roman" panose="02020603050405020304" pitchFamily="18" charset="0"/>
                <a:cs typeface="Times New Roman" panose="02020603050405020304" pitchFamily="18" charset="0"/>
              </a:rPr>
              <a:t>DDIM uses a deterministic reverse diffusion process, avoiding randomness in DDPMs and enabling more direct and efficient denoising.</a:t>
            </a:r>
          </a:p>
          <a:p>
            <a:pPr marL="0" indent="0" algn="just">
              <a:lnSpc>
                <a:spcPct val="150000"/>
              </a:lnSpc>
              <a:buNone/>
            </a:pPr>
            <a:r>
              <a:rPr lang="en-US" altLang="zh-TW" b="1" dirty="0">
                <a:solidFill>
                  <a:schemeClr val="accent1"/>
                </a:solidFill>
                <a:latin typeface="Times New Roman" panose="02020603050405020304" pitchFamily="18" charset="0"/>
                <a:cs typeface="Times New Roman" panose="02020603050405020304" pitchFamily="18" charset="0"/>
              </a:rPr>
              <a:t>(2)</a:t>
            </a:r>
            <a:r>
              <a:rPr lang="zh-TW" altLang="en-US" b="1" dirty="0">
                <a:solidFill>
                  <a:schemeClr val="accent1"/>
                </a:solidFill>
                <a:latin typeface="Times New Roman" panose="02020603050405020304" pitchFamily="18" charset="0"/>
                <a:cs typeface="Times New Roman" panose="02020603050405020304" pitchFamily="18" charset="0"/>
              </a:rPr>
              <a:t> </a:t>
            </a:r>
            <a:r>
              <a:rPr lang="en-US" altLang="zh-TW" b="1" dirty="0">
                <a:latin typeface="Times New Roman" panose="02020603050405020304" pitchFamily="18" charset="0"/>
                <a:cs typeface="Times New Roman" panose="02020603050405020304" pitchFamily="18" charset="0"/>
              </a:rPr>
              <a:t>Non-Markovian Forward Process:</a:t>
            </a:r>
          </a:p>
          <a:p>
            <a:pPr marL="0" indent="0" algn="just">
              <a:lnSpc>
                <a:spcPct val="150000"/>
              </a:lnSpc>
              <a:buNone/>
            </a:pPr>
            <a:r>
              <a:rPr lang="en-US" altLang="zh-TW" dirty="0">
                <a:latin typeface="Times New Roman" panose="02020603050405020304" pitchFamily="18" charset="0"/>
                <a:cs typeface="Times New Roman" panose="02020603050405020304" pitchFamily="18" charset="0"/>
              </a:rPr>
              <a:t>By removing timestep dependency, DDIM’s non-Markovian forward process leverages all previous steps simultaneously, enabling faster training convergence.</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B91746F7-FF37-E897-6198-1DECDD7AD59F}"/>
              </a:ext>
            </a:extLst>
          </p:cNvPr>
          <p:cNvSpPr>
            <a:spLocks noGrp="1"/>
          </p:cNvSpPr>
          <p:nvPr>
            <p:ph type="sldNum" sz="quarter" idx="12"/>
          </p:nvPr>
        </p:nvSpPr>
        <p:spPr/>
        <p:txBody>
          <a:bodyPr/>
          <a:lstStyle/>
          <a:p>
            <a:fld id="{83BADD90-1659-401A-8CB6-1FAE4798FEBF}" type="slidenum">
              <a:rPr lang="zh-TW" altLang="en-US" smtClean="0"/>
              <a:t>6</a:t>
            </a:fld>
            <a:endParaRPr lang="zh-TW" altLang="en-US"/>
          </a:p>
        </p:txBody>
      </p:sp>
    </p:spTree>
    <p:extLst>
      <p:ext uri="{BB962C8B-B14F-4D97-AF65-F5344CB8AC3E}">
        <p14:creationId xmlns:p14="http://schemas.microsoft.com/office/powerpoint/2010/main" val="36150253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06E8D19-CAEC-D545-31BF-3975EC09874C}"/>
              </a:ext>
            </a:extLst>
          </p:cNvPr>
          <p:cNvSpPr>
            <a:spLocks noGrp="1"/>
          </p:cNvSpPr>
          <p:nvPr>
            <p:ph type="title"/>
          </p:nvPr>
        </p:nvSpPr>
        <p:spPr/>
        <p:txBody>
          <a:bodyPr/>
          <a:lstStyle/>
          <a:p>
            <a:r>
              <a:rPr lang="en-US" altLang="zh-TW" sz="4800" b="1" dirty="0">
                <a:latin typeface="Times New Roman" panose="02020603050405020304" pitchFamily="18" charset="0"/>
                <a:cs typeface="Times New Roman" panose="02020603050405020304" pitchFamily="18" charset="0"/>
              </a:rPr>
              <a:t>Review of Previous Work</a:t>
            </a:r>
            <a:endParaRPr lang="zh-TW" altLang="en-US" b="1" dirty="0"/>
          </a:p>
        </p:txBody>
      </p:sp>
      <p:sp>
        <p:nvSpPr>
          <p:cNvPr id="3" name="內容版面配置區 2">
            <a:extLst>
              <a:ext uri="{FF2B5EF4-FFF2-40B4-BE49-F238E27FC236}">
                <a16:creationId xmlns:a16="http://schemas.microsoft.com/office/drawing/2014/main" id="{FB456FB8-018E-A511-C952-EC68D033A6E2}"/>
              </a:ext>
            </a:extLst>
          </p:cNvPr>
          <p:cNvSpPr>
            <a:spLocks noGrp="1"/>
          </p:cNvSpPr>
          <p:nvPr>
            <p:ph idx="1"/>
          </p:nvPr>
        </p:nvSpPr>
        <p:spPr>
          <a:xfrm>
            <a:off x="1097280" y="1845733"/>
            <a:ext cx="10058400" cy="4303453"/>
          </a:xfrm>
        </p:spPr>
        <p:txBody>
          <a:bodyPr>
            <a:normAutofit lnSpcReduction="10000"/>
          </a:bodyPr>
          <a:lstStyle/>
          <a:p>
            <a:pPr algn="just">
              <a:lnSpc>
                <a:spcPct val="150000"/>
              </a:lnSpc>
              <a:buFont typeface="Wingdings" panose="05000000000000000000" pitchFamily="2" charset="2"/>
              <a:buChar char="Ø"/>
            </a:pPr>
            <a:r>
              <a:rPr lang="zh-TW" altLang="en-US" dirty="0"/>
              <a:t> </a:t>
            </a:r>
            <a:r>
              <a:rPr lang="en-US" altLang="zh-TW" b="1" dirty="0">
                <a:latin typeface="Times New Roman" panose="02020603050405020304" pitchFamily="18" charset="0"/>
                <a:cs typeface="Times New Roman" panose="02020603050405020304" pitchFamily="18" charset="0"/>
              </a:rPr>
              <a:t>Denoising Diffusion Implicit Models (DDIMs) </a:t>
            </a:r>
            <a:r>
              <a:rPr lang="en-US" altLang="zh-TW" dirty="0">
                <a:latin typeface="Times New Roman" panose="02020603050405020304" pitchFamily="18" charset="0"/>
                <a:cs typeface="Times New Roman" panose="02020603050405020304" pitchFamily="18" charset="0"/>
              </a:rPr>
              <a:t>improve the efficiency of DDPMs by incorporating key modifications that significantly reduce training time: </a:t>
            </a:r>
          </a:p>
          <a:p>
            <a:pPr marL="0" indent="0" algn="just">
              <a:lnSpc>
                <a:spcPct val="150000"/>
              </a:lnSpc>
              <a:buNone/>
            </a:pPr>
            <a:r>
              <a:rPr lang="en-US" altLang="zh-TW" b="1" dirty="0">
                <a:solidFill>
                  <a:schemeClr val="accent1"/>
                </a:solidFill>
                <a:latin typeface="Times New Roman" panose="02020603050405020304" pitchFamily="18" charset="0"/>
                <a:cs typeface="Times New Roman" panose="02020603050405020304" pitchFamily="18" charset="0"/>
              </a:rPr>
              <a:t>(3)</a:t>
            </a:r>
            <a:r>
              <a:rPr lang="zh-TW" altLang="en-US" b="1" dirty="0">
                <a:solidFill>
                  <a:schemeClr val="accent1"/>
                </a:solidFill>
                <a:latin typeface="Times New Roman" panose="02020603050405020304" pitchFamily="18" charset="0"/>
                <a:cs typeface="Times New Roman" panose="02020603050405020304" pitchFamily="18" charset="0"/>
              </a:rPr>
              <a:t> </a:t>
            </a:r>
            <a:r>
              <a:rPr lang="en-US" altLang="zh-TW" b="1" dirty="0">
                <a:latin typeface="Times New Roman" panose="02020603050405020304" pitchFamily="18" charset="0"/>
                <a:cs typeface="Times New Roman" panose="02020603050405020304" pitchFamily="18" charset="0"/>
              </a:rPr>
              <a:t>Reduced Diffusion Steps:</a:t>
            </a:r>
          </a:p>
          <a:p>
            <a:pPr marL="0" indent="0" algn="just">
              <a:lnSpc>
                <a:spcPct val="150000"/>
              </a:lnSpc>
              <a:buNone/>
            </a:pPr>
            <a:r>
              <a:rPr lang="en-US" altLang="zh-TW" dirty="0">
                <a:latin typeface="Times New Roman" panose="02020603050405020304" pitchFamily="18" charset="0"/>
                <a:cs typeface="Times New Roman" panose="02020603050405020304" pitchFamily="18" charset="0"/>
              </a:rPr>
              <a:t>DDIM optimizes the diffusion schedule, requiring fewer steps to generate high-quality images, reducing training time.</a:t>
            </a:r>
          </a:p>
          <a:p>
            <a:pPr marL="0" indent="0" algn="just">
              <a:lnSpc>
                <a:spcPct val="150000"/>
              </a:lnSpc>
              <a:buNone/>
            </a:pPr>
            <a:r>
              <a:rPr lang="en-US" altLang="zh-TW" b="1" dirty="0">
                <a:solidFill>
                  <a:schemeClr val="accent1"/>
                </a:solidFill>
                <a:latin typeface="Times New Roman" panose="02020603050405020304" pitchFamily="18" charset="0"/>
                <a:cs typeface="Times New Roman" panose="02020603050405020304" pitchFamily="18" charset="0"/>
              </a:rPr>
              <a:t>(4)</a:t>
            </a:r>
            <a:r>
              <a:rPr lang="zh-TW" altLang="en-US" b="1" dirty="0">
                <a:solidFill>
                  <a:schemeClr val="accent1"/>
                </a:solidFill>
                <a:latin typeface="Times New Roman" panose="02020603050405020304" pitchFamily="18" charset="0"/>
                <a:cs typeface="Times New Roman" panose="02020603050405020304" pitchFamily="18" charset="0"/>
              </a:rPr>
              <a:t> </a:t>
            </a:r>
            <a:r>
              <a:rPr lang="en-US" altLang="zh-TW" b="1" dirty="0">
                <a:latin typeface="Times New Roman" panose="02020603050405020304" pitchFamily="18" charset="0"/>
                <a:cs typeface="Times New Roman" panose="02020603050405020304" pitchFamily="18" charset="0"/>
              </a:rPr>
              <a:t>Efficient Computation:</a:t>
            </a:r>
          </a:p>
          <a:p>
            <a:pPr marL="0" indent="0" algn="just">
              <a:lnSpc>
                <a:spcPct val="150000"/>
              </a:lnSpc>
              <a:buNone/>
            </a:pPr>
            <a:r>
              <a:rPr lang="en-US" altLang="zh-TW" dirty="0">
                <a:latin typeface="Times New Roman" panose="02020603050405020304" pitchFamily="18" charset="0"/>
                <a:cs typeface="Times New Roman" panose="02020603050405020304" pitchFamily="18" charset="0"/>
              </a:rPr>
              <a:t>With parameter sharing and efficient techniques, DDIM lowers computational overhead per step, ensuring faster training without performance loss.</a:t>
            </a:r>
          </a:p>
        </p:txBody>
      </p:sp>
      <p:sp>
        <p:nvSpPr>
          <p:cNvPr id="4" name="投影片編號版面配置區 3">
            <a:extLst>
              <a:ext uri="{FF2B5EF4-FFF2-40B4-BE49-F238E27FC236}">
                <a16:creationId xmlns:a16="http://schemas.microsoft.com/office/drawing/2014/main" id="{B91746F7-FF37-E897-6198-1DECDD7AD59F}"/>
              </a:ext>
            </a:extLst>
          </p:cNvPr>
          <p:cNvSpPr>
            <a:spLocks noGrp="1"/>
          </p:cNvSpPr>
          <p:nvPr>
            <p:ph type="sldNum" sz="quarter" idx="12"/>
          </p:nvPr>
        </p:nvSpPr>
        <p:spPr/>
        <p:txBody>
          <a:bodyPr/>
          <a:lstStyle/>
          <a:p>
            <a:fld id="{83BADD90-1659-401A-8CB6-1FAE4798FEBF}" type="slidenum">
              <a:rPr lang="zh-TW" altLang="en-US" smtClean="0"/>
              <a:t>7</a:t>
            </a:fld>
            <a:endParaRPr lang="zh-TW" altLang="en-US"/>
          </a:p>
        </p:txBody>
      </p:sp>
    </p:spTree>
    <p:extLst>
      <p:ext uri="{BB962C8B-B14F-4D97-AF65-F5344CB8AC3E}">
        <p14:creationId xmlns:p14="http://schemas.microsoft.com/office/powerpoint/2010/main" val="10868995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E8E58F-40A6-5B4E-ED29-E2E2FC0EA68A}"/>
              </a:ext>
            </a:extLst>
          </p:cNvPr>
          <p:cNvSpPr>
            <a:spLocks noGrp="1"/>
          </p:cNvSpPr>
          <p:nvPr>
            <p:ph type="title"/>
          </p:nvPr>
        </p:nvSpPr>
        <p:spPr/>
        <p:txBody>
          <a:bodyPr/>
          <a:lstStyle/>
          <a:p>
            <a:r>
              <a:rPr lang="en-US" altLang="zh-TW" sz="4800" b="1" dirty="0">
                <a:latin typeface="Times New Roman" panose="02020603050405020304" pitchFamily="18" charset="0"/>
                <a:cs typeface="Times New Roman" panose="02020603050405020304" pitchFamily="18" charset="0"/>
              </a:rPr>
              <a:t>Technical Part</a:t>
            </a:r>
            <a:endParaRPr lang="zh-TW" altLang="en-US" b="1" dirty="0"/>
          </a:p>
        </p:txBody>
      </p:sp>
      <p:sp>
        <p:nvSpPr>
          <p:cNvPr id="3" name="內容版面配置區 2">
            <a:extLst>
              <a:ext uri="{FF2B5EF4-FFF2-40B4-BE49-F238E27FC236}">
                <a16:creationId xmlns:a16="http://schemas.microsoft.com/office/drawing/2014/main" id="{BB9A68FE-B5BB-75CD-920C-D17B42BA0040}"/>
              </a:ext>
            </a:extLst>
          </p:cNvPr>
          <p:cNvSpPr>
            <a:spLocks noGrp="1"/>
          </p:cNvSpPr>
          <p:nvPr>
            <p:ph idx="1"/>
          </p:nvPr>
        </p:nvSpPr>
        <p:spPr>
          <a:xfrm>
            <a:off x="1097280" y="1845734"/>
            <a:ext cx="10058400" cy="3953649"/>
          </a:xfrm>
        </p:spPr>
        <p:txBody>
          <a:bodyPr/>
          <a:lstStyle/>
          <a:p>
            <a:pPr>
              <a:buFont typeface="Wingdings" panose="05000000000000000000" pitchFamily="2" charset="2"/>
              <a:buChar char="Ø"/>
            </a:pPr>
            <a:r>
              <a:rPr lang="zh-TW" altLang="en-US" dirty="0"/>
              <a:t> </a:t>
            </a:r>
            <a:r>
              <a:rPr lang="en-US" altLang="zh-TW" sz="2400" b="1" dirty="0">
                <a:latin typeface="Times New Roman" panose="02020603050405020304" pitchFamily="18" charset="0"/>
                <a:cs typeface="Times New Roman" panose="02020603050405020304" pitchFamily="18" charset="0"/>
              </a:rPr>
              <a:t>Summary of the technical solution</a:t>
            </a:r>
          </a:p>
          <a:p>
            <a:pPr marL="0" indent="0">
              <a:buNone/>
            </a:pPr>
            <a:endParaRPr lang="en-US" altLang="zh-TW" sz="2400" b="1" dirty="0">
              <a:latin typeface="Times New Roman" panose="02020603050405020304" pitchFamily="18" charset="0"/>
              <a:cs typeface="Times New Roman" panose="02020603050405020304" pitchFamily="18" charset="0"/>
            </a:endParaRPr>
          </a:p>
          <a:p>
            <a:pPr marL="0" indent="0">
              <a:buNone/>
            </a:pPr>
            <a:r>
              <a:rPr lang="en-US" altLang="zh-TW" b="1" dirty="0">
                <a:solidFill>
                  <a:schemeClr val="accent1"/>
                </a:solidFill>
                <a:latin typeface="Times New Roman" panose="02020603050405020304" pitchFamily="18" charset="0"/>
                <a:cs typeface="Times New Roman" panose="02020603050405020304" pitchFamily="18" charset="0"/>
              </a:rPr>
              <a:t>(1)</a:t>
            </a:r>
            <a:r>
              <a:rPr lang="zh-TW" altLang="en-US" b="1" dirty="0">
                <a:solidFill>
                  <a:schemeClr val="accent1"/>
                </a:solidFill>
                <a:latin typeface="Times New Roman" panose="02020603050405020304" pitchFamily="18" charset="0"/>
                <a:cs typeface="Times New Roman" panose="02020603050405020304" pitchFamily="18" charset="0"/>
              </a:rPr>
              <a:t> </a:t>
            </a:r>
            <a:r>
              <a:rPr lang="en-US" altLang="zh-TW" b="1" dirty="0">
                <a:latin typeface="Times New Roman" panose="02020603050405020304" pitchFamily="18" charset="0"/>
                <a:cs typeface="Times New Roman" panose="02020603050405020304" pitchFamily="18" charset="0"/>
              </a:rPr>
              <a:t>Dataset Selection and Preparation:</a:t>
            </a:r>
          </a:p>
          <a:p>
            <a:pPr marL="0" indent="0" algn="just">
              <a:lnSpc>
                <a:spcPct val="150000"/>
              </a:lnSpc>
              <a:buNone/>
            </a:pPr>
            <a:r>
              <a:rPr lang="en-US" altLang="zh-TW" dirty="0">
                <a:latin typeface="Times New Roman" panose="02020603050405020304" pitchFamily="18" charset="0"/>
                <a:cs typeface="Times New Roman" panose="02020603050405020304" pitchFamily="18" charset="0"/>
              </a:rPr>
              <a:t>Utilize the </a:t>
            </a:r>
            <a:r>
              <a:rPr lang="en-US" altLang="zh-TW" b="1" dirty="0">
                <a:solidFill>
                  <a:srgbClr val="FF0000"/>
                </a:solidFill>
                <a:latin typeface="Times New Roman" panose="02020603050405020304" pitchFamily="18" charset="0"/>
                <a:cs typeface="Times New Roman" panose="02020603050405020304" pitchFamily="18" charset="0"/>
              </a:rPr>
              <a:t>Medical Open Network for AI (MONAI) framework </a:t>
            </a:r>
            <a:r>
              <a:rPr lang="en-US" altLang="zh-TW" dirty="0">
                <a:latin typeface="Times New Roman" panose="02020603050405020304" pitchFamily="18" charset="0"/>
                <a:cs typeface="Times New Roman" panose="02020603050405020304" pitchFamily="18" charset="0"/>
              </a:rPr>
              <a:t>to access the </a:t>
            </a:r>
            <a:r>
              <a:rPr lang="en-US" altLang="zh-TW" b="1" dirty="0">
                <a:latin typeface="Times New Roman" panose="02020603050405020304" pitchFamily="18" charset="0"/>
                <a:cs typeface="Times New Roman" panose="02020603050405020304" pitchFamily="18" charset="0"/>
              </a:rPr>
              <a:t>Medical MNIST (</a:t>
            </a:r>
            <a:r>
              <a:rPr lang="en-US" altLang="zh-TW" b="1" dirty="0" err="1">
                <a:latin typeface="Times New Roman" panose="02020603050405020304" pitchFamily="18" charset="0"/>
                <a:cs typeface="Times New Roman" panose="02020603050405020304" pitchFamily="18" charset="0"/>
              </a:rPr>
              <a:t>MedNIST</a:t>
            </a:r>
            <a:r>
              <a:rPr lang="en-US" altLang="zh-TW" b="1" dirty="0">
                <a:latin typeface="Times New Roman" panose="02020603050405020304" pitchFamily="18" charset="0"/>
                <a:cs typeface="Times New Roman" panose="02020603050405020304" pitchFamily="18" charset="0"/>
              </a:rPr>
              <a:t>) dataset</a:t>
            </a:r>
            <a:r>
              <a:rPr lang="en-US" altLang="zh-TW" dirty="0">
                <a:latin typeface="Times New Roman" panose="02020603050405020304" pitchFamily="18" charset="0"/>
                <a:cs typeface="Times New Roman" panose="02020603050405020304" pitchFamily="18" charset="0"/>
              </a:rPr>
              <a:t>.</a:t>
            </a:r>
          </a:p>
          <a:p>
            <a:pPr marL="0" indent="0" algn="just">
              <a:lnSpc>
                <a:spcPct val="150000"/>
              </a:lnSpc>
              <a:buNone/>
            </a:pPr>
            <a:r>
              <a:rPr lang="en-US" altLang="zh-TW" b="1" dirty="0">
                <a:solidFill>
                  <a:schemeClr val="accent1"/>
                </a:solidFill>
                <a:latin typeface="Times New Roman" panose="02020603050405020304" pitchFamily="18" charset="0"/>
                <a:cs typeface="Times New Roman" panose="02020603050405020304" pitchFamily="18" charset="0"/>
              </a:rPr>
              <a:t>(2)</a:t>
            </a:r>
            <a:r>
              <a:rPr lang="zh-TW" altLang="en-US" b="1" dirty="0">
                <a:solidFill>
                  <a:schemeClr val="accent1"/>
                </a:solidFill>
                <a:latin typeface="Times New Roman" panose="02020603050405020304" pitchFamily="18" charset="0"/>
                <a:cs typeface="Times New Roman" panose="02020603050405020304" pitchFamily="18" charset="0"/>
              </a:rPr>
              <a:t> </a:t>
            </a:r>
            <a:r>
              <a:rPr lang="en-US" altLang="zh-TW" b="1" dirty="0">
                <a:latin typeface="Times New Roman" panose="02020603050405020304" pitchFamily="18" charset="0"/>
                <a:cs typeface="Times New Roman" panose="02020603050405020304" pitchFamily="18" charset="0"/>
              </a:rPr>
              <a:t>Model Training:</a:t>
            </a:r>
          </a:p>
          <a:p>
            <a:pPr marL="0" indent="0" algn="just">
              <a:lnSpc>
                <a:spcPct val="150000"/>
              </a:lnSpc>
              <a:buNone/>
            </a:pPr>
            <a:r>
              <a:rPr lang="en-US" altLang="zh-TW" dirty="0">
                <a:latin typeface="Times New Roman" panose="02020603050405020304" pitchFamily="18" charset="0"/>
                <a:cs typeface="Times New Roman" panose="02020603050405020304" pitchFamily="18" charset="0"/>
              </a:rPr>
              <a:t>Train a </a:t>
            </a:r>
            <a:r>
              <a:rPr lang="en-US" altLang="zh-TW" b="1" dirty="0">
                <a:latin typeface="Times New Roman" panose="02020603050405020304" pitchFamily="18" charset="0"/>
                <a:cs typeface="Times New Roman" panose="02020603050405020304" pitchFamily="18" charset="0"/>
              </a:rPr>
              <a:t>DDPMs model </a:t>
            </a:r>
            <a:r>
              <a:rPr lang="en-US" altLang="zh-TW" dirty="0">
                <a:latin typeface="Times New Roman" panose="02020603050405020304" pitchFamily="18" charset="0"/>
                <a:cs typeface="Times New Roman" panose="02020603050405020304" pitchFamily="18" charset="0"/>
              </a:rPr>
              <a:t>with the training data.</a:t>
            </a:r>
          </a:p>
          <a:p>
            <a:pPr marL="0" indent="0">
              <a:buNone/>
            </a:pPr>
            <a:endParaRPr lang="en-US" altLang="zh-TW" b="1"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1B4057A5-5C5F-0995-93C3-B570B83568B1}"/>
              </a:ext>
            </a:extLst>
          </p:cNvPr>
          <p:cNvSpPr>
            <a:spLocks noGrp="1"/>
          </p:cNvSpPr>
          <p:nvPr>
            <p:ph type="sldNum" sz="quarter" idx="12"/>
          </p:nvPr>
        </p:nvSpPr>
        <p:spPr/>
        <p:txBody>
          <a:bodyPr/>
          <a:lstStyle/>
          <a:p>
            <a:fld id="{83BADD90-1659-401A-8CB6-1FAE4798FEBF}" type="slidenum">
              <a:rPr lang="zh-TW" altLang="en-US" smtClean="0"/>
              <a:t>8</a:t>
            </a:fld>
            <a:endParaRPr lang="zh-TW" altLang="en-US"/>
          </a:p>
        </p:txBody>
      </p:sp>
    </p:spTree>
    <p:extLst>
      <p:ext uri="{BB962C8B-B14F-4D97-AF65-F5344CB8AC3E}">
        <p14:creationId xmlns:p14="http://schemas.microsoft.com/office/powerpoint/2010/main" val="29906285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E8E58F-40A6-5B4E-ED29-E2E2FC0EA68A}"/>
              </a:ext>
            </a:extLst>
          </p:cNvPr>
          <p:cNvSpPr>
            <a:spLocks noGrp="1"/>
          </p:cNvSpPr>
          <p:nvPr>
            <p:ph type="title"/>
          </p:nvPr>
        </p:nvSpPr>
        <p:spPr/>
        <p:txBody>
          <a:bodyPr/>
          <a:lstStyle/>
          <a:p>
            <a:r>
              <a:rPr lang="en-US" altLang="zh-TW" sz="4800" b="1" dirty="0">
                <a:latin typeface="Times New Roman" panose="02020603050405020304" pitchFamily="18" charset="0"/>
                <a:cs typeface="Times New Roman" panose="02020603050405020304" pitchFamily="18" charset="0"/>
              </a:rPr>
              <a:t>Technical Part</a:t>
            </a:r>
            <a:endParaRPr lang="zh-TW" altLang="en-US" b="1" dirty="0"/>
          </a:p>
        </p:txBody>
      </p:sp>
      <p:sp>
        <p:nvSpPr>
          <p:cNvPr id="3" name="內容版面配置區 2">
            <a:extLst>
              <a:ext uri="{FF2B5EF4-FFF2-40B4-BE49-F238E27FC236}">
                <a16:creationId xmlns:a16="http://schemas.microsoft.com/office/drawing/2014/main" id="{BB9A68FE-B5BB-75CD-920C-D17B42BA0040}"/>
              </a:ext>
            </a:extLst>
          </p:cNvPr>
          <p:cNvSpPr>
            <a:spLocks noGrp="1"/>
          </p:cNvSpPr>
          <p:nvPr>
            <p:ph idx="1"/>
          </p:nvPr>
        </p:nvSpPr>
        <p:spPr>
          <a:xfrm>
            <a:off x="1097280" y="1845734"/>
            <a:ext cx="10058400" cy="3953649"/>
          </a:xfrm>
        </p:spPr>
        <p:txBody>
          <a:bodyPr/>
          <a:lstStyle/>
          <a:p>
            <a:pPr>
              <a:buFont typeface="Wingdings" panose="05000000000000000000" pitchFamily="2" charset="2"/>
              <a:buChar char="Ø"/>
            </a:pPr>
            <a:r>
              <a:rPr lang="zh-TW" altLang="en-US" dirty="0"/>
              <a:t> </a:t>
            </a:r>
            <a:r>
              <a:rPr lang="en-US" altLang="zh-TW" sz="2400" b="1" dirty="0">
                <a:latin typeface="Times New Roman" panose="02020603050405020304" pitchFamily="18" charset="0"/>
                <a:cs typeface="Times New Roman" panose="02020603050405020304" pitchFamily="18" charset="0"/>
              </a:rPr>
              <a:t>Summary of the technical solution</a:t>
            </a:r>
          </a:p>
          <a:p>
            <a:pPr marL="0" indent="0">
              <a:buNone/>
            </a:pPr>
            <a:endParaRPr lang="en-US" altLang="zh-TW" sz="2400" b="1" dirty="0">
              <a:latin typeface="Times New Roman" panose="02020603050405020304" pitchFamily="18" charset="0"/>
              <a:cs typeface="Times New Roman" panose="02020603050405020304" pitchFamily="18" charset="0"/>
            </a:endParaRPr>
          </a:p>
          <a:p>
            <a:pPr marL="0" indent="0">
              <a:buNone/>
            </a:pPr>
            <a:r>
              <a:rPr lang="en-US" altLang="zh-TW" b="1" dirty="0">
                <a:solidFill>
                  <a:schemeClr val="accent1"/>
                </a:solidFill>
                <a:latin typeface="Times New Roman" panose="02020603050405020304" pitchFamily="18" charset="0"/>
                <a:cs typeface="Times New Roman" panose="02020603050405020304" pitchFamily="18" charset="0"/>
              </a:rPr>
              <a:t>(3)</a:t>
            </a:r>
            <a:r>
              <a:rPr lang="zh-TW" altLang="en-US" b="1" dirty="0">
                <a:solidFill>
                  <a:schemeClr val="accent1"/>
                </a:solidFill>
                <a:latin typeface="Times New Roman" panose="02020603050405020304" pitchFamily="18" charset="0"/>
                <a:cs typeface="Times New Roman" panose="02020603050405020304" pitchFamily="18" charset="0"/>
              </a:rPr>
              <a:t> </a:t>
            </a:r>
            <a:r>
              <a:rPr lang="en-US" altLang="zh-TW" b="1" dirty="0">
                <a:latin typeface="Times New Roman" panose="02020603050405020304" pitchFamily="18" charset="0"/>
                <a:cs typeface="Times New Roman" panose="02020603050405020304" pitchFamily="18" charset="0"/>
              </a:rPr>
              <a:t>Noise Augmentation:</a:t>
            </a:r>
          </a:p>
          <a:p>
            <a:pPr marL="0" indent="0" algn="just">
              <a:lnSpc>
                <a:spcPct val="150000"/>
              </a:lnSpc>
              <a:buNone/>
            </a:pPr>
            <a:r>
              <a:rPr lang="en-US" altLang="zh-TW" b="1" dirty="0">
                <a:latin typeface="Times New Roman" panose="02020603050405020304" pitchFamily="18" charset="0"/>
                <a:cs typeface="Times New Roman" panose="02020603050405020304" pitchFamily="18" charset="0"/>
              </a:rPr>
              <a:t>Add noise </a:t>
            </a:r>
            <a:r>
              <a:rPr lang="en-US" altLang="zh-TW" dirty="0">
                <a:latin typeface="Times New Roman" panose="02020603050405020304" pitchFamily="18" charset="0"/>
                <a:cs typeface="Times New Roman" panose="02020603050405020304" pitchFamily="18" charset="0"/>
              </a:rPr>
              <a:t>to the dataset.</a:t>
            </a:r>
          </a:p>
          <a:p>
            <a:pPr marL="0" indent="0" algn="just">
              <a:lnSpc>
                <a:spcPct val="150000"/>
              </a:lnSpc>
              <a:buNone/>
            </a:pPr>
            <a:r>
              <a:rPr lang="en-US" altLang="zh-TW" b="1" dirty="0">
                <a:solidFill>
                  <a:schemeClr val="accent1"/>
                </a:solidFill>
                <a:latin typeface="Times New Roman" panose="02020603050405020304" pitchFamily="18" charset="0"/>
                <a:cs typeface="Times New Roman" panose="02020603050405020304" pitchFamily="18" charset="0"/>
              </a:rPr>
              <a:t>(4)</a:t>
            </a:r>
            <a:r>
              <a:rPr lang="zh-TW" altLang="en-US" b="1" dirty="0">
                <a:solidFill>
                  <a:schemeClr val="accent1"/>
                </a:solidFill>
                <a:latin typeface="Times New Roman" panose="02020603050405020304" pitchFamily="18" charset="0"/>
                <a:cs typeface="Times New Roman" panose="02020603050405020304" pitchFamily="18" charset="0"/>
              </a:rPr>
              <a:t> </a:t>
            </a:r>
            <a:r>
              <a:rPr lang="en-US" altLang="zh-TW" b="1" dirty="0">
                <a:latin typeface="Times New Roman" panose="02020603050405020304" pitchFamily="18" charset="0"/>
                <a:cs typeface="Times New Roman" panose="02020603050405020304" pitchFamily="18" charset="0"/>
              </a:rPr>
              <a:t>Image Generation:</a:t>
            </a:r>
          </a:p>
          <a:p>
            <a:pPr marL="0" indent="0" algn="just">
              <a:lnSpc>
                <a:spcPct val="150000"/>
              </a:lnSpc>
              <a:buNone/>
            </a:pPr>
            <a:r>
              <a:rPr lang="en-US" altLang="zh-TW" dirty="0">
                <a:latin typeface="Times New Roman" panose="02020603050405020304" pitchFamily="18" charset="0"/>
                <a:cs typeface="Times New Roman" panose="02020603050405020304" pitchFamily="18" charset="0"/>
              </a:rPr>
              <a:t>During image generation, </a:t>
            </a:r>
            <a:r>
              <a:rPr lang="en-US" altLang="zh-TW" b="1" dirty="0">
                <a:solidFill>
                  <a:srgbClr val="FF0000"/>
                </a:solidFill>
                <a:latin typeface="Times New Roman" panose="02020603050405020304" pitchFamily="18" charset="0"/>
                <a:cs typeface="Times New Roman" panose="02020603050405020304" pitchFamily="18" charset="0"/>
              </a:rPr>
              <a:t>input the noisy images from step 3 instead of random noise</a:t>
            </a:r>
            <a:r>
              <a:rPr lang="en-US" altLang="zh-TW" dirty="0">
                <a:latin typeface="Times New Roman" panose="02020603050405020304" pitchFamily="18" charset="0"/>
                <a:cs typeface="Times New Roman" panose="02020603050405020304" pitchFamily="18" charset="0"/>
              </a:rPr>
              <a:t>.</a:t>
            </a: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endParaRPr lang="en-US" altLang="zh-TW" b="1"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1B4057A5-5C5F-0995-93C3-B570B83568B1}"/>
              </a:ext>
            </a:extLst>
          </p:cNvPr>
          <p:cNvSpPr>
            <a:spLocks noGrp="1"/>
          </p:cNvSpPr>
          <p:nvPr>
            <p:ph type="sldNum" sz="quarter" idx="12"/>
          </p:nvPr>
        </p:nvSpPr>
        <p:spPr/>
        <p:txBody>
          <a:bodyPr/>
          <a:lstStyle/>
          <a:p>
            <a:fld id="{83BADD90-1659-401A-8CB6-1FAE4798FEBF}" type="slidenum">
              <a:rPr lang="zh-TW" altLang="en-US" smtClean="0"/>
              <a:t>9</a:t>
            </a:fld>
            <a:endParaRPr lang="zh-TW" altLang="en-US"/>
          </a:p>
        </p:txBody>
      </p:sp>
    </p:spTree>
    <p:extLst>
      <p:ext uri="{BB962C8B-B14F-4D97-AF65-F5344CB8AC3E}">
        <p14:creationId xmlns:p14="http://schemas.microsoft.com/office/powerpoint/2010/main" val="35037532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E8E58F-40A6-5B4E-ED29-E2E2FC0EA68A}"/>
              </a:ext>
            </a:extLst>
          </p:cNvPr>
          <p:cNvSpPr>
            <a:spLocks noGrp="1"/>
          </p:cNvSpPr>
          <p:nvPr>
            <p:ph type="title"/>
          </p:nvPr>
        </p:nvSpPr>
        <p:spPr/>
        <p:txBody>
          <a:bodyPr/>
          <a:lstStyle/>
          <a:p>
            <a:r>
              <a:rPr lang="en-US" altLang="zh-TW" sz="4800" b="1" dirty="0">
                <a:latin typeface="Times New Roman" panose="02020603050405020304" pitchFamily="18" charset="0"/>
                <a:cs typeface="Times New Roman" panose="02020603050405020304" pitchFamily="18" charset="0"/>
              </a:rPr>
              <a:t>Technical Part</a:t>
            </a:r>
            <a:endParaRPr lang="zh-TW" altLang="en-US" b="1" dirty="0"/>
          </a:p>
        </p:txBody>
      </p:sp>
      <p:sp>
        <p:nvSpPr>
          <p:cNvPr id="3" name="內容版面配置區 2">
            <a:extLst>
              <a:ext uri="{FF2B5EF4-FFF2-40B4-BE49-F238E27FC236}">
                <a16:creationId xmlns:a16="http://schemas.microsoft.com/office/drawing/2014/main" id="{BB9A68FE-B5BB-75CD-920C-D17B42BA0040}"/>
              </a:ext>
            </a:extLst>
          </p:cNvPr>
          <p:cNvSpPr>
            <a:spLocks noGrp="1"/>
          </p:cNvSpPr>
          <p:nvPr>
            <p:ph idx="1"/>
          </p:nvPr>
        </p:nvSpPr>
        <p:spPr>
          <a:xfrm>
            <a:off x="1097280" y="1845734"/>
            <a:ext cx="10058400" cy="3953649"/>
          </a:xfrm>
        </p:spPr>
        <p:txBody>
          <a:bodyPr/>
          <a:lstStyle/>
          <a:p>
            <a:pPr>
              <a:buFont typeface="Wingdings" panose="05000000000000000000" pitchFamily="2" charset="2"/>
              <a:buChar char="Ø"/>
            </a:pPr>
            <a:r>
              <a:rPr lang="zh-TW" altLang="en-US" dirty="0"/>
              <a:t> </a:t>
            </a:r>
            <a:r>
              <a:rPr lang="en-US" altLang="zh-TW" sz="2400" b="1" dirty="0">
                <a:latin typeface="Times New Roman" panose="02020603050405020304" pitchFamily="18" charset="0"/>
                <a:cs typeface="Times New Roman" panose="02020603050405020304" pitchFamily="18" charset="0"/>
              </a:rPr>
              <a:t>Summary of the technical solution</a:t>
            </a:r>
          </a:p>
          <a:p>
            <a:pPr marL="0" indent="0">
              <a:buNone/>
            </a:pPr>
            <a:endParaRPr lang="en-US" altLang="zh-TW" sz="2400" b="1" dirty="0">
              <a:latin typeface="Times New Roman" panose="02020603050405020304" pitchFamily="18" charset="0"/>
              <a:cs typeface="Times New Roman" panose="02020603050405020304" pitchFamily="18" charset="0"/>
            </a:endParaRPr>
          </a:p>
          <a:p>
            <a:pPr marL="0" indent="0">
              <a:buNone/>
            </a:pPr>
            <a:r>
              <a:rPr lang="en-US" altLang="zh-TW" b="1" dirty="0">
                <a:solidFill>
                  <a:schemeClr val="accent1"/>
                </a:solidFill>
                <a:latin typeface="Times New Roman" panose="02020603050405020304" pitchFamily="18" charset="0"/>
                <a:cs typeface="Times New Roman" panose="02020603050405020304" pitchFamily="18" charset="0"/>
              </a:rPr>
              <a:t>(5)</a:t>
            </a:r>
            <a:r>
              <a:rPr lang="zh-TW" altLang="en-US" b="1" dirty="0">
                <a:solidFill>
                  <a:schemeClr val="accent1"/>
                </a:solidFill>
                <a:latin typeface="Times New Roman" panose="02020603050405020304" pitchFamily="18" charset="0"/>
                <a:cs typeface="Times New Roman" panose="02020603050405020304" pitchFamily="18" charset="0"/>
              </a:rPr>
              <a:t> </a:t>
            </a:r>
            <a:r>
              <a:rPr lang="en-US" altLang="zh-TW" b="1" dirty="0">
                <a:latin typeface="Times New Roman" panose="02020603050405020304" pitchFamily="18" charset="0"/>
                <a:cs typeface="Times New Roman" panose="02020603050405020304" pitchFamily="18" charset="0"/>
              </a:rPr>
              <a:t>Evaluation Metrics:</a:t>
            </a:r>
          </a:p>
          <a:p>
            <a:pPr marL="0" indent="0" algn="just">
              <a:lnSpc>
                <a:spcPct val="150000"/>
              </a:lnSpc>
              <a:buNone/>
            </a:pPr>
            <a:r>
              <a:rPr lang="en-US" altLang="zh-TW" dirty="0">
                <a:latin typeface="Times New Roman" panose="02020603050405020304" pitchFamily="18" charset="0"/>
                <a:cs typeface="Times New Roman" panose="02020603050405020304" pitchFamily="18" charset="0"/>
              </a:rPr>
              <a:t>Assess the similarity between the generated images and the original images using Structural Similarity Index Measure </a:t>
            </a:r>
            <a:r>
              <a:rPr lang="en-US" altLang="zh-TW" b="1" dirty="0">
                <a:solidFill>
                  <a:srgbClr val="FF0000"/>
                </a:solidFill>
                <a:latin typeface="Times New Roman" panose="02020603050405020304" pitchFamily="18" charset="0"/>
                <a:cs typeface="Times New Roman" panose="02020603050405020304" pitchFamily="18" charset="0"/>
              </a:rPr>
              <a:t>(SSIM) </a:t>
            </a:r>
            <a:r>
              <a:rPr lang="en-US" altLang="zh-TW" dirty="0">
                <a:latin typeface="Times New Roman" panose="02020603050405020304" pitchFamily="18" charset="0"/>
                <a:cs typeface="Times New Roman" panose="02020603050405020304" pitchFamily="18" charset="0"/>
              </a:rPr>
              <a:t>and Peak Signal-to-Noise Ratio </a:t>
            </a:r>
            <a:r>
              <a:rPr lang="en-US" altLang="zh-TW" b="1" dirty="0">
                <a:solidFill>
                  <a:srgbClr val="FF0000"/>
                </a:solidFill>
                <a:latin typeface="Times New Roman" panose="02020603050405020304" pitchFamily="18" charset="0"/>
                <a:cs typeface="Times New Roman" panose="02020603050405020304" pitchFamily="18" charset="0"/>
              </a:rPr>
              <a:t>(PSNR)</a:t>
            </a:r>
            <a:r>
              <a:rPr lang="en-US" altLang="zh-TW" dirty="0">
                <a:latin typeface="Times New Roman" panose="02020603050405020304" pitchFamily="18" charset="0"/>
                <a:cs typeface="Times New Roman" panose="02020603050405020304" pitchFamily="18" charset="0"/>
              </a:rPr>
              <a:t>.</a:t>
            </a: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endParaRPr lang="en-US" altLang="zh-TW" b="1"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1B4057A5-5C5F-0995-93C3-B570B83568B1}"/>
              </a:ext>
            </a:extLst>
          </p:cNvPr>
          <p:cNvSpPr>
            <a:spLocks noGrp="1"/>
          </p:cNvSpPr>
          <p:nvPr>
            <p:ph type="sldNum" sz="quarter" idx="12"/>
          </p:nvPr>
        </p:nvSpPr>
        <p:spPr/>
        <p:txBody>
          <a:bodyPr/>
          <a:lstStyle/>
          <a:p>
            <a:fld id="{83BADD90-1659-401A-8CB6-1FAE4798FEBF}" type="slidenum">
              <a:rPr lang="zh-TW" altLang="en-US" smtClean="0"/>
              <a:t>10</a:t>
            </a:fld>
            <a:endParaRPr lang="zh-TW" altLang="en-US"/>
          </a:p>
        </p:txBody>
      </p:sp>
    </p:spTree>
    <p:extLst>
      <p:ext uri="{BB962C8B-B14F-4D97-AF65-F5344CB8AC3E}">
        <p14:creationId xmlns:p14="http://schemas.microsoft.com/office/powerpoint/2010/main" val="21525322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305B3F8-3BDB-C412-2346-2DC8261860C1}"/>
              </a:ext>
            </a:extLst>
          </p:cNvPr>
          <p:cNvSpPr>
            <a:spLocks noGrp="1"/>
          </p:cNvSpPr>
          <p:nvPr>
            <p:ph type="title"/>
          </p:nvPr>
        </p:nvSpPr>
        <p:spPr/>
        <p:txBody>
          <a:bodyPr/>
          <a:lstStyle/>
          <a:p>
            <a:r>
              <a:rPr lang="en-US" altLang="zh-TW" sz="4800" b="1" dirty="0">
                <a:latin typeface="Times New Roman" panose="02020603050405020304" pitchFamily="18" charset="0"/>
                <a:cs typeface="Times New Roman" panose="02020603050405020304" pitchFamily="18" charset="0"/>
              </a:rPr>
              <a:t>Technical Part</a:t>
            </a:r>
            <a:endParaRPr lang="zh-TW" altLang="en-US" dirty="0"/>
          </a:p>
        </p:txBody>
      </p:sp>
      <p:sp>
        <p:nvSpPr>
          <p:cNvPr id="3" name="內容版面配置區 2">
            <a:extLst>
              <a:ext uri="{FF2B5EF4-FFF2-40B4-BE49-F238E27FC236}">
                <a16:creationId xmlns:a16="http://schemas.microsoft.com/office/drawing/2014/main" id="{33C212BD-168B-4BC0-8E56-C1B5C50FFF1E}"/>
              </a:ext>
            </a:extLst>
          </p:cNvPr>
          <p:cNvSpPr>
            <a:spLocks noGrp="1"/>
          </p:cNvSpPr>
          <p:nvPr>
            <p:ph idx="1"/>
          </p:nvPr>
        </p:nvSpPr>
        <p:spPr/>
        <p:txBody>
          <a:bodyPr/>
          <a:lstStyle/>
          <a:p>
            <a:pPr>
              <a:buFont typeface="Wingdings" panose="05000000000000000000" pitchFamily="2" charset="2"/>
              <a:buChar char="Ø"/>
            </a:pPr>
            <a:r>
              <a:rPr lang="zh-TW" altLang="en-US" dirty="0"/>
              <a:t> </a:t>
            </a:r>
            <a:r>
              <a:rPr lang="en-US" altLang="zh-TW" sz="2400" b="1" dirty="0">
                <a:latin typeface="Times New Roman" panose="02020603050405020304" pitchFamily="18" charset="0"/>
                <a:cs typeface="Times New Roman" panose="02020603050405020304" pitchFamily="18" charset="0"/>
              </a:rPr>
              <a:t>Workflow</a:t>
            </a:r>
            <a:r>
              <a:rPr lang="zh-TW" altLang="en-US" dirty="0"/>
              <a:t> </a:t>
            </a:r>
          </a:p>
        </p:txBody>
      </p:sp>
      <p:sp>
        <p:nvSpPr>
          <p:cNvPr id="4" name="投影片編號版面配置區 3">
            <a:extLst>
              <a:ext uri="{FF2B5EF4-FFF2-40B4-BE49-F238E27FC236}">
                <a16:creationId xmlns:a16="http://schemas.microsoft.com/office/drawing/2014/main" id="{5AFC4181-24B2-91B0-5745-DDC5DB4A1BC1}"/>
              </a:ext>
            </a:extLst>
          </p:cNvPr>
          <p:cNvSpPr>
            <a:spLocks noGrp="1"/>
          </p:cNvSpPr>
          <p:nvPr>
            <p:ph type="sldNum" sz="quarter" idx="12"/>
          </p:nvPr>
        </p:nvSpPr>
        <p:spPr/>
        <p:txBody>
          <a:bodyPr/>
          <a:lstStyle/>
          <a:p>
            <a:fld id="{83BADD90-1659-401A-8CB6-1FAE4798FEBF}" type="slidenum">
              <a:rPr lang="zh-TW" altLang="en-US" smtClean="0"/>
              <a:t>11</a:t>
            </a:fld>
            <a:endParaRPr lang="zh-TW" altLang="en-US"/>
          </a:p>
        </p:txBody>
      </p:sp>
      <p:pic>
        <p:nvPicPr>
          <p:cNvPr id="6" name="圖片 5" descr="一張含有 文字, 螢幕擷取畫面, 字型, 圖表 的圖片&#10;&#10;自動產生的描述">
            <a:extLst>
              <a:ext uri="{FF2B5EF4-FFF2-40B4-BE49-F238E27FC236}">
                <a16:creationId xmlns:a16="http://schemas.microsoft.com/office/drawing/2014/main" id="{287CFEFA-2C6C-747F-7441-AC77B6B4EE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6320" y="2212186"/>
            <a:ext cx="10176163" cy="3967451"/>
          </a:xfrm>
          <a:prstGeom prst="rect">
            <a:avLst/>
          </a:prstGeom>
        </p:spPr>
      </p:pic>
    </p:spTree>
    <p:extLst>
      <p:ext uri="{BB962C8B-B14F-4D97-AF65-F5344CB8AC3E}">
        <p14:creationId xmlns:p14="http://schemas.microsoft.com/office/powerpoint/2010/main" val="35664880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CDF704C-A81D-577C-5517-7464ED581695}"/>
              </a:ext>
            </a:extLst>
          </p:cNvPr>
          <p:cNvSpPr>
            <a:spLocks noGrp="1"/>
          </p:cNvSpPr>
          <p:nvPr>
            <p:ph type="title"/>
          </p:nvPr>
        </p:nvSpPr>
        <p:spPr/>
        <p:txBody>
          <a:bodyPr/>
          <a:lstStyle/>
          <a:p>
            <a:r>
              <a:rPr lang="en-US" altLang="zh-TW" sz="4800" b="1" dirty="0">
                <a:latin typeface="Times New Roman" panose="02020603050405020304" pitchFamily="18" charset="0"/>
                <a:cs typeface="Times New Roman" panose="02020603050405020304" pitchFamily="18" charset="0"/>
              </a:rPr>
              <a:t>Technical Part</a:t>
            </a:r>
            <a:endParaRPr lang="zh-TW" altLang="en-US" dirty="0"/>
          </a:p>
        </p:txBody>
      </p:sp>
      <p:sp>
        <p:nvSpPr>
          <p:cNvPr id="3" name="內容版面配置區 2">
            <a:extLst>
              <a:ext uri="{FF2B5EF4-FFF2-40B4-BE49-F238E27FC236}">
                <a16:creationId xmlns:a16="http://schemas.microsoft.com/office/drawing/2014/main" id="{0109BEAE-D9B6-0326-66CB-17C624649867}"/>
              </a:ext>
            </a:extLst>
          </p:cNvPr>
          <p:cNvSpPr>
            <a:spLocks noGrp="1"/>
          </p:cNvSpPr>
          <p:nvPr>
            <p:ph idx="1"/>
          </p:nvPr>
        </p:nvSpPr>
        <p:spPr>
          <a:xfrm>
            <a:off x="1097280" y="1845734"/>
            <a:ext cx="10058400" cy="4523316"/>
          </a:xfrm>
        </p:spPr>
        <p:txBody>
          <a:bodyPr>
            <a:normAutofit/>
          </a:bodyPr>
          <a:lstStyle/>
          <a:p>
            <a:pPr>
              <a:buFont typeface="Wingdings" panose="05000000000000000000" pitchFamily="2" charset="2"/>
              <a:buChar char="Ø"/>
            </a:pPr>
            <a:r>
              <a:rPr lang="zh-TW" altLang="en-US" dirty="0"/>
              <a:t> </a:t>
            </a:r>
            <a:r>
              <a:rPr lang="en-US" altLang="zh-TW" sz="2400" b="1" dirty="0">
                <a:latin typeface="Times New Roman" panose="02020603050405020304" pitchFamily="18" charset="0"/>
                <a:cs typeface="Times New Roman" panose="02020603050405020304" pitchFamily="18" charset="0"/>
              </a:rPr>
              <a:t>Details of the technical solution</a:t>
            </a:r>
          </a:p>
          <a:p>
            <a:pPr marL="0" indent="0">
              <a:buNone/>
            </a:pPr>
            <a:endParaRPr lang="en-US" altLang="zh-TW" sz="2400" b="1" dirty="0">
              <a:latin typeface="Times New Roman" panose="02020603050405020304" pitchFamily="18" charset="0"/>
              <a:cs typeface="Times New Roman" panose="02020603050405020304" pitchFamily="18" charset="0"/>
            </a:endParaRPr>
          </a:p>
          <a:p>
            <a:pPr marL="0" indent="0">
              <a:buNone/>
            </a:pPr>
            <a:r>
              <a:rPr lang="en-US" altLang="zh-TW" b="1" dirty="0">
                <a:solidFill>
                  <a:schemeClr val="accent1"/>
                </a:solidFill>
                <a:latin typeface="Times New Roman" panose="02020603050405020304" pitchFamily="18" charset="0"/>
                <a:cs typeface="Times New Roman" panose="02020603050405020304" pitchFamily="18" charset="0"/>
              </a:rPr>
              <a:t>(1)</a:t>
            </a:r>
            <a:r>
              <a:rPr lang="zh-TW" altLang="en-US" b="1" dirty="0">
                <a:solidFill>
                  <a:schemeClr val="accent1"/>
                </a:solidFill>
                <a:latin typeface="Times New Roman" panose="02020603050405020304" pitchFamily="18" charset="0"/>
                <a:cs typeface="Times New Roman" panose="02020603050405020304" pitchFamily="18" charset="0"/>
              </a:rPr>
              <a:t> </a:t>
            </a:r>
            <a:r>
              <a:rPr lang="en-US" altLang="zh-TW" b="1" dirty="0">
                <a:latin typeface="Times New Roman" panose="02020603050405020304" pitchFamily="18" charset="0"/>
                <a:cs typeface="Times New Roman" panose="02020603050405020304" pitchFamily="18" charset="0"/>
              </a:rPr>
              <a:t>Dataset Selection and Preparation:</a:t>
            </a:r>
          </a:p>
          <a:p>
            <a:pPr marL="0" indent="0" algn="just">
              <a:lnSpc>
                <a:spcPct val="150000"/>
              </a:lnSpc>
              <a:buNone/>
            </a:pPr>
            <a:r>
              <a:rPr lang="en-US" altLang="zh-TW" dirty="0">
                <a:latin typeface="Times New Roman" panose="02020603050405020304" pitchFamily="18" charset="0"/>
                <a:cs typeface="Times New Roman" panose="02020603050405020304" pitchFamily="18" charset="0"/>
              </a:rPr>
              <a:t>We only </a:t>
            </a:r>
            <a:r>
              <a:rPr lang="en-US" altLang="zh-TW" b="1" dirty="0">
                <a:solidFill>
                  <a:srgbClr val="FF0000"/>
                </a:solidFill>
                <a:latin typeface="Times New Roman" panose="02020603050405020304" pitchFamily="18" charset="0"/>
                <a:cs typeface="Times New Roman" panose="02020603050405020304" pitchFamily="18" charset="0"/>
              </a:rPr>
              <a:t>selected hand X-ray images </a:t>
            </a:r>
            <a:r>
              <a:rPr lang="en-US" altLang="zh-TW" dirty="0">
                <a:latin typeface="Times New Roman" panose="02020603050405020304" pitchFamily="18" charset="0"/>
                <a:cs typeface="Times New Roman" panose="02020603050405020304" pitchFamily="18" charset="0"/>
              </a:rPr>
              <a:t>from the </a:t>
            </a:r>
            <a:r>
              <a:rPr lang="en-US" altLang="zh-TW" dirty="0" err="1">
                <a:latin typeface="Times New Roman" panose="02020603050405020304" pitchFamily="18" charset="0"/>
                <a:cs typeface="Times New Roman" panose="02020603050405020304" pitchFamily="18" charset="0"/>
              </a:rPr>
              <a:t>MedNIST</a:t>
            </a:r>
            <a:r>
              <a:rPr lang="en-US" altLang="zh-TW" dirty="0">
                <a:latin typeface="Times New Roman" panose="02020603050405020304" pitchFamily="18" charset="0"/>
                <a:cs typeface="Times New Roman" panose="02020603050405020304" pitchFamily="18" charset="0"/>
              </a:rPr>
              <a:t> dataset. There is </a:t>
            </a:r>
            <a:r>
              <a:rPr lang="en-US" altLang="zh-TW" b="1" dirty="0">
                <a:latin typeface="Times New Roman" panose="02020603050405020304" pitchFamily="18" charset="0"/>
                <a:cs typeface="Times New Roman" panose="02020603050405020304" pitchFamily="18" charset="0"/>
              </a:rPr>
              <a:t>total 9000 images </a:t>
            </a:r>
            <a:r>
              <a:rPr lang="en-US" altLang="zh-TW" dirty="0">
                <a:latin typeface="Times New Roman" panose="02020603050405020304" pitchFamily="18" charset="0"/>
                <a:cs typeface="Times New Roman" panose="02020603050405020304" pitchFamily="18" charset="0"/>
              </a:rPr>
              <a:t>inside. </a:t>
            </a:r>
            <a:r>
              <a:rPr lang="en-US" altLang="zh-TW" b="1" dirty="0">
                <a:latin typeface="Times New Roman" panose="02020603050405020304" pitchFamily="18" charset="0"/>
                <a:cs typeface="Times New Roman" panose="02020603050405020304" pitchFamily="18" charset="0"/>
              </a:rPr>
              <a:t>8000</a:t>
            </a:r>
            <a:r>
              <a:rPr lang="en-US" altLang="zh-TW" dirty="0">
                <a:latin typeface="Times New Roman" panose="02020603050405020304" pitchFamily="18" charset="0"/>
                <a:cs typeface="Times New Roman" panose="02020603050405020304" pitchFamily="18" charset="0"/>
              </a:rPr>
              <a:t> of the images were for </a:t>
            </a:r>
            <a:r>
              <a:rPr lang="en-US" altLang="zh-TW" b="1" dirty="0">
                <a:latin typeface="Times New Roman" panose="02020603050405020304" pitchFamily="18" charset="0"/>
                <a:cs typeface="Times New Roman" panose="02020603050405020304" pitchFamily="18" charset="0"/>
              </a:rPr>
              <a:t>training</a:t>
            </a:r>
            <a:r>
              <a:rPr lang="en-US" altLang="zh-TW" dirty="0">
                <a:latin typeface="Times New Roman" panose="02020603050405020304" pitchFamily="18" charset="0"/>
                <a:cs typeface="Times New Roman" panose="02020603050405020304" pitchFamily="18" charset="0"/>
              </a:rPr>
              <a:t> and </a:t>
            </a:r>
            <a:r>
              <a:rPr lang="en-US" altLang="zh-TW" b="1" dirty="0">
                <a:latin typeface="Times New Roman" panose="02020603050405020304" pitchFamily="18" charset="0"/>
                <a:cs typeface="Times New Roman" panose="02020603050405020304" pitchFamily="18" charset="0"/>
              </a:rPr>
              <a:t>1000</a:t>
            </a:r>
            <a:r>
              <a:rPr lang="en-US" altLang="zh-TW" dirty="0">
                <a:latin typeface="Times New Roman" panose="02020603050405020304" pitchFamily="18" charset="0"/>
                <a:cs typeface="Times New Roman" panose="02020603050405020304" pitchFamily="18" charset="0"/>
              </a:rPr>
              <a:t> of them were </a:t>
            </a:r>
            <a:r>
              <a:rPr lang="en-US" altLang="zh-TW" b="1" dirty="0">
                <a:latin typeface="Times New Roman" panose="02020603050405020304" pitchFamily="18" charset="0"/>
                <a:cs typeface="Times New Roman" panose="02020603050405020304" pitchFamily="18" charset="0"/>
              </a:rPr>
              <a:t>evaluation</a:t>
            </a:r>
            <a:r>
              <a:rPr lang="en-US" altLang="zh-TW" dirty="0">
                <a:latin typeface="Times New Roman" panose="02020603050405020304" pitchFamily="18" charset="0"/>
                <a:cs typeface="Times New Roman" panose="02020603050405020304" pitchFamily="18" charset="0"/>
              </a:rPr>
              <a:t> data. </a:t>
            </a:r>
          </a:p>
          <a:p>
            <a:pPr marL="0" indent="0">
              <a:buNone/>
            </a:pPr>
            <a:r>
              <a:rPr lang="en-US" altLang="zh-TW" b="1" dirty="0">
                <a:solidFill>
                  <a:schemeClr val="accent1"/>
                </a:solidFill>
                <a:latin typeface="Times New Roman" panose="02020603050405020304" pitchFamily="18" charset="0"/>
                <a:cs typeface="Times New Roman" panose="02020603050405020304" pitchFamily="18" charset="0"/>
              </a:rPr>
              <a:t>(2)</a:t>
            </a:r>
            <a:r>
              <a:rPr lang="zh-TW" altLang="en-US" b="1" dirty="0">
                <a:solidFill>
                  <a:schemeClr val="accent1"/>
                </a:solidFill>
                <a:latin typeface="Times New Roman" panose="02020603050405020304" pitchFamily="18" charset="0"/>
                <a:cs typeface="Times New Roman" panose="02020603050405020304" pitchFamily="18" charset="0"/>
              </a:rPr>
              <a:t> </a:t>
            </a:r>
            <a:r>
              <a:rPr lang="en-US" altLang="zh-TW" b="1" dirty="0">
                <a:latin typeface="Times New Roman" panose="02020603050405020304" pitchFamily="18" charset="0"/>
                <a:cs typeface="Times New Roman" panose="02020603050405020304" pitchFamily="18" charset="0"/>
              </a:rPr>
              <a:t>Model Training:</a:t>
            </a:r>
          </a:p>
          <a:p>
            <a:pPr marL="0" indent="0" algn="just">
              <a:lnSpc>
                <a:spcPct val="150000"/>
              </a:lnSpc>
              <a:buNone/>
            </a:pPr>
            <a:r>
              <a:rPr lang="en-US" altLang="zh-TW" dirty="0">
                <a:latin typeface="Times New Roman" panose="02020603050405020304" pitchFamily="18" charset="0"/>
                <a:cs typeface="Times New Roman" panose="02020603050405020304" pitchFamily="18" charset="0"/>
              </a:rPr>
              <a:t>We referred to the DDPMs model from the MONAI official website and </a:t>
            </a:r>
            <a:r>
              <a:rPr lang="en-US" altLang="zh-TW" b="1" dirty="0">
                <a:solidFill>
                  <a:srgbClr val="FF0000"/>
                </a:solidFill>
                <a:latin typeface="Times New Roman" panose="02020603050405020304" pitchFamily="18" charset="0"/>
                <a:cs typeface="Times New Roman" panose="02020603050405020304" pitchFamily="18" charset="0"/>
              </a:rPr>
              <a:t>trained a simple DDPMs model</a:t>
            </a:r>
            <a:r>
              <a:rPr lang="en-US" altLang="zh-TW" dirty="0">
                <a:latin typeface="Times New Roman" panose="02020603050405020304" pitchFamily="18" charset="0"/>
                <a:cs typeface="Times New Roman" panose="02020603050405020304" pitchFamily="18" charset="0"/>
              </a:rPr>
              <a:t> for </a:t>
            </a:r>
            <a:r>
              <a:rPr lang="en-US" altLang="zh-TW" b="1" dirty="0">
                <a:latin typeface="Times New Roman" panose="02020603050405020304" pitchFamily="18" charset="0"/>
                <a:cs typeface="Times New Roman" panose="02020603050405020304" pitchFamily="18" charset="0"/>
              </a:rPr>
              <a:t>20 epochs </a:t>
            </a:r>
            <a:r>
              <a:rPr lang="en-US" altLang="zh-TW" dirty="0">
                <a:latin typeface="Times New Roman" panose="02020603050405020304" pitchFamily="18" charset="0"/>
                <a:cs typeface="Times New Roman" panose="02020603050405020304" pitchFamily="18" charset="0"/>
              </a:rPr>
              <a:t>with the </a:t>
            </a:r>
            <a:r>
              <a:rPr lang="en-US" altLang="zh-TW" b="1" dirty="0">
                <a:latin typeface="Times New Roman" panose="02020603050405020304" pitchFamily="18" charset="0"/>
                <a:cs typeface="Times New Roman" panose="02020603050405020304" pitchFamily="18" charset="0"/>
              </a:rPr>
              <a:t>8000 training data</a:t>
            </a:r>
            <a:r>
              <a:rPr lang="en-US" altLang="zh-TW" dirty="0">
                <a:latin typeface="Times New Roman" panose="02020603050405020304" pitchFamily="18" charset="0"/>
                <a:cs typeface="Times New Roman" panose="02020603050405020304" pitchFamily="18" charset="0"/>
              </a:rPr>
              <a:t>.</a:t>
            </a: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zh-TW" altLang="en-US" sz="2400" b="1"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A01C5BF9-C870-736F-5003-2499D9C41F2F}"/>
              </a:ext>
            </a:extLst>
          </p:cNvPr>
          <p:cNvSpPr>
            <a:spLocks noGrp="1"/>
          </p:cNvSpPr>
          <p:nvPr>
            <p:ph type="sldNum" sz="quarter" idx="12"/>
          </p:nvPr>
        </p:nvSpPr>
        <p:spPr/>
        <p:txBody>
          <a:bodyPr/>
          <a:lstStyle/>
          <a:p>
            <a:fld id="{83BADD90-1659-401A-8CB6-1FAE4798FEBF}" type="slidenum">
              <a:rPr lang="zh-TW" altLang="en-US" smtClean="0"/>
              <a:t>12</a:t>
            </a:fld>
            <a:endParaRPr lang="zh-TW" altLang="en-US"/>
          </a:p>
        </p:txBody>
      </p:sp>
    </p:spTree>
    <p:extLst>
      <p:ext uri="{BB962C8B-B14F-4D97-AF65-F5344CB8AC3E}">
        <p14:creationId xmlns:p14="http://schemas.microsoft.com/office/powerpoint/2010/main" val="12533110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CDF704C-A81D-577C-5517-7464ED581695}"/>
              </a:ext>
            </a:extLst>
          </p:cNvPr>
          <p:cNvSpPr>
            <a:spLocks noGrp="1"/>
          </p:cNvSpPr>
          <p:nvPr>
            <p:ph type="title"/>
          </p:nvPr>
        </p:nvSpPr>
        <p:spPr/>
        <p:txBody>
          <a:bodyPr/>
          <a:lstStyle/>
          <a:p>
            <a:r>
              <a:rPr lang="en-US" altLang="zh-TW" sz="4800" b="1" dirty="0">
                <a:latin typeface="Times New Roman" panose="02020603050405020304" pitchFamily="18" charset="0"/>
                <a:cs typeface="Times New Roman" panose="02020603050405020304" pitchFamily="18" charset="0"/>
              </a:rPr>
              <a:t>Technical Part</a:t>
            </a:r>
            <a:endParaRPr lang="zh-TW" altLang="en-US" dirty="0"/>
          </a:p>
        </p:txBody>
      </p:sp>
      <p:sp>
        <p:nvSpPr>
          <p:cNvPr id="3" name="內容版面配置區 2">
            <a:extLst>
              <a:ext uri="{FF2B5EF4-FFF2-40B4-BE49-F238E27FC236}">
                <a16:creationId xmlns:a16="http://schemas.microsoft.com/office/drawing/2014/main" id="{0109BEAE-D9B6-0326-66CB-17C624649867}"/>
              </a:ext>
            </a:extLst>
          </p:cNvPr>
          <p:cNvSpPr>
            <a:spLocks noGrp="1"/>
          </p:cNvSpPr>
          <p:nvPr>
            <p:ph idx="1"/>
          </p:nvPr>
        </p:nvSpPr>
        <p:spPr>
          <a:xfrm>
            <a:off x="1097280" y="1845734"/>
            <a:ext cx="10058400" cy="4313766"/>
          </a:xfrm>
        </p:spPr>
        <p:txBody>
          <a:bodyPr>
            <a:normAutofit/>
          </a:bodyPr>
          <a:lstStyle/>
          <a:p>
            <a:pPr>
              <a:buFont typeface="Wingdings" panose="05000000000000000000" pitchFamily="2" charset="2"/>
              <a:buChar char="Ø"/>
            </a:pPr>
            <a:r>
              <a:rPr lang="zh-TW" altLang="en-US" dirty="0"/>
              <a:t> </a:t>
            </a:r>
            <a:r>
              <a:rPr lang="en-US" altLang="zh-TW" sz="2400" b="1" dirty="0">
                <a:latin typeface="Times New Roman" panose="02020603050405020304" pitchFamily="18" charset="0"/>
                <a:cs typeface="Times New Roman" panose="02020603050405020304" pitchFamily="18" charset="0"/>
              </a:rPr>
              <a:t>Details of the technical solution</a:t>
            </a:r>
          </a:p>
          <a:p>
            <a:pPr marL="0" indent="0">
              <a:buNone/>
            </a:pPr>
            <a:endParaRPr lang="en-US" altLang="zh-TW" sz="2400" b="1" dirty="0">
              <a:latin typeface="Times New Roman" panose="02020603050405020304" pitchFamily="18" charset="0"/>
              <a:cs typeface="Times New Roman" panose="02020603050405020304" pitchFamily="18" charset="0"/>
            </a:endParaRPr>
          </a:p>
          <a:p>
            <a:pPr marL="0" indent="0">
              <a:buNone/>
            </a:pPr>
            <a:r>
              <a:rPr lang="en-US" altLang="zh-TW" b="1" dirty="0">
                <a:solidFill>
                  <a:schemeClr val="accent1"/>
                </a:solidFill>
                <a:latin typeface="Times New Roman" panose="02020603050405020304" pitchFamily="18" charset="0"/>
                <a:cs typeface="Times New Roman" panose="02020603050405020304" pitchFamily="18" charset="0"/>
              </a:rPr>
              <a:t>(3)</a:t>
            </a:r>
            <a:r>
              <a:rPr lang="zh-TW" altLang="en-US" b="1" dirty="0">
                <a:solidFill>
                  <a:schemeClr val="accent1"/>
                </a:solidFill>
                <a:latin typeface="Times New Roman" panose="02020603050405020304" pitchFamily="18" charset="0"/>
                <a:cs typeface="Times New Roman" panose="02020603050405020304" pitchFamily="18" charset="0"/>
              </a:rPr>
              <a:t> </a:t>
            </a:r>
            <a:r>
              <a:rPr lang="en-US" altLang="zh-TW" b="1" dirty="0">
                <a:latin typeface="Times New Roman" panose="02020603050405020304" pitchFamily="18" charset="0"/>
                <a:cs typeface="Times New Roman" panose="02020603050405020304" pitchFamily="18" charset="0"/>
              </a:rPr>
              <a:t>Noise Augmentation:</a:t>
            </a:r>
          </a:p>
          <a:p>
            <a:pPr marL="0" indent="0" algn="just">
              <a:lnSpc>
                <a:spcPct val="150000"/>
              </a:lnSpc>
              <a:buNone/>
            </a:pPr>
            <a:r>
              <a:rPr lang="en-US" altLang="zh-TW" dirty="0">
                <a:latin typeface="Times New Roman" panose="02020603050405020304" pitchFamily="18" charset="0"/>
                <a:cs typeface="Times New Roman" panose="02020603050405020304" pitchFamily="18" charset="0"/>
              </a:rPr>
              <a:t>Add two types of noise—</a:t>
            </a:r>
            <a:r>
              <a:rPr lang="en-US" altLang="zh-TW" b="1" dirty="0">
                <a:solidFill>
                  <a:srgbClr val="FF0000"/>
                </a:solidFill>
                <a:latin typeface="Times New Roman" panose="02020603050405020304" pitchFamily="18" charset="0"/>
                <a:cs typeface="Times New Roman" panose="02020603050405020304" pitchFamily="18" charset="0"/>
              </a:rPr>
              <a:t>Gaussian</a:t>
            </a:r>
            <a:r>
              <a:rPr lang="en-US" altLang="zh-TW" dirty="0">
                <a:latin typeface="Times New Roman" panose="02020603050405020304" pitchFamily="18" charset="0"/>
                <a:cs typeface="Times New Roman" panose="02020603050405020304" pitchFamily="18" charset="0"/>
              </a:rPr>
              <a:t> and </a:t>
            </a:r>
            <a:r>
              <a:rPr lang="en-US" altLang="zh-TW" b="1" dirty="0">
                <a:solidFill>
                  <a:srgbClr val="FF0000"/>
                </a:solidFill>
                <a:latin typeface="Times New Roman" panose="02020603050405020304" pitchFamily="18" charset="0"/>
                <a:cs typeface="Times New Roman" panose="02020603050405020304" pitchFamily="18" charset="0"/>
              </a:rPr>
              <a:t>salt-and-pepper</a:t>
            </a:r>
            <a:r>
              <a:rPr lang="en-US" altLang="zh-TW" dirty="0">
                <a:latin typeface="Times New Roman" panose="02020603050405020304" pitchFamily="18" charset="0"/>
                <a:cs typeface="Times New Roman" panose="02020603050405020304" pitchFamily="18" charset="0"/>
              </a:rPr>
              <a:t>—to the </a:t>
            </a:r>
            <a:r>
              <a:rPr lang="en-US" altLang="zh-TW" b="1" dirty="0">
                <a:latin typeface="Times New Roman" panose="02020603050405020304" pitchFamily="18" charset="0"/>
                <a:cs typeface="Times New Roman" panose="02020603050405020304" pitchFamily="18" charset="0"/>
              </a:rPr>
              <a:t>1000 evaluation data </a:t>
            </a:r>
            <a:r>
              <a:rPr lang="en-US" altLang="zh-TW" dirty="0">
                <a:latin typeface="Times New Roman" panose="02020603050405020304" pitchFamily="18" charset="0"/>
                <a:cs typeface="Times New Roman" panose="02020603050405020304" pitchFamily="18" charset="0"/>
              </a:rPr>
              <a:t>for afterward denoising process.</a:t>
            </a:r>
          </a:p>
          <a:p>
            <a:pPr marL="0" indent="0">
              <a:buNone/>
            </a:pPr>
            <a:r>
              <a:rPr lang="en-US" altLang="zh-TW" b="1" dirty="0">
                <a:solidFill>
                  <a:schemeClr val="accent1"/>
                </a:solidFill>
                <a:latin typeface="Times New Roman" panose="02020603050405020304" pitchFamily="18" charset="0"/>
                <a:cs typeface="Times New Roman" panose="02020603050405020304" pitchFamily="18" charset="0"/>
              </a:rPr>
              <a:t>(4)</a:t>
            </a:r>
            <a:r>
              <a:rPr lang="zh-TW" altLang="en-US" b="1" dirty="0">
                <a:solidFill>
                  <a:schemeClr val="accent1"/>
                </a:solidFill>
                <a:latin typeface="Times New Roman" panose="02020603050405020304" pitchFamily="18" charset="0"/>
                <a:cs typeface="Times New Roman" panose="02020603050405020304" pitchFamily="18" charset="0"/>
              </a:rPr>
              <a:t> </a:t>
            </a:r>
            <a:r>
              <a:rPr lang="en-US" altLang="zh-TW" b="1" dirty="0">
                <a:latin typeface="Times New Roman" panose="02020603050405020304" pitchFamily="18" charset="0"/>
                <a:cs typeface="Times New Roman" panose="02020603050405020304" pitchFamily="18" charset="0"/>
              </a:rPr>
              <a:t>Image Generation:</a:t>
            </a:r>
          </a:p>
          <a:p>
            <a:pPr marL="0" indent="0" algn="just">
              <a:lnSpc>
                <a:spcPct val="150000"/>
              </a:lnSpc>
              <a:buNone/>
            </a:pPr>
            <a:r>
              <a:rPr lang="en-US" altLang="zh-TW" dirty="0">
                <a:latin typeface="Times New Roman" panose="02020603050405020304" pitchFamily="18" charset="0"/>
                <a:cs typeface="Times New Roman" panose="02020603050405020304" pitchFamily="18" charset="0"/>
              </a:rPr>
              <a:t>Use the </a:t>
            </a:r>
            <a:r>
              <a:rPr lang="en-US" altLang="zh-TW" b="1" dirty="0">
                <a:solidFill>
                  <a:srgbClr val="FF0000"/>
                </a:solidFill>
                <a:latin typeface="Times New Roman" panose="02020603050405020304" pitchFamily="18" charset="0"/>
                <a:cs typeface="Times New Roman" panose="02020603050405020304" pitchFamily="18" charset="0"/>
              </a:rPr>
              <a:t>1000 noised data as the input into the DDPMs instead of random noise</a:t>
            </a:r>
            <a:r>
              <a:rPr lang="en-US" altLang="zh-TW" dirty="0">
                <a:latin typeface="Times New Roman" panose="02020603050405020304" pitchFamily="18" charset="0"/>
                <a:cs typeface="Times New Roman" panose="02020603050405020304" pitchFamily="18" charset="0"/>
              </a:rPr>
              <a:t>. And then let the model </a:t>
            </a:r>
            <a:r>
              <a:rPr lang="en-US" altLang="zh-TW" b="1" dirty="0">
                <a:latin typeface="Times New Roman" panose="02020603050405020304" pitchFamily="18" charset="0"/>
                <a:cs typeface="Times New Roman" panose="02020603050405020304" pitchFamily="18" charset="0"/>
              </a:rPr>
              <a:t>iterate through 100 timesteps</a:t>
            </a:r>
            <a:r>
              <a:rPr lang="en-US" altLang="zh-TW" dirty="0">
                <a:latin typeface="Times New Roman" panose="02020603050405020304" pitchFamily="18" charset="0"/>
                <a:cs typeface="Times New Roman" panose="02020603050405020304" pitchFamily="18" charset="0"/>
              </a:rPr>
              <a:t>, generating 1000 denoised image each time.</a:t>
            </a: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zh-TW" altLang="en-US" sz="2400" b="1"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A01C5BF9-C870-736F-5003-2499D9C41F2F}"/>
              </a:ext>
            </a:extLst>
          </p:cNvPr>
          <p:cNvSpPr>
            <a:spLocks noGrp="1"/>
          </p:cNvSpPr>
          <p:nvPr>
            <p:ph type="sldNum" sz="quarter" idx="12"/>
          </p:nvPr>
        </p:nvSpPr>
        <p:spPr/>
        <p:txBody>
          <a:bodyPr/>
          <a:lstStyle/>
          <a:p>
            <a:fld id="{83BADD90-1659-401A-8CB6-1FAE4798FEBF}" type="slidenum">
              <a:rPr lang="zh-TW" altLang="en-US" smtClean="0"/>
              <a:t>13</a:t>
            </a:fld>
            <a:endParaRPr lang="zh-TW" altLang="en-US"/>
          </a:p>
        </p:txBody>
      </p:sp>
    </p:spTree>
    <p:extLst>
      <p:ext uri="{BB962C8B-B14F-4D97-AF65-F5344CB8AC3E}">
        <p14:creationId xmlns:p14="http://schemas.microsoft.com/office/powerpoint/2010/main" val="12584966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CDF704C-A81D-577C-5517-7464ED581695}"/>
              </a:ext>
            </a:extLst>
          </p:cNvPr>
          <p:cNvSpPr>
            <a:spLocks noGrp="1"/>
          </p:cNvSpPr>
          <p:nvPr>
            <p:ph type="title"/>
          </p:nvPr>
        </p:nvSpPr>
        <p:spPr/>
        <p:txBody>
          <a:bodyPr/>
          <a:lstStyle/>
          <a:p>
            <a:r>
              <a:rPr lang="en-US" altLang="zh-TW" sz="4800" b="1" dirty="0">
                <a:latin typeface="Times New Roman" panose="02020603050405020304" pitchFamily="18" charset="0"/>
                <a:cs typeface="Times New Roman" panose="02020603050405020304" pitchFamily="18" charset="0"/>
              </a:rPr>
              <a:t>Technical Part</a:t>
            </a:r>
            <a:endParaRPr lang="zh-TW" altLang="en-US" dirty="0"/>
          </a:p>
        </p:txBody>
      </p:sp>
      <p:sp>
        <p:nvSpPr>
          <p:cNvPr id="3" name="內容版面配置區 2">
            <a:extLst>
              <a:ext uri="{FF2B5EF4-FFF2-40B4-BE49-F238E27FC236}">
                <a16:creationId xmlns:a16="http://schemas.microsoft.com/office/drawing/2014/main" id="{0109BEAE-D9B6-0326-66CB-17C624649867}"/>
              </a:ext>
            </a:extLst>
          </p:cNvPr>
          <p:cNvSpPr>
            <a:spLocks noGrp="1"/>
          </p:cNvSpPr>
          <p:nvPr>
            <p:ph idx="1"/>
          </p:nvPr>
        </p:nvSpPr>
        <p:spPr>
          <a:xfrm>
            <a:off x="1097280" y="1845734"/>
            <a:ext cx="10058400" cy="4313766"/>
          </a:xfrm>
        </p:spPr>
        <p:txBody>
          <a:bodyPr>
            <a:normAutofit/>
          </a:bodyPr>
          <a:lstStyle/>
          <a:p>
            <a:pPr>
              <a:buFont typeface="Wingdings" panose="05000000000000000000" pitchFamily="2" charset="2"/>
              <a:buChar char="Ø"/>
            </a:pPr>
            <a:r>
              <a:rPr lang="zh-TW" altLang="en-US" dirty="0"/>
              <a:t> </a:t>
            </a:r>
            <a:r>
              <a:rPr lang="en-US" altLang="zh-TW" sz="2400" b="1" dirty="0">
                <a:latin typeface="Times New Roman" panose="02020603050405020304" pitchFamily="18" charset="0"/>
                <a:cs typeface="Times New Roman" panose="02020603050405020304" pitchFamily="18" charset="0"/>
              </a:rPr>
              <a:t>Details of the technical solution</a:t>
            </a:r>
          </a:p>
          <a:p>
            <a:pPr marL="0" indent="0">
              <a:buNone/>
            </a:pPr>
            <a:endParaRPr lang="en-US" altLang="zh-TW" sz="2400" b="1" dirty="0">
              <a:latin typeface="Times New Roman" panose="02020603050405020304" pitchFamily="18" charset="0"/>
              <a:cs typeface="Times New Roman" panose="02020603050405020304" pitchFamily="18" charset="0"/>
            </a:endParaRPr>
          </a:p>
          <a:p>
            <a:pPr marL="0" indent="0">
              <a:buNone/>
            </a:pPr>
            <a:r>
              <a:rPr lang="en-US" altLang="zh-TW" b="1" dirty="0">
                <a:solidFill>
                  <a:schemeClr val="accent1"/>
                </a:solidFill>
                <a:latin typeface="Times New Roman" panose="02020603050405020304" pitchFamily="18" charset="0"/>
                <a:cs typeface="Times New Roman" panose="02020603050405020304" pitchFamily="18" charset="0"/>
              </a:rPr>
              <a:t>(5)</a:t>
            </a:r>
            <a:r>
              <a:rPr lang="zh-TW" altLang="en-US" b="1" dirty="0">
                <a:solidFill>
                  <a:schemeClr val="accent1"/>
                </a:solidFill>
                <a:latin typeface="Times New Roman" panose="02020603050405020304" pitchFamily="18" charset="0"/>
                <a:cs typeface="Times New Roman" panose="02020603050405020304" pitchFamily="18" charset="0"/>
              </a:rPr>
              <a:t> </a:t>
            </a:r>
            <a:r>
              <a:rPr lang="en-US" altLang="zh-TW" b="1" dirty="0">
                <a:latin typeface="Times New Roman" panose="02020603050405020304" pitchFamily="18" charset="0"/>
                <a:cs typeface="Times New Roman" panose="02020603050405020304" pitchFamily="18" charset="0"/>
              </a:rPr>
              <a:t>Evaluation Metrics:</a:t>
            </a:r>
          </a:p>
          <a:p>
            <a:pPr marL="0" indent="0" algn="just">
              <a:lnSpc>
                <a:spcPct val="150000"/>
              </a:lnSpc>
              <a:buNone/>
            </a:pPr>
            <a:r>
              <a:rPr lang="en-US" altLang="zh-TW" dirty="0">
                <a:latin typeface="Times New Roman" panose="02020603050405020304" pitchFamily="18" charset="0"/>
                <a:cs typeface="Times New Roman" panose="02020603050405020304" pitchFamily="18" charset="0"/>
              </a:rPr>
              <a:t>We operated the </a:t>
            </a:r>
            <a:r>
              <a:rPr lang="en-US" altLang="zh-TW" b="1" dirty="0">
                <a:latin typeface="Times New Roman" panose="02020603050405020304" pitchFamily="18" charset="0"/>
                <a:cs typeface="Times New Roman" panose="02020603050405020304" pitchFamily="18" charset="0"/>
              </a:rPr>
              <a:t>similarity assessment </a:t>
            </a:r>
            <a:r>
              <a:rPr lang="en-US" altLang="zh-TW" dirty="0">
                <a:latin typeface="Times New Roman" panose="02020603050405020304" pitchFamily="18" charset="0"/>
                <a:cs typeface="Times New Roman" panose="02020603050405020304" pitchFamily="18" charset="0"/>
              </a:rPr>
              <a:t>by </a:t>
            </a:r>
            <a:r>
              <a:rPr lang="en-US" altLang="zh-TW" b="1" dirty="0">
                <a:solidFill>
                  <a:srgbClr val="FF0000"/>
                </a:solidFill>
                <a:latin typeface="Times New Roman" panose="02020603050405020304" pitchFamily="18" charset="0"/>
                <a:cs typeface="Times New Roman" panose="02020603050405020304" pitchFamily="18" charset="0"/>
              </a:rPr>
              <a:t>SSIM</a:t>
            </a:r>
            <a:r>
              <a:rPr lang="en-US" altLang="zh-TW" dirty="0">
                <a:latin typeface="Times New Roman" panose="02020603050405020304" pitchFamily="18" charset="0"/>
                <a:cs typeface="Times New Roman" panose="02020603050405020304" pitchFamily="18" charset="0"/>
              </a:rPr>
              <a:t> and </a:t>
            </a:r>
            <a:r>
              <a:rPr lang="en-US" altLang="zh-TW" b="1" dirty="0">
                <a:solidFill>
                  <a:srgbClr val="FF0000"/>
                </a:solidFill>
                <a:latin typeface="Times New Roman" panose="02020603050405020304" pitchFamily="18" charset="0"/>
                <a:cs typeface="Times New Roman" panose="02020603050405020304" pitchFamily="18" charset="0"/>
              </a:rPr>
              <a:t>PSNR</a:t>
            </a:r>
            <a:r>
              <a:rPr lang="en-US" altLang="zh-TW" dirty="0">
                <a:latin typeface="Times New Roman" panose="02020603050405020304" pitchFamily="18" charset="0"/>
                <a:cs typeface="Times New Roman" panose="02020603050405020304" pitchFamily="18" charset="0"/>
              </a:rPr>
              <a:t>. And we recorded the SSIM and PSNR every timestep to kept track of the similarity during the whole iteration. Lastly, plot out the results and print a sample for each timesteps for direct inspection of the denoise performance.</a:t>
            </a: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zh-TW" altLang="en-US" sz="2400" b="1"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A01C5BF9-C870-736F-5003-2499D9C41F2F}"/>
              </a:ext>
            </a:extLst>
          </p:cNvPr>
          <p:cNvSpPr>
            <a:spLocks noGrp="1"/>
          </p:cNvSpPr>
          <p:nvPr>
            <p:ph type="sldNum" sz="quarter" idx="12"/>
          </p:nvPr>
        </p:nvSpPr>
        <p:spPr/>
        <p:txBody>
          <a:bodyPr/>
          <a:lstStyle/>
          <a:p>
            <a:fld id="{83BADD90-1659-401A-8CB6-1FAE4798FEBF}" type="slidenum">
              <a:rPr lang="zh-TW" altLang="en-US" smtClean="0"/>
              <a:t>14</a:t>
            </a:fld>
            <a:endParaRPr lang="zh-TW" altLang="en-US"/>
          </a:p>
        </p:txBody>
      </p:sp>
    </p:spTree>
    <p:extLst>
      <p:ext uri="{BB962C8B-B14F-4D97-AF65-F5344CB8AC3E}">
        <p14:creationId xmlns:p14="http://schemas.microsoft.com/office/powerpoint/2010/main" val="8452455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79F39CC1-26B2-D1D3-CD4A-81E0CE7136E9}"/>
              </a:ext>
            </a:extLst>
          </p:cNvPr>
          <p:cNvSpPr>
            <a:spLocks noGrp="1"/>
          </p:cNvSpPr>
          <p:nvPr>
            <p:ph idx="1"/>
          </p:nvPr>
        </p:nvSpPr>
        <p:spPr>
          <a:xfrm>
            <a:off x="1097280" y="1845734"/>
            <a:ext cx="10058400" cy="4023360"/>
          </a:xfrm>
        </p:spPr>
        <p:txBody>
          <a:bodyPr/>
          <a:lstStyle/>
          <a:p>
            <a:pPr>
              <a:buFont typeface="Wingdings" panose="05000000000000000000" pitchFamily="2" charset="2"/>
              <a:buChar char="Ø"/>
            </a:pPr>
            <a:r>
              <a:rPr lang="zh-TW" altLang="en-US" dirty="0"/>
              <a:t> </a:t>
            </a:r>
            <a:r>
              <a:rPr lang="en-US" altLang="zh-TW" sz="2400" b="1" dirty="0">
                <a:latin typeface="Times New Roman" panose="02020603050405020304" pitchFamily="18" charset="0"/>
                <a:cs typeface="Times New Roman" panose="02020603050405020304" pitchFamily="18" charset="0"/>
              </a:rPr>
              <a:t>Noisy</a:t>
            </a:r>
            <a:endParaRPr lang="zh-TW" altLang="en-US" sz="2400" b="1" dirty="0">
              <a:latin typeface="Times New Roman" panose="02020603050405020304" pitchFamily="18" charset="0"/>
              <a:cs typeface="Times New Roman" panose="02020603050405020304" pitchFamily="18" charset="0"/>
            </a:endParaRPr>
          </a:p>
        </p:txBody>
      </p:sp>
      <p:sp>
        <p:nvSpPr>
          <p:cNvPr id="2" name="標題 1">
            <a:extLst>
              <a:ext uri="{FF2B5EF4-FFF2-40B4-BE49-F238E27FC236}">
                <a16:creationId xmlns:a16="http://schemas.microsoft.com/office/drawing/2014/main" id="{7404A615-9A6F-8FD5-FE09-46C27EBC5406}"/>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Experiments</a:t>
            </a:r>
            <a:endParaRPr lang="zh-TW" altLang="en-US" b="1"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BBC9401-DE94-9D9B-624B-0616EFC70D11}"/>
              </a:ext>
            </a:extLst>
          </p:cNvPr>
          <p:cNvSpPr>
            <a:spLocks noGrp="1"/>
          </p:cNvSpPr>
          <p:nvPr>
            <p:ph type="sldNum" sz="quarter" idx="12"/>
          </p:nvPr>
        </p:nvSpPr>
        <p:spPr/>
        <p:txBody>
          <a:bodyPr/>
          <a:lstStyle/>
          <a:p>
            <a:fld id="{83BADD90-1659-401A-8CB6-1FAE4798FEBF}" type="slidenum">
              <a:rPr lang="zh-TW" altLang="en-US" smtClean="0"/>
              <a:t>15</a:t>
            </a:fld>
            <a:endParaRPr lang="zh-TW" altLang="en-US"/>
          </a:p>
        </p:txBody>
      </p:sp>
      <p:pic>
        <p:nvPicPr>
          <p:cNvPr id="6" name="圖片 5">
            <a:extLst>
              <a:ext uri="{FF2B5EF4-FFF2-40B4-BE49-F238E27FC236}">
                <a16:creationId xmlns:a16="http://schemas.microsoft.com/office/drawing/2014/main" id="{550A61B2-CF0C-5032-F076-A7E7A3673E61}"/>
              </a:ext>
            </a:extLst>
          </p:cNvPr>
          <p:cNvPicPr>
            <a:picLocks noChangeAspect="1"/>
          </p:cNvPicPr>
          <p:nvPr/>
        </p:nvPicPr>
        <p:blipFill>
          <a:blip r:embed="rId2" cstate="print">
            <a:extLst>
              <a:ext uri="{28A0092B-C50C-407E-A947-70E740481C1C}">
                <a14:useLocalDpi xmlns:a14="http://schemas.microsoft.com/office/drawing/2010/main" val="0"/>
              </a:ext>
            </a:extLst>
          </a:blip>
          <a:srcRect l="22226" t="11920" r="19779" b="11047"/>
          <a:stretch/>
        </p:blipFill>
        <p:spPr bwMode="auto">
          <a:xfrm>
            <a:off x="1392747" y="2963446"/>
            <a:ext cx="2616200" cy="2608433"/>
          </a:xfrm>
          <a:prstGeom prst="rect">
            <a:avLst/>
          </a:prstGeom>
          <a:noFill/>
          <a:ln>
            <a:noFill/>
          </a:ln>
        </p:spPr>
      </p:pic>
      <p:pic>
        <p:nvPicPr>
          <p:cNvPr id="7" name="圖片 6">
            <a:extLst>
              <a:ext uri="{FF2B5EF4-FFF2-40B4-BE49-F238E27FC236}">
                <a16:creationId xmlns:a16="http://schemas.microsoft.com/office/drawing/2014/main" id="{59288D6A-9C7C-838F-53B5-B1BAC1DDA495}"/>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5152" t="3547" r="15352" b="8647"/>
          <a:stretch/>
        </p:blipFill>
        <p:spPr bwMode="auto">
          <a:xfrm>
            <a:off x="4748481" y="2963446"/>
            <a:ext cx="2755998" cy="2608433"/>
          </a:xfrm>
          <a:prstGeom prst="rect">
            <a:avLst/>
          </a:prstGeom>
          <a:noFill/>
          <a:ln>
            <a:noFill/>
          </a:ln>
          <a:extLst>
            <a:ext uri="{53640926-AAD7-44D8-BBD7-CCE9431645EC}">
              <a14:shadowObscured xmlns:a14="http://schemas.microsoft.com/office/drawing/2010/main"/>
            </a:ext>
          </a:extLst>
        </p:spPr>
      </p:pic>
      <p:pic>
        <p:nvPicPr>
          <p:cNvPr id="8" name="圖片 7">
            <a:extLst>
              <a:ext uri="{FF2B5EF4-FFF2-40B4-BE49-F238E27FC236}">
                <a16:creationId xmlns:a16="http://schemas.microsoft.com/office/drawing/2014/main" id="{169C5271-E653-4D82-6183-11BF41C7C34D}"/>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20293" t="12409" r="16683" b="8698"/>
          <a:stretch/>
        </p:blipFill>
        <p:spPr bwMode="auto">
          <a:xfrm>
            <a:off x="8244013" y="2963446"/>
            <a:ext cx="2865945" cy="2692286"/>
          </a:xfrm>
          <a:prstGeom prst="rect">
            <a:avLst/>
          </a:prstGeom>
          <a:noFill/>
          <a:ln>
            <a:noFill/>
          </a:ln>
          <a:extLst>
            <a:ext uri="{53640926-AAD7-44D8-BBD7-CCE9431645EC}">
              <a14:shadowObscured xmlns:a14="http://schemas.microsoft.com/office/drawing/2010/main"/>
            </a:ext>
          </a:extLst>
        </p:spPr>
      </p:pic>
      <p:sp>
        <p:nvSpPr>
          <p:cNvPr id="9" name="文字方塊 8">
            <a:extLst>
              <a:ext uri="{FF2B5EF4-FFF2-40B4-BE49-F238E27FC236}">
                <a16:creationId xmlns:a16="http://schemas.microsoft.com/office/drawing/2014/main" id="{04687280-4432-A2E3-158A-67186788DB0A}"/>
              </a:ext>
            </a:extLst>
          </p:cNvPr>
          <p:cNvSpPr txBox="1"/>
          <p:nvPr/>
        </p:nvSpPr>
        <p:spPr>
          <a:xfrm>
            <a:off x="2167447" y="2419350"/>
            <a:ext cx="1066800" cy="400110"/>
          </a:xfrm>
          <a:prstGeom prst="rect">
            <a:avLst/>
          </a:prstGeom>
          <a:noFill/>
        </p:spPr>
        <p:txBody>
          <a:bodyPr wrap="square" rtlCol="0">
            <a:spAutoFit/>
          </a:bodyPr>
          <a:lstStyle/>
          <a:p>
            <a:r>
              <a:rPr lang="en-US" altLang="zh-TW" sz="2000" dirty="0">
                <a:solidFill>
                  <a:schemeClr val="tx1">
                    <a:lumMod val="75000"/>
                    <a:lumOff val="25000"/>
                  </a:schemeClr>
                </a:solidFill>
                <a:latin typeface="Times New Roman" panose="02020603050405020304" pitchFamily="18" charset="0"/>
                <a:cs typeface="Times New Roman" panose="02020603050405020304" pitchFamily="18" charset="0"/>
              </a:rPr>
              <a:t>Original</a:t>
            </a:r>
            <a:endParaRPr lang="zh-TW" altLang="en-US" sz="20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7C67E765-05E3-BE1C-0E8F-6E4EB6912F21}"/>
              </a:ext>
            </a:extLst>
          </p:cNvPr>
          <p:cNvSpPr txBox="1"/>
          <p:nvPr/>
        </p:nvSpPr>
        <p:spPr>
          <a:xfrm>
            <a:off x="5295735" y="2419350"/>
            <a:ext cx="1791030" cy="400110"/>
          </a:xfrm>
          <a:prstGeom prst="rect">
            <a:avLst/>
          </a:prstGeom>
          <a:noFill/>
        </p:spPr>
        <p:txBody>
          <a:bodyPr wrap="square" rtlCol="0">
            <a:spAutoFit/>
          </a:bodyPr>
          <a:lstStyle/>
          <a:p>
            <a:r>
              <a:rPr lang="en-US" altLang="zh-TW" sz="2000" dirty="0">
                <a:solidFill>
                  <a:schemeClr val="tx1">
                    <a:lumMod val="75000"/>
                    <a:lumOff val="25000"/>
                  </a:schemeClr>
                </a:solidFill>
                <a:effectLst/>
                <a:latin typeface="Times New Roman" panose="02020603050405020304" pitchFamily="18" charset="0"/>
                <a:ea typeface="新細明體" panose="02020500000000000000" pitchFamily="18" charset="-120"/>
                <a:cs typeface="Times New Roman" panose="02020603050405020304" pitchFamily="18" charset="0"/>
              </a:rPr>
              <a:t>Gaussian noise</a:t>
            </a:r>
            <a:endParaRPr lang="zh-TW" altLang="en-US" sz="20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11" name="文字方塊 10">
            <a:extLst>
              <a:ext uri="{FF2B5EF4-FFF2-40B4-BE49-F238E27FC236}">
                <a16:creationId xmlns:a16="http://schemas.microsoft.com/office/drawing/2014/main" id="{C3BD06F6-7080-7C4A-ED8C-18B2937411E2}"/>
              </a:ext>
            </a:extLst>
          </p:cNvPr>
          <p:cNvSpPr txBox="1"/>
          <p:nvPr/>
        </p:nvSpPr>
        <p:spPr>
          <a:xfrm>
            <a:off x="8973437" y="2419350"/>
            <a:ext cx="1407095" cy="400110"/>
          </a:xfrm>
          <a:prstGeom prst="rect">
            <a:avLst/>
          </a:prstGeom>
          <a:noFill/>
        </p:spPr>
        <p:txBody>
          <a:bodyPr wrap="square" rtlCol="0">
            <a:spAutoFit/>
          </a:bodyPr>
          <a:lstStyle/>
          <a:p>
            <a:r>
              <a:rPr lang="en-US" altLang="zh-TW" sz="2000" dirty="0">
                <a:solidFill>
                  <a:schemeClr val="tx1">
                    <a:lumMod val="75000"/>
                    <a:lumOff val="25000"/>
                  </a:schemeClr>
                </a:solidFill>
                <a:effectLst/>
                <a:latin typeface="Times New Roman" panose="02020603050405020304" pitchFamily="18" charset="0"/>
                <a:ea typeface="新細明體" panose="02020500000000000000" pitchFamily="18" charset="-120"/>
                <a:cs typeface="Times New Roman" panose="02020603050405020304" pitchFamily="18" charset="0"/>
              </a:rPr>
              <a:t>S &amp; P noise</a:t>
            </a:r>
            <a:endParaRPr lang="zh-TW" altLang="en-US" sz="20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342658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79F39CC1-26B2-D1D3-CD4A-81E0CE7136E9}"/>
              </a:ext>
            </a:extLst>
          </p:cNvPr>
          <p:cNvSpPr>
            <a:spLocks noGrp="1"/>
          </p:cNvSpPr>
          <p:nvPr>
            <p:ph idx="1"/>
          </p:nvPr>
        </p:nvSpPr>
        <p:spPr>
          <a:xfrm>
            <a:off x="1097280" y="1845734"/>
            <a:ext cx="10058400" cy="4023360"/>
          </a:xfrm>
        </p:spPr>
        <p:txBody>
          <a:bodyPr/>
          <a:lstStyle/>
          <a:p>
            <a:pPr>
              <a:buFont typeface="Wingdings" panose="05000000000000000000" pitchFamily="2" charset="2"/>
              <a:buChar char="Ø"/>
            </a:pPr>
            <a:r>
              <a:rPr lang="zh-TW" altLang="en-US" dirty="0"/>
              <a:t> </a:t>
            </a:r>
            <a:r>
              <a:rPr lang="en-US" altLang="zh-TW" sz="2400" b="1" dirty="0">
                <a:latin typeface="Times New Roman" panose="02020603050405020304" pitchFamily="18" charset="0"/>
                <a:cs typeface="Times New Roman" panose="02020603050405020304" pitchFamily="18" charset="0"/>
              </a:rPr>
              <a:t>Timestep</a:t>
            </a:r>
            <a:r>
              <a:rPr lang="en-US" altLang="zh-TW" sz="2400" dirty="0">
                <a:latin typeface="Times New Roman" panose="02020603050405020304" pitchFamily="18" charset="0"/>
                <a:cs typeface="Times New Roman" panose="02020603050405020304" pitchFamily="18" charset="0"/>
              </a:rPr>
              <a:t> </a:t>
            </a:r>
            <a:r>
              <a:rPr lang="en-US" altLang="zh-TW" sz="2400" b="1" dirty="0">
                <a:solidFill>
                  <a:srgbClr val="FF0000"/>
                </a:solidFill>
                <a:latin typeface="Times New Roman" panose="02020603050405020304" pitchFamily="18" charset="0"/>
                <a:cs typeface="Times New Roman" panose="02020603050405020304" pitchFamily="18" charset="0"/>
              </a:rPr>
              <a:t>1</a:t>
            </a:r>
            <a:endParaRPr lang="zh-TW" altLang="en-US" sz="2400" b="1" dirty="0">
              <a:solidFill>
                <a:srgbClr val="FF0000"/>
              </a:solidFill>
              <a:latin typeface="Times New Roman" panose="02020603050405020304" pitchFamily="18" charset="0"/>
              <a:cs typeface="Times New Roman" panose="02020603050405020304" pitchFamily="18" charset="0"/>
            </a:endParaRPr>
          </a:p>
        </p:txBody>
      </p:sp>
      <p:sp>
        <p:nvSpPr>
          <p:cNvPr id="2" name="標題 1">
            <a:extLst>
              <a:ext uri="{FF2B5EF4-FFF2-40B4-BE49-F238E27FC236}">
                <a16:creationId xmlns:a16="http://schemas.microsoft.com/office/drawing/2014/main" id="{7404A615-9A6F-8FD5-FE09-46C27EBC5406}"/>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Experiments</a:t>
            </a:r>
            <a:endParaRPr lang="zh-TW" altLang="en-US" b="1"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BBC9401-DE94-9D9B-624B-0616EFC70D11}"/>
              </a:ext>
            </a:extLst>
          </p:cNvPr>
          <p:cNvSpPr>
            <a:spLocks noGrp="1"/>
          </p:cNvSpPr>
          <p:nvPr>
            <p:ph type="sldNum" sz="quarter" idx="12"/>
          </p:nvPr>
        </p:nvSpPr>
        <p:spPr/>
        <p:txBody>
          <a:bodyPr/>
          <a:lstStyle/>
          <a:p>
            <a:fld id="{83BADD90-1659-401A-8CB6-1FAE4798FEBF}" type="slidenum">
              <a:rPr lang="zh-TW" altLang="en-US" smtClean="0"/>
              <a:t>16</a:t>
            </a:fld>
            <a:endParaRPr lang="zh-TW" altLang="en-US"/>
          </a:p>
        </p:txBody>
      </p:sp>
      <p:pic>
        <p:nvPicPr>
          <p:cNvPr id="6" name="圖片 5">
            <a:extLst>
              <a:ext uri="{FF2B5EF4-FFF2-40B4-BE49-F238E27FC236}">
                <a16:creationId xmlns:a16="http://schemas.microsoft.com/office/drawing/2014/main" id="{550A61B2-CF0C-5032-F076-A7E7A3673E61}"/>
              </a:ext>
            </a:extLst>
          </p:cNvPr>
          <p:cNvPicPr>
            <a:picLocks noChangeAspect="1"/>
          </p:cNvPicPr>
          <p:nvPr/>
        </p:nvPicPr>
        <p:blipFill>
          <a:blip r:embed="rId2" cstate="print">
            <a:extLst>
              <a:ext uri="{28A0092B-C50C-407E-A947-70E740481C1C}">
                <a14:useLocalDpi xmlns:a14="http://schemas.microsoft.com/office/drawing/2010/main" val="0"/>
              </a:ext>
            </a:extLst>
          </a:blip>
          <a:srcRect l="22226" t="11920" r="19779" b="11047"/>
          <a:stretch/>
        </p:blipFill>
        <p:spPr bwMode="auto">
          <a:xfrm>
            <a:off x="1392747" y="2963446"/>
            <a:ext cx="2616200" cy="2608433"/>
          </a:xfrm>
          <a:prstGeom prst="rect">
            <a:avLst/>
          </a:prstGeom>
          <a:noFill/>
          <a:ln>
            <a:noFill/>
          </a:ln>
        </p:spPr>
      </p:pic>
      <p:sp>
        <p:nvSpPr>
          <p:cNvPr id="9" name="文字方塊 8">
            <a:extLst>
              <a:ext uri="{FF2B5EF4-FFF2-40B4-BE49-F238E27FC236}">
                <a16:creationId xmlns:a16="http://schemas.microsoft.com/office/drawing/2014/main" id="{04687280-4432-A2E3-158A-67186788DB0A}"/>
              </a:ext>
            </a:extLst>
          </p:cNvPr>
          <p:cNvSpPr txBox="1"/>
          <p:nvPr/>
        </p:nvSpPr>
        <p:spPr>
          <a:xfrm>
            <a:off x="2167447" y="2419350"/>
            <a:ext cx="1066800" cy="400110"/>
          </a:xfrm>
          <a:prstGeom prst="rect">
            <a:avLst/>
          </a:prstGeom>
          <a:noFill/>
        </p:spPr>
        <p:txBody>
          <a:bodyPr wrap="square" rtlCol="0">
            <a:spAutoFit/>
          </a:bodyPr>
          <a:lstStyle/>
          <a:p>
            <a:r>
              <a:rPr lang="en-US" altLang="zh-TW" sz="2000" dirty="0">
                <a:solidFill>
                  <a:schemeClr val="tx1">
                    <a:lumMod val="75000"/>
                    <a:lumOff val="25000"/>
                  </a:schemeClr>
                </a:solidFill>
                <a:latin typeface="Times New Roman" panose="02020603050405020304" pitchFamily="18" charset="0"/>
                <a:cs typeface="Times New Roman" panose="02020603050405020304" pitchFamily="18" charset="0"/>
              </a:rPr>
              <a:t>Original</a:t>
            </a:r>
            <a:endParaRPr lang="zh-TW" altLang="en-US" sz="20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7C67E765-05E3-BE1C-0E8F-6E4EB6912F21}"/>
              </a:ext>
            </a:extLst>
          </p:cNvPr>
          <p:cNvSpPr txBox="1"/>
          <p:nvPr/>
        </p:nvSpPr>
        <p:spPr>
          <a:xfrm>
            <a:off x="5295735" y="2419350"/>
            <a:ext cx="1791030" cy="400110"/>
          </a:xfrm>
          <a:prstGeom prst="rect">
            <a:avLst/>
          </a:prstGeom>
          <a:noFill/>
        </p:spPr>
        <p:txBody>
          <a:bodyPr wrap="square" rtlCol="0">
            <a:spAutoFit/>
          </a:bodyPr>
          <a:lstStyle/>
          <a:p>
            <a:r>
              <a:rPr lang="en-US" altLang="zh-TW" sz="2000" dirty="0">
                <a:solidFill>
                  <a:schemeClr val="tx1">
                    <a:lumMod val="75000"/>
                    <a:lumOff val="25000"/>
                  </a:schemeClr>
                </a:solidFill>
                <a:effectLst/>
                <a:latin typeface="Times New Roman" panose="02020603050405020304" pitchFamily="18" charset="0"/>
                <a:ea typeface="新細明體" panose="02020500000000000000" pitchFamily="18" charset="-120"/>
                <a:cs typeface="Times New Roman" panose="02020603050405020304" pitchFamily="18" charset="0"/>
              </a:rPr>
              <a:t>Gaussian noise</a:t>
            </a:r>
            <a:endParaRPr lang="zh-TW" altLang="en-US" sz="20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11" name="文字方塊 10">
            <a:extLst>
              <a:ext uri="{FF2B5EF4-FFF2-40B4-BE49-F238E27FC236}">
                <a16:creationId xmlns:a16="http://schemas.microsoft.com/office/drawing/2014/main" id="{C3BD06F6-7080-7C4A-ED8C-18B2937411E2}"/>
              </a:ext>
            </a:extLst>
          </p:cNvPr>
          <p:cNvSpPr txBox="1"/>
          <p:nvPr/>
        </p:nvSpPr>
        <p:spPr>
          <a:xfrm>
            <a:off x="8973437" y="2419350"/>
            <a:ext cx="1407095" cy="400110"/>
          </a:xfrm>
          <a:prstGeom prst="rect">
            <a:avLst/>
          </a:prstGeom>
          <a:noFill/>
        </p:spPr>
        <p:txBody>
          <a:bodyPr wrap="square" rtlCol="0">
            <a:spAutoFit/>
          </a:bodyPr>
          <a:lstStyle/>
          <a:p>
            <a:r>
              <a:rPr lang="en-US" altLang="zh-TW" sz="2000" dirty="0">
                <a:solidFill>
                  <a:schemeClr val="tx1">
                    <a:lumMod val="75000"/>
                    <a:lumOff val="25000"/>
                  </a:schemeClr>
                </a:solidFill>
                <a:effectLst/>
                <a:latin typeface="Times New Roman" panose="02020603050405020304" pitchFamily="18" charset="0"/>
                <a:ea typeface="新細明體" panose="02020500000000000000" pitchFamily="18" charset="-120"/>
                <a:cs typeface="Times New Roman" panose="02020603050405020304" pitchFamily="18" charset="0"/>
              </a:rPr>
              <a:t>S &amp; P noise</a:t>
            </a:r>
            <a:endParaRPr lang="zh-TW" altLang="en-US" sz="20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pic>
        <p:nvPicPr>
          <p:cNvPr id="13" name="圖片 12">
            <a:extLst>
              <a:ext uri="{FF2B5EF4-FFF2-40B4-BE49-F238E27FC236}">
                <a16:creationId xmlns:a16="http://schemas.microsoft.com/office/drawing/2014/main" id="{77E0BB22-AD3E-E23F-3C1B-F7AE8E1214D8}"/>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0325" t="11328" r="17495" b="10145"/>
          <a:stretch/>
        </p:blipFill>
        <p:spPr bwMode="auto">
          <a:xfrm>
            <a:off x="4719245" y="2927834"/>
            <a:ext cx="2814469" cy="2667184"/>
          </a:xfrm>
          <a:prstGeom prst="rect">
            <a:avLst/>
          </a:prstGeom>
          <a:noFill/>
          <a:ln>
            <a:noFill/>
          </a:ln>
          <a:extLst>
            <a:ext uri="{53640926-AAD7-44D8-BBD7-CCE9431645EC}">
              <a14:shadowObscured xmlns:a14="http://schemas.microsoft.com/office/drawing/2010/main"/>
            </a:ext>
          </a:extLst>
        </p:spPr>
      </p:pic>
      <p:pic>
        <p:nvPicPr>
          <p:cNvPr id="14" name="圖片 13">
            <a:extLst>
              <a:ext uri="{FF2B5EF4-FFF2-40B4-BE49-F238E27FC236}">
                <a16:creationId xmlns:a16="http://schemas.microsoft.com/office/drawing/2014/main" id="{3681693E-5C2F-BD1F-2CD9-AF376FACDBC9}"/>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20376" t="12914" r="19008" b="11778"/>
          <a:stretch/>
        </p:blipFill>
        <p:spPr bwMode="auto">
          <a:xfrm>
            <a:off x="8244012" y="2963446"/>
            <a:ext cx="2797269" cy="2608433"/>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3728750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79F39CC1-26B2-D1D3-CD4A-81E0CE7136E9}"/>
              </a:ext>
            </a:extLst>
          </p:cNvPr>
          <p:cNvSpPr>
            <a:spLocks noGrp="1"/>
          </p:cNvSpPr>
          <p:nvPr>
            <p:ph idx="1"/>
          </p:nvPr>
        </p:nvSpPr>
        <p:spPr>
          <a:xfrm>
            <a:off x="1097280" y="1845734"/>
            <a:ext cx="10058400" cy="4023360"/>
          </a:xfrm>
        </p:spPr>
        <p:txBody>
          <a:bodyPr/>
          <a:lstStyle/>
          <a:p>
            <a:pPr>
              <a:buFont typeface="Wingdings" panose="05000000000000000000" pitchFamily="2" charset="2"/>
              <a:buChar char="Ø"/>
            </a:pPr>
            <a:r>
              <a:rPr lang="zh-TW" altLang="en-US" dirty="0"/>
              <a:t> </a:t>
            </a:r>
            <a:r>
              <a:rPr lang="en-US" altLang="zh-TW" sz="2400" b="1" dirty="0">
                <a:latin typeface="Times New Roman" panose="02020603050405020304" pitchFamily="18" charset="0"/>
                <a:cs typeface="Times New Roman" panose="02020603050405020304" pitchFamily="18" charset="0"/>
              </a:rPr>
              <a:t>Timestep </a:t>
            </a:r>
            <a:r>
              <a:rPr lang="en-US" altLang="zh-TW" sz="2400" b="1" dirty="0">
                <a:solidFill>
                  <a:srgbClr val="FF0000"/>
                </a:solidFill>
                <a:latin typeface="Times New Roman" panose="02020603050405020304" pitchFamily="18" charset="0"/>
                <a:cs typeface="Times New Roman" panose="02020603050405020304" pitchFamily="18" charset="0"/>
              </a:rPr>
              <a:t>5</a:t>
            </a:r>
            <a:endParaRPr lang="zh-TW" altLang="en-US" sz="2400" b="1" dirty="0">
              <a:solidFill>
                <a:srgbClr val="FF0000"/>
              </a:solidFill>
              <a:latin typeface="Times New Roman" panose="02020603050405020304" pitchFamily="18" charset="0"/>
              <a:cs typeface="Times New Roman" panose="02020603050405020304" pitchFamily="18" charset="0"/>
            </a:endParaRPr>
          </a:p>
        </p:txBody>
      </p:sp>
      <p:sp>
        <p:nvSpPr>
          <p:cNvPr id="2" name="標題 1">
            <a:extLst>
              <a:ext uri="{FF2B5EF4-FFF2-40B4-BE49-F238E27FC236}">
                <a16:creationId xmlns:a16="http://schemas.microsoft.com/office/drawing/2014/main" id="{7404A615-9A6F-8FD5-FE09-46C27EBC5406}"/>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Experiments</a:t>
            </a:r>
            <a:endParaRPr lang="zh-TW" altLang="en-US" b="1"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BBC9401-DE94-9D9B-624B-0616EFC70D11}"/>
              </a:ext>
            </a:extLst>
          </p:cNvPr>
          <p:cNvSpPr>
            <a:spLocks noGrp="1"/>
          </p:cNvSpPr>
          <p:nvPr>
            <p:ph type="sldNum" sz="quarter" idx="12"/>
          </p:nvPr>
        </p:nvSpPr>
        <p:spPr/>
        <p:txBody>
          <a:bodyPr/>
          <a:lstStyle/>
          <a:p>
            <a:fld id="{83BADD90-1659-401A-8CB6-1FAE4798FEBF}" type="slidenum">
              <a:rPr lang="zh-TW" altLang="en-US" smtClean="0"/>
              <a:t>17</a:t>
            </a:fld>
            <a:endParaRPr lang="zh-TW" altLang="en-US"/>
          </a:p>
        </p:txBody>
      </p:sp>
      <p:pic>
        <p:nvPicPr>
          <p:cNvPr id="6" name="圖片 5">
            <a:extLst>
              <a:ext uri="{FF2B5EF4-FFF2-40B4-BE49-F238E27FC236}">
                <a16:creationId xmlns:a16="http://schemas.microsoft.com/office/drawing/2014/main" id="{550A61B2-CF0C-5032-F076-A7E7A3673E61}"/>
              </a:ext>
            </a:extLst>
          </p:cNvPr>
          <p:cNvPicPr>
            <a:picLocks noChangeAspect="1"/>
          </p:cNvPicPr>
          <p:nvPr/>
        </p:nvPicPr>
        <p:blipFill>
          <a:blip r:embed="rId2" cstate="print">
            <a:extLst>
              <a:ext uri="{28A0092B-C50C-407E-A947-70E740481C1C}">
                <a14:useLocalDpi xmlns:a14="http://schemas.microsoft.com/office/drawing/2010/main" val="0"/>
              </a:ext>
            </a:extLst>
          </a:blip>
          <a:srcRect l="22226" t="11920" r="19779" b="11047"/>
          <a:stretch/>
        </p:blipFill>
        <p:spPr bwMode="auto">
          <a:xfrm>
            <a:off x="1392747" y="2963446"/>
            <a:ext cx="2616200" cy="2608433"/>
          </a:xfrm>
          <a:prstGeom prst="rect">
            <a:avLst/>
          </a:prstGeom>
          <a:noFill/>
          <a:ln>
            <a:noFill/>
          </a:ln>
        </p:spPr>
      </p:pic>
      <p:sp>
        <p:nvSpPr>
          <p:cNvPr id="9" name="文字方塊 8">
            <a:extLst>
              <a:ext uri="{FF2B5EF4-FFF2-40B4-BE49-F238E27FC236}">
                <a16:creationId xmlns:a16="http://schemas.microsoft.com/office/drawing/2014/main" id="{04687280-4432-A2E3-158A-67186788DB0A}"/>
              </a:ext>
            </a:extLst>
          </p:cNvPr>
          <p:cNvSpPr txBox="1"/>
          <p:nvPr/>
        </p:nvSpPr>
        <p:spPr>
          <a:xfrm>
            <a:off x="2167447" y="2419350"/>
            <a:ext cx="1066800" cy="400110"/>
          </a:xfrm>
          <a:prstGeom prst="rect">
            <a:avLst/>
          </a:prstGeom>
          <a:noFill/>
        </p:spPr>
        <p:txBody>
          <a:bodyPr wrap="square" rtlCol="0">
            <a:spAutoFit/>
          </a:bodyPr>
          <a:lstStyle/>
          <a:p>
            <a:r>
              <a:rPr lang="en-US" altLang="zh-TW" sz="2000" dirty="0">
                <a:solidFill>
                  <a:schemeClr val="tx1">
                    <a:lumMod val="75000"/>
                    <a:lumOff val="25000"/>
                  </a:schemeClr>
                </a:solidFill>
                <a:latin typeface="Times New Roman" panose="02020603050405020304" pitchFamily="18" charset="0"/>
                <a:cs typeface="Times New Roman" panose="02020603050405020304" pitchFamily="18" charset="0"/>
              </a:rPr>
              <a:t>Original</a:t>
            </a:r>
            <a:endParaRPr lang="zh-TW" altLang="en-US" sz="20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7C67E765-05E3-BE1C-0E8F-6E4EB6912F21}"/>
              </a:ext>
            </a:extLst>
          </p:cNvPr>
          <p:cNvSpPr txBox="1"/>
          <p:nvPr/>
        </p:nvSpPr>
        <p:spPr>
          <a:xfrm>
            <a:off x="5295735" y="2419350"/>
            <a:ext cx="1791030" cy="400110"/>
          </a:xfrm>
          <a:prstGeom prst="rect">
            <a:avLst/>
          </a:prstGeom>
          <a:noFill/>
        </p:spPr>
        <p:txBody>
          <a:bodyPr wrap="square" rtlCol="0">
            <a:spAutoFit/>
          </a:bodyPr>
          <a:lstStyle/>
          <a:p>
            <a:r>
              <a:rPr lang="en-US" altLang="zh-TW" sz="2000" dirty="0">
                <a:solidFill>
                  <a:schemeClr val="tx1">
                    <a:lumMod val="75000"/>
                    <a:lumOff val="25000"/>
                  </a:schemeClr>
                </a:solidFill>
                <a:effectLst/>
                <a:latin typeface="Times New Roman" panose="02020603050405020304" pitchFamily="18" charset="0"/>
                <a:ea typeface="新細明體" panose="02020500000000000000" pitchFamily="18" charset="-120"/>
                <a:cs typeface="Times New Roman" panose="02020603050405020304" pitchFamily="18" charset="0"/>
              </a:rPr>
              <a:t>Gaussian noise</a:t>
            </a:r>
            <a:endParaRPr lang="zh-TW" altLang="en-US" sz="20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11" name="文字方塊 10">
            <a:extLst>
              <a:ext uri="{FF2B5EF4-FFF2-40B4-BE49-F238E27FC236}">
                <a16:creationId xmlns:a16="http://schemas.microsoft.com/office/drawing/2014/main" id="{C3BD06F6-7080-7C4A-ED8C-18B2937411E2}"/>
              </a:ext>
            </a:extLst>
          </p:cNvPr>
          <p:cNvSpPr txBox="1"/>
          <p:nvPr/>
        </p:nvSpPr>
        <p:spPr>
          <a:xfrm>
            <a:off x="8973437" y="2419350"/>
            <a:ext cx="1407095" cy="400110"/>
          </a:xfrm>
          <a:prstGeom prst="rect">
            <a:avLst/>
          </a:prstGeom>
          <a:noFill/>
        </p:spPr>
        <p:txBody>
          <a:bodyPr wrap="square" rtlCol="0">
            <a:spAutoFit/>
          </a:bodyPr>
          <a:lstStyle/>
          <a:p>
            <a:r>
              <a:rPr lang="en-US" altLang="zh-TW" sz="2000" dirty="0">
                <a:solidFill>
                  <a:schemeClr val="tx1">
                    <a:lumMod val="75000"/>
                    <a:lumOff val="25000"/>
                  </a:schemeClr>
                </a:solidFill>
                <a:effectLst/>
                <a:latin typeface="Times New Roman" panose="02020603050405020304" pitchFamily="18" charset="0"/>
                <a:ea typeface="新細明體" panose="02020500000000000000" pitchFamily="18" charset="-120"/>
                <a:cs typeface="Times New Roman" panose="02020603050405020304" pitchFamily="18" charset="0"/>
              </a:rPr>
              <a:t>S &amp; P noise</a:t>
            </a:r>
            <a:endParaRPr lang="zh-TW" altLang="en-US" sz="20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pic>
        <p:nvPicPr>
          <p:cNvPr id="5" name="圖片 4">
            <a:extLst>
              <a:ext uri="{FF2B5EF4-FFF2-40B4-BE49-F238E27FC236}">
                <a16:creationId xmlns:a16="http://schemas.microsoft.com/office/drawing/2014/main" id="{A9DFA195-7FD4-BB66-94BA-4086799A08EC}"/>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1018" t="11938" r="18352" b="9391"/>
          <a:stretch/>
        </p:blipFill>
        <p:spPr bwMode="auto">
          <a:xfrm>
            <a:off x="4821747" y="2963446"/>
            <a:ext cx="2734753" cy="2662406"/>
          </a:xfrm>
          <a:prstGeom prst="rect">
            <a:avLst/>
          </a:prstGeom>
          <a:noFill/>
          <a:ln>
            <a:noFill/>
          </a:ln>
          <a:extLst>
            <a:ext uri="{53640926-AAD7-44D8-BBD7-CCE9431645EC}">
              <a14:shadowObscured xmlns:a14="http://schemas.microsoft.com/office/drawing/2010/main"/>
            </a:ext>
          </a:extLst>
        </p:spPr>
      </p:pic>
      <p:pic>
        <p:nvPicPr>
          <p:cNvPr id="7" name="圖片 6">
            <a:extLst>
              <a:ext uri="{FF2B5EF4-FFF2-40B4-BE49-F238E27FC236}">
                <a16:creationId xmlns:a16="http://schemas.microsoft.com/office/drawing/2014/main" id="{542EE6BB-4B6C-4FE5-EC8E-639E5F6B633B}"/>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8859" t="11994" r="19317" b="11273"/>
          <a:stretch/>
        </p:blipFill>
        <p:spPr bwMode="auto">
          <a:xfrm>
            <a:off x="8183055" y="2963445"/>
            <a:ext cx="2800599" cy="2608433"/>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7427545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79F39CC1-26B2-D1D3-CD4A-81E0CE7136E9}"/>
              </a:ext>
            </a:extLst>
          </p:cNvPr>
          <p:cNvSpPr>
            <a:spLocks noGrp="1"/>
          </p:cNvSpPr>
          <p:nvPr>
            <p:ph idx="1"/>
          </p:nvPr>
        </p:nvSpPr>
        <p:spPr>
          <a:xfrm>
            <a:off x="1097280" y="1845734"/>
            <a:ext cx="10058400" cy="4023360"/>
          </a:xfrm>
        </p:spPr>
        <p:txBody>
          <a:bodyPr/>
          <a:lstStyle/>
          <a:p>
            <a:pPr>
              <a:buFont typeface="Wingdings" panose="05000000000000000000" pitchFamily="2" charset="2"/>
              <a:buChar char="Ø"/>
            </a:pPr>
            <a:r>
              <a:rPr lang="zh-TW" altLang="en-US" dirty="0"/>
              <a:t> </a:t>
            </a:r>
            <a:r>
              <a:rPr lang="en-US" altLang="zh-TW" sz="2400" b="1" dirty="0">
                <a:latin typeface="Times New Roman" panose="02020603050405020304" pitchFamily="18" charset="0"/>
                <a:cs typeface="Times New Roman" panose="02020603050405020304" pitchFamily="18" charset="0"/>
              </a:rPr>
              <a:t>Timestep </a:t>
            </a:r>
            <a:r>
              <a:rPr lang="en-US" altLang="zh-TW" sz="2400" b="1" dirty="0">
                <a:solidFill>
                  <a:srgbClr val="FF0000"/>
                </a:solidFill>
                <a:latin typeface="Times New Roman" panose="02020603050405020304" pitchFamily="18" charset="0"/>
                <a:cs typeface="Times New Roman" panose="02020603050405020304" pitchFamily="18" charset="0"/>
              </a:rPr>
              <a:t>10</a:t>
            </a:r>
            <a:endParaRPr lang="zh-TW" altLang="en-US" sz="2400" b="1" dirty="0">
              <a:solidFill>
                <a:srgbClr val="FF0000"/>
              </a:solidFill>
              <a:latin typeface="Times New Roman" panose="02020603050405020304" pitchFamily="18" charset="0"/>
              <a:cs typeface="Times New Roman" panose="02020603050405020304" pitchFamily="18" charset="0"/>
            </a:endParaRPr>
          </a:p>
        </p:txBody>
      </p:sp>
      <p:sp>
        <p:nvSpPr>
          <p:cNvPr id="2" name="標題 1">
            <a:extLst>
              <a:ext uri="{FF2B5EF4-FFF2-40B4-BE49-F238E27FC236}">
                <a16:creationId xmlns:a16="http://schemas.microsoft.com/office/drawing/2014/main" id="{7404A615-9A6F-8FD5-FE09-46C27EBC5406}"/>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Experiments</a:t>
            </a:r>
            <a:endParaRPr lang="zh-TW" altLang="en-US" b="1"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BBC9401-DE94-9D9B-624B-0616EFC70D11}"/>
              </a:ext>
            </a:extLst>
          </p:cNvPr>
          <p:cNvSpPr>
            <a:spLocks noGrp="1"/>
          </p:cNvSpPr>
          <p:nvPr>
            <p:ph type="sldNum" sz="quarter" idx="12"/>
          </p:nvPr>
        </p:nvSpPr>
        <p:spPr/>
        <p:txBody>
          <a:bodyPr/>
          <a:lstStyle/>
          <a:p>
            <a:fld id="{83BADD90-1659-401A-8CB6-1FAE4798FEBF}" type="slidenum">
              <a:rPr lang="zh-TW" altLang="en-US" smtClean="0"/>
              <a:t>18</a:t>
            </a:fld>
            <a:endParaRPr lang="zh-TW" altLang="en-US"/>
          </a:p>
        </p:txBody>
      </p:sp>
      <p:pic>
        <p:nvPicPr>
          <p:cNvPr id="6" name="圖片 5">
            <a:extLst>
              <a:ext uri="{FF2B5EF4-FFF2-40B4-BE49-F238E27FC236}">
                <a16:creationId xmlns:a16="http://schemas.microsoft.com/office/drawing/2014/main" id="{550A61B2-CF0C-5032-F076-A7E7A3673E61}"/>
              </a:ext>
            </a:extLst>
          </p:cNvPr>
          <p:cNvPicPr>
            <a:picLocks noChangeAspect="1"/>
          </p:cNvPicPr>
          <p:nvPr/>
        </p:nvPicPr>
        <p:blipFill>
          <a:blip r:embed="rId2" cstate="print">
            <a:extLst>
              <a:ext uri="{28A0092B-C50C-407E-A947-70E740481C1C}">
                <a14:useLocalDpi xmlns:a14="http://schemas.microsoft.com/office/drawing/2010/main" val="0"/>
              </a:ext>
            </a:extLst>
          </a:blip>
          <a:srcRect l="22226" t="11920" r="19779" b="11047"/>
          <a:stretch/>
        </p:blipFill>
        <p:spPr bwMode="auto">
          <a:xfrm>
            <a:off x="1392747" y="2963446"/>
            <a:ext cx="2616200" cy="2608433"/>
          </a:xfrm>
          <a:prstGeom prst="rect">
            <a:avLst/>
          </a:prstGeom>
          <a:noFill/>
          <a:ln>
            <a:noFill/>
          </a:ln>
        </p:spPr>
      </p:pic>
      <p:sp>
        <p:nvSpPr>
          <p:cNvPr id="9" name="文字方塊 8">
            <a:extLst>
              <a:ext uri="{FF2B5EF4-FFF2-40B4-BE49-F238E27FC236}">
                <a16:creationId xmlns:a16="http://schemas.microsoft.com/office/drawing/2014/main" id="{04687280-4432-A2E3-158A-67186788DB0A}"/>
              </a:ext>
            </a:extLst>
          </p:cNvPr>
          <p:cNvSpPr txBox="1"/>
          <p:nvPr/>
        </p:nvSpPr>
        <p:spPr>
          <a:xfrm>
            <a:off x="2167447" y="2419350"/>
            <a:ext cx="1066800" cy="400110"/>
          </a:xfrm>
          <a:prstGeom prst="rect">
            <a:avLst/>
          </a:prstGeom>
          <a:noFill/>
        </p:spPr>
        <p:txBody>
          <a:bodyPr wrap="square" rtlCol="0">
            <a:spAutoFit/>
          </a:bodyPr>
          <a:lstStyle/>
          <a:p>
            <a:r>
              <a:rPr lang="en-US" altLang="zh-TW" sz="2000" dirty="0">
                <a:solidFill>
                  <a:schemeClr val="tx1">
                    <a:lumMod val="75000"/>
                    <a:lumOff val="25000"/>
                  </a:schemeClr>
                </a:solidFill>
                <a:latin typeface="Times New Roman" panose="02020603050405020304" pitchFamily="18" charset="0"/>
                <a:cs typeface="Times New Roman" panose="02020603050405020304" pitchFamily="18" charset="0"/>
              </a:rPr>
              <a:t>Original</a:t>
            </a:r>
            <a:endParaRPr lang="zh-TW" altLang="en-US" sz="20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7C67E765-05E3-BE1C-0E8F-6E4EB6912F21}"/>
              </a:ext>
            </a:extLst>
          </p:cNvPr>
          <p:cNvSpPr txBox="1"/>
          <p:nvPr/>
        </p:nvSpPr>
        <p:spPr>
          <a:xfrm>
            <a:off x="5295735" y="2419350"/>
            <a:ext cx="1791030" cy="400110"/>
          </a:xfrm>
          <a:prstGeom prst="rect">
            <a:avLst/>
          </a:prstGeom>
          <a:noFill/>
        </p:spPr>
        <p:txBody>
          <a:bodyPr wrap="square" rtlCol="0">
            <a:spAutoFit/>
          </a:bodyPr>
          <a:lstStyle/>
          <a:p>
            <a:r>
              <a:rPr lang="en-US" altLang="zh-TW" sz="2000" dirty="0">
                <a:solidFill>
                  <a:schemeClr val="tx1">
                    <a:lumMod val="75000"/>
                    <a:lumOff val="25000"/>
                  </a:schemeClr>
                </a:solidFill>
                <a:effectLst/>
                <a:latin typeface="Times New Roman" panose="02020603050405020304" pitchFamily="18" charset="0"/>
                <a:ea typeface="新細明體" panose="02020500000000000000" pitchFamily="18" charset="-120"/>
                <a:cs typeface="Times New Roman" panose="02020603050405020304" pitchFamily="18" charset="0"/>
              </a:rPr>
              <a:t>Gaussian noise</a:t>
            </a:r>
            <a:endParaRPr lang="zh-TW" altLang="en-US" sz="20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11" name="文字方塊 10">
            <a:extLst>
              <a:ext uri="{FF2B5EF4-FFF2-40B4-BE49-F238E27FC236}">
                <a16:creationId xmlns:a16="http://schemas.microsoft.com/office/drawing/2014/main" id="{C3BD06F6-7080-7C4A-ED8C-18B2937411E2}"/>
              </a:ext>
            </a:extLst>
          </p:cNvPr>
          <p:cNvSpPr txBox="1"/>
          <p:nvPr/>
        </p:nvSpPr>
        <p:spPr>
          <a:xfrm>
            <a:off x="8973437" y="2419350"/>
            <a:ext cx="1407095" cy="400110"/>
          </a:xfrm>
          <a:prstGeom prst="rect">
            <a:avLst/>
          </a:prstGeom>
          <a:noFill/>
        </p:spPr>
        <p:txBody>
          <a:bodyPr wrap="square" rtlCol="0">
            <a:spAutoFit/>
          </a:bodyPr>
          <a:lstStyle/>
          <a:p>
            <a:r>
              <a:rPr lang="en-US" altLang="zh-TW" sz="2000" dirty="0">
                <a:solidFill>
                  <a:schemeClr val="tx1">
                    <a:lumMod val="75000"/>
                    <a:lumOff val="25000"/>
                  </a:schemeClr>
                </a:solidFill>
                <a:effectLst/>
                <a:latin typeface="Times New Roman" panose="02020603050405020304" pitchFamily="18" charset="0"/>
                <a:ea typeface="新細明體" panose="02020500000000000000" pitchFamily="18" charset="-120"/>
                <a:cs typeface="Times New Roman" panose="02020603050405020304" pitchFamily="18" charset="0"/>
              </a:rPr>
              <a:t>S &amp; P noise</a:t>
            </a:r>
            <a:endParaRPr lang="zh-TW" altLang="en-US" sz="20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pic>
        <p:nvPicPr>
          <p:cNvPr id="8" name="圖片 7">
            <a:extLst>
              <a:ext uri="{FF2B5EF4-FFF2-40B4-BE49-F238E27FC236}">
                <a16:creationId xmlns:a16="http://schemas.microsoft.com/office/drawing/2014/main" id="{13BD8DFC-9366-CE8D-858E-AB064C73CF6B}"/>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1419" t="11416" r="18800" b="11028"/>
          <a:stretch/>
        </p:blipFill>
        <p:spPr bwMode="auto">
          <a:xfrm>
            <a:off x="4835526" y="2944618"/>
            <a:ext cx="2698750" cy="2627261"/>
          </a:xfrm>
          <a:prstGeom prst="rect">
            <a:avLst/>
          </a:prstGeom>
          <a:noFill/>
          <a:ln>
            <a:noFill/>
          </a:ln>
          <a:extLst>
            <a:ext uri="{53640926-AAD7-44D8-BBD7-CCE9431645EC}">
              <a14:shadowObscured xmlns:a14="http://schemas.microsoft.com/office/drawing/2010/main"/>
            </a:ext>
          </a:extLst>
        </p:spPr>
      </p:pic>
      <p:pic>
        <p:nvPicPr>
          <p:cNvPr id="12" name="圖片 11">
            <a:extLst>
              <a:ext uri="{FF2B5EF4-FFF2-40B4-BE49-F238E27FC236}">
                <a16:creationId xmlns:a16="http://schemas.microsoft.com/office/drawing/2014/main" id="{50F22F01-BDDB-B491-4973-2F83F97BD9C7}"/>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20731" t="12248" r="19047" b="11106"/>
          <a:stretch/>
        </p:blipFill>
        <p:spPr bwMode="auto">
          <a:xfrm>
            <a:off x="8315034" y="2968936"/>
            <a:ext cx="2723900" cy="2602943"/>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7747185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79F39CC1-26B2-D1D3-CD4A-81E0CE7136E9}"/>
              </a:ext>
            </a:extLst>
          </p:cNvPr>
          <p:cNvSpPr>
            <a:spLocks noGrp="1"/>
          </p:cNvSpPr>
          <p:nvPr>
            <p:ph idx="1"/>
          </p:nvPr>
        </p:nvSpPr>
        <p:spPr>
          <a:xfrm>
            <a:off x="1097280" y="1845734"/>
            <a:ext cx="10058400" cy="4023360"/>
          </a:xfrm>
        </p:spPr>
        <p:txBody>
          <a:bodyPr/>
          <a:lstStyle/>
          <a:p>
            <a:pPr>
              <a:buFont typeface="Wingdings" panose="05000000000000000000" pitchFamily="2" charset="2"/>
              <a:buChar char="Ø"/>
            </a:pPr>
            <a:r>
              <a:rPr lang="zh-TW" altLang="en-US" dirty="0"/>
              <a:t> </a:t>
            </a:r>
            <a:r>
              <a:rPr lang="en-US" altLang="zh-TW" sz="2400" b="1" dirty="0">
                <a:latin typeface="Times New Roman" panose="02020603050405020304" pitchFamily="18" charset="0"/>
                <a:cs typeface="Times New Roman" panose="02020603050405020304" pitchFamily="18" charset="0"/>
              </a:rPr>
              <a:t>Timestep </a:t>
            </a:r>
            <a:r>
              <a:rPr lang="en-US" altLang="zh-TW" sz="2400" b="1" dirty="0">
                <a:solidFill>
                  <a:srgbClr val="FF0000"/>
                </a:solidFill>
                <a:latin typeface="Times New Roman" panose="02020603050405020304" pitchFamily="18" charset="0"/>
                <a:cs typeface="Times New Roman" panose="02020603050405020304" pitchFamily="18" charset="0"/>
              </a:rPr>
              <a:t>20</a:t>
            </a:r>
            <a:endParaRPr lang="zh-TW" altLang="en-US" sz="2400" b="1" dirty="0">
              <a:solidFill>
                <a:srgbClr val="FF0000"/>
              </a:solidFill>
              <a:latin typeface="Times New Roman" panose="02020603050405020304" pitchFamily="18" charset="0"/>
              <a:cs typeface="Times New Roman" panose="02020603050405020304" pitchFamily="18" charset="0"/>
            </a:endParaRPr>
          </a:p>
        </p:txBody>
      </p:sp>
      <p:sp>
        <p:nvSpPr>
          <p:cNvPr id="2" name="標題 1">
            <a:extLst>
              <a:ext uri="{FF2B5EF4-FFF2-40B4-BE49-F238E27FC236}">
                <a16:creationId xmlns:a16="http://schemas.microsoft.com/office/drawing/2014/main" id="{7404A615-9A6F-8FD5-FE09-46C27EBC5406}"/>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Experiments</a:t>
            </a:r>
            <a:endParaRPr lang="zh-TW" altLang="en-US" b="1"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BBC9401-DE94-9D9B-624B-0616EFC70D11}"/>
              </a:ext>
            </a:extLst>
          </p:cNvPr>
          <p:cNvSpPr>
            <a:spLocks noGrp="1"/>
          </p:cNvSpPr>
          <p:nvPr>
            <p:ph type="sldNum" sz="quarter" idx="12"/>
          </p:nvPr>
        </p:nvSpPr>
        <p:spPr/>
        <p:txBody>
          <a:bodyPr/>
          <a:lstStyle/>
          <a:p>
            <a:fld id="{83BADD90-1659-401A-8CB6-1FAE4798FEBF}" type="slidenum">
              <a:rPr lang="zh-TW" altLang="en-US" smtClean="0"/>
              <a:t>19</a:t>
            </a:fld>
            <a:endParaRPr lang="zh-TW" altLang="en-US"/>
          </a:p>
        </p:txBody>
      </p:sp>
      <p:pic>
        <p:nvPicPr>
          <p:cNvPr id="6" name="圖片 5">
            <a:extLst>
              <a:ext uri="{FF2B5EF4-FFF2-40B4-BE49-F238E27FC236}">
                <a16:creationId xmlns:a16="http://schemas.microsoft.com/office/drawing/2014/main" id="{550A61B2-CF0C-5032-F076-A7E7A3673E61}"/>
              </a:ext>
            </a:extLst>
          </p:cNvPr>
          <p:cNvPicPr>
            <a:picLocks noChangeAspect="1"/>
          </p:cNvPicPr>
          <p:nvPr/>
        </p:nvPicPr>
        <p:blipFill>
          <a:blip r:embed="rId2" cstate="print">
            <a:extLst>
              <a:ext uri="{28A0092B-C50C-407E-A947-70E740481C1C}">
                <a14:useLocalDpi xmlns:a14="http://schemas.microsoft.com/office/drawing/2010/main" val="0"/>
              </a:ext>
            </a:extLst>
          </a:blip>
          <a:srcRect l="22226" t="11920" r="19779" b="11047"/>
          <a:stretch/>
        </p:blipFill>
        <p:spPr bwMode="auto">
          <a:xfrm>
            <a:off x="1392747" y="2963446"/>
            <a:ext cx="2616200" cy="2608433"/>
          </a:xfrm>
          <a:prstGeom prst="rect">
            <a:avLst/>
          </a:prstGeom>
          <a:noFill/>
          <a:ln>
            <a:noFill/>
          </a:ln>
        </p:spPr>
      </p:pic>
      <p:sp>
        <p:nvSpPr>
          <p:cNvPr id="9" name="文字方塊 8">
            <a:extLst>
              <a:ext uri="{FF2B5EF4-FFF2-40B4-BE49-F238E27FC236}">
                <a16:creationId xmlns:a16="http://schemas.microsoft.com/office/drawing/2014/main" id="{04687280-4432-A2E3-158A-67186788DB0A}"/>
              </a:ext>
            </a:extLst>
          </p:cNvPr>
          <p:cNvSpPr txBox="1"/>
          <p:nvPr/>
        </p:nvSpPr>
        <p:spPr>
          <a:xfrm>
            <a:off x="2167447" y="2419350"/>
            <a:ext cx="1066800" cy="400110"/>
          </a:xfrm>
          <a:prstGeom prst="rect">
            <a:avLst/>
          </a:prstGeom>
          <a:noFill/>
        </p:spPr>
        <p:txBody>
          <a:bodyPr wrap="square" rtlCol="0">
            <a:spAutoFit/>
          </a:bodyPr>
          <a:lstStyle/>
          <a:p>
            <a:r>
              <a:rPr lang="en-US" altLang="zh-TW" sz="2000" dirty="0">
                <a:solidFill>
                  <a:schemeClr val="tx1">
                    <a:lumMod val="75000"/>
                    <a:lumOff val="25000"/>
                  </a:schemeClr>
                </a:solidFill>
                <a:latin typeface="Times New Roman" panose="02020603050405020304" pitchFamily="18" charset="0"/>
                <a:cs typeface="Times New Roman" panose="02020603050405020304" pitchFamily="18" charset="0"/>
              </a:rPr>
              <a:t>Original</a:t>
            </a:r>
            <a:endParaRPr lang="zh-TW" altLang="en-US" sz="20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7C67E765-05E3-BE1C-0E8F-6E4EB6912F21}"/>
              </a:ext>
            </a:extLst>
          </p:cNvPr>
          <p:cNvSpPr txBox="1"/>
          <p:nvPr/>
        </p:nvSpPr>
        <p:spPr>
          <a:xfrm>
            <a:off x="5295735" y="2419350"/>
            <a:ext cx="1791030" cy="400110"/>
          </a:xfrm>
          <a:prstGeom prst="rect">
            <a:avLst/>
          </a:prstGeom>
          <a:noFill/>
        </p:spPr>
        <p:txBody>
          <a:bodyPr wrap="square" rtlCol="0">
            <a:spAutoFit/>
          </a:bodyPr>
          <a:lstStyle/>
          <a:p>
            <a:r>
              <a:rPr lang="en-US" altLang="zh-TW" sz="2000" dirty="0">
                <a:solidFill>
                  <a:schemeClr val="tx1">
                    <a:lumMod val="75000"/>
                    <a:lumOff val="25000"/>
                  </a:schemeClr>
                </a:solidFill>
                <a:effectLst/>
                <a:latin typeface="Times New Roman" panose="02020603050405020304" pitchFamily="18" charset="0"/>
                <a:ea typeface="新細明體" panose="02020500000000000000" pitchFamily="18" charset="-120"/>
                <a:cs typeface="Times New Roman" panose="02020603050405020304" pitchFamily="18" charset="0"/>
              </a:rPr>
              <a:t>Gaussian noise</a:t>
            </a:r>
            <a:endParaRPr lang="zh-TW" altLang="en-US" sz="20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11" name="文字方塊 10">
            <a:extLst>
              <a:ext uri="{FF2B5EF4-FFF2-40B4-BE49-F238E27FC236}">
                <a16:creationId xmlns:a16="http://schemas.microsoft.com/office/drawing/2014/main" id="{C3BD06F6-7080-7C4A-ED8C-18B2937411E2}"/>
              </a:ext>
            </a:extLst>
          </p:cNvPr>
          <p:cNvSpPr txBox="1"/>
          <p:nvPr/>
        </p:nvSpPr>
        <p:spPr>
          <a:xfrm>
            <a:off x="8973437" y="2419350"/>
            <a:ext cx="1407095" cy="400110"/>
          </a:xfrm>
          <a:prstGeom prst="rect">
            <a:avLst/>
          </a:prstGeom>
          <a:noFill/>
        </p:spPr>
        <p:txBody>
          <a:bodyPr wrap="square" rtlCol="0">
            <a:spAutoFit/>
          </a:bodyPr>
          <a:lstStyle/>
          <a:p>
            <a:r>
              <a:rPr lang="en-US" altLang="zh-TW" sz="2000" dirty="0">
                <a:solidFill>
                  <a:schemeClr val="tx1">
                    <a:lumMod val="75000"/>
                    <a:lumOff val="25000"/>
                  </a:schemeClr>
                </a:solidFill>
                <a:effectLst/>
                <a:latin typeface="Times New Roman" panose="02020603050405020304" pitchFamily="18" charset="0"/>
                <a:ea typeface="新細明體" panose="02020500000000000000" pitchFamily="18" charset="-120"/>
                <a:cs typeface="Times New Roman" panose="02020603050405020304" pitchFamily="18" charset="0"/>
              </a:rPr>
              <a:t>S &amp; P noise</a:t>
            </a:r>
            <a:endParaRPr lang="zh-TW" altLang="en-US" sz="20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pic>
        <p:nvPicPr>
          <p:cNvPr id="5" name="圖片 4">
            <a:extLst>
              <a:ext uri="{FF2B5EF4-FFF2-40B4-BE49-F238E27FC236}">
                <a16:creationId xmlns:a16="http://schemas.microsoft.com/office/drawing/2014/main" id="{26E65890-9080-4D88-5D32-41EC6B791311}"/>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3169" t="11893" r="19419" b="10827"/>
          <a:stretch/>
        </p:blipFill>
        <p:spPr bwMode="auto">
          <a:xfrm>
            <a:off x="4871255" y="2963446"/>
            <a:ext cx="2586250" cy="2612411"/>
          </a:xfrm>
          <a:prstGeom prst="rect">
            <a:avLst/>
          </a:prstGeom>
          <a:noFill/>
          <a:ln>
            <a:noFill/>
          </a:ln>
          <a:extLst>
            <a:ext uri="{53640926-AAD7-44D8-BBD7-CCE9431645EC}">
              <a14:shadowObscured xmlns:a14="http://schemas.microsoft.com/office/drawing/2010/main"/>
            </a:ext>
          </a:extLst>
        </p:spPr>
      </p:pic>
      <p:pic>
        <p:nvPicPr>
          <p:cNvPr id="7" name="圖片 6">
            <a:extLst>
              <a:ext uri="{FF2B5EF4-FFF2-40B4-BE49-F238E27FC236}">
                <a16:creationId xmlns:a16="http://schemas.microsoft.com/office/drawing/2014/main" id="{EF52D235-D742-4DBC-75AE-A69EA72D61CA}"/>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21431" t="11896" r="18194" b="10307"/>
          <a:stretch/>
        </p:blipFill>
        <p:spPr bwMode="auto">
          <a:xfrm>
            <a:off x="8319813" y="2963446"/>
            <a:ext cx="2724841" cy="263525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6312601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79F39CC1-26B2-D1D3-CD4A-81E0CE7136E9}"/>
              </a:ext>
            </a:extLst>
          </p:cNvPr>
          <p:cNvSpPr>
            <a:spLocks noGrp="1"/>
          </p:cNvSpPr>
          <p:nvPr>
            <p:ph idx="1"/>
          </p:nvPr>
        </p:nvSpPr>
        <p:spPr>
          <a:xfrm>
            <a:off x="1097280" y="1864784"/>
            <a:ext cx="10058400" cy="4023360"/>
          </a:xfrm>
        </p:spPr>
        <p:txBody>
          <a:bodyPr/>
          <a:lstStyle/>
          <a:p>
            <a:pPr>
              <a:buFont typeface="Wingdings" panose="05000000000000000000" pitchFamily="2" charset="2"/>
              <a:buChar char="Ø"/>
            </a:pPr>
            <a:r>
              <a:rPr lang="zh-TW" altLang="en-US" dirty="0"/>
              <a:t> </a:t>
            </a:r>
            <a:r>
              <a:rPr lang="en-US" altLang="zh-TW" sz="2400" b="1" dirty="0">
                <a:latin typeface="Times New Roman" panose="02020603050405020304" pitchFamily="18" charset="0"/>
                <a:cs typeface="Times New Roman" panose="02020603050405020304" pitchFamily="18" charset="0"/>
              </a:rPr>
              <a:t>Timestep </a:t>
            </a:r>
            <a:r>
              <a:rPr lang="en-US" altLang="zh-TW" sz="2400" b="1" dirty="0">
                <a:solidFill>
                  <a:srgbClr val="FF0000"/>
                </a:solidFill>
                <a:latin typeface="Times New Roman" panose="02020603050405020304" pitchFamily="18" charset="0"/>
                <a:cs typeface="Times New Roman" panose="02020603050405020304" pitchFamily="18" charset="0"/>
              </a:rPr>
              <a:t>40</a:t>
            </a:r>
            <a:endParaRPr lang="zh-TW" altLang="en-US" sz="2400" b="1" dirty="0">
              <a:solidFill>
                <a:srgbClr val="FF0000"/>
              </a:solidFill>
              <a:latin typeface="Times New Roman" panose="02020603050405020304" pitchFamily="18" charset="0"/>
              <a:cs typeface="Times New Roman" panose="02020603050405020304" pitchFamily="18" charset="0"/>
            </a:endParaRPr>
          </a:p>
        </p:txBody>
      </p:sp>
      <p:sp>
        <p:nvSpPr>
          <p:cNvPr id="2" name="標題 1">
            <a:extLst>
              <a:ext uri="{FF2B5EF4-FFF2-40B4-BE49-F238E27FC236}">
                <a16:creationId xmlns:a16="http://schemas.microsoft.com/office/drawing/2014/main" id="{7404A615-9A6F-8FD5-FE09-46C27EBC5406}"/>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Experiments</a:t>
            </a:r>
            <a:endParaRPr lang="zh-TW" altLang="en-US" b="1"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BBC9401-DE94-9D9B-624B-0616EFC70D11}"/>
              </a:ext>
            </a:extLst>
          </p:cNvPr>
          <p:cNvSpPr>
            <a:spLocks noGrp="1"/>
          </p:cNvSpPr>
          <p:nvPr>
            <p:ph type="sldNum" sz="quarter" idx="12"/>
          </p:nvPr>
        </p:nvSpPr>
        <p:spPr/>
        <p:txBody>
          <a:bodyPr/>
          <a:lstStyle/>
          <a:p>
            <a:fld id="{83BADD90-1659-401A-8CB6-1FAE4798FEBF}" type="slidenum">
              <a:rPr lang="zh-TW" altLang="en-US" smtClean="0"/>
              <a:t>20</a:t>
            </a:fld>
            <a:endParaRPr lang="zh-TW" altLang="en-US"/>
          </a:p>
        </p:txBody>
      </p:sp>
      <p:pic>
        <p:nvPicPr>
          <p:cNvPr id="6" name="圖片 5">
            <a:extLst>
              <a:ext uri="{FF2B5EF4-FFF2-40B4-BE49-F238E27FC236}">
                <a16:creationId xmlns:a16="http://schemas.microsoft.com/office/drawing/2014/main" id="{550A61B2-CF0C-5032-F076-A7E7A3673E61}"/>
              </a:ext>
            </a:extLst>
          </p:cNvPr>
          <p:cNvPicPr>
            <a:picLocks noChangeAspect="1"/>
          </p:cNvPicPr>
          <p:nvPr/>
        </p:nvPicPr>
        <p:blipFill>
          <a:blip r:embed="rId2" cstate="print">
            <a:extLst>
              <a:ext uri="{28A0092B-C50C-407E-A947-70E740481C1C}">
                <a14:useLocalDpi xmlns:a14="http://schemas.microsoft.com/office/drawing/2010/main" val="0"/>
              </a:ext>
            </a:extLst>
          </a:blip>
          <a:srcRect l="22226" t="11920" r="19779" b="11047"/>
          <a:stretch/>
        </p:blipFill>
        <p:spPr bwMode="auto">
          <a:xfrm>
            <a:off x="1392747" y="2963446"/>
            <a:ext cx="2616200" cy="2608433"/>
          </a:xfrm>
          <a:prstGeom prst="rect">
            <a:avLst/>
          </a:prstGeom>
          <a:noFill/>
          <a:ln>
            <a:noFill/>
          </a:ln>
        </p:spPr>
      </p:pic>
      <p:sp>
        <p:nvSpPr>
          <p:cNvPr id="9" name="文字方塊 8">
            <a:extLst>
              <a:ext uri="{FF2B5EF4-FFF2-40B4-BE49-F238E27FC236}">
                <a16:creationId xmlns:a16="http://schemas.microsoft.com/office/drawing/2014/main" id="{04687280-4432-A2E3-158A-67186788DB0A}"/>
              </a:ext>
            </a:extLst>
          </p:cNvPr>
          <p:cNvSpPr txBox="1"/>
          <p:nvPr/>
        </p:nvSpPr>
        <p:spPr>
          <a:xfrm>
            <a:off x="2167447" y="2419350"/>
            <a:ext cx="1066800" cy="400110"/>
          </a:xfrm>
          <a:prstGeom prst="rect">
            <a:avLst/>
          </a:prstGeom>
          <a:noFill/>
        </p:spPr>
        <p:txBody>
          <a:bodyPr wrap="square" rtlCol="0">
            <a:spAutoFit/>
          </a:bodyPr>
          <a:lstStyle/>
          <a:p>
            <a:r>
              <a:rPr lang="en-US" altLang="zh-TW" sz="2000" dirty="0">
                <a:solidFill>
                  <a:schemeClr val="tx1">
                    <a:lumMod val="75000"/>
                    <a:lumOff val="25000"/>
                  </a:schemeClr>
                </a:solidFill>
                <a:latin typeface="Times New Roman" panose="02020603050405020304" pitchFamily="18" charset="0"/>
                <a:cs typeface="Times New Roman" panose="02020603050405020304" pitchFamily="18" charset="0"/>
              </a:rPr>
              <a:t>Original</a:t>
            </a:r>
            <a:endParaRPr lang="zh-TW" altLang="en-US" sz="20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7C67E765-05E3-BE1C-0E8F-6E4EB6912F21}"/>
              </a:ext>
            </a:extLst>
          </p:cNvPr>
          <p:cNvSpPr txBox="1"/>
          <p:nvPr/>
        </p:nvSpPr>
        <p:spPr>
          <a:xfrm>
            <a:off x="5295735" y="2419350"/>
            <a:ext cx="1791030" cy="400110"/>
          </a:xfrm>
          <a:prstGeom prst="rect">
            <a:avLst/>
          </a:prstGeom>
          <a:noFill/>
        </p:spPr>
        <p:txBody>
          <a:bodyPr wrap="square" rtlCol="0">
            <a:spAutoFit/>
          </a:bodyPr>
          <a:lstStyle/>
          <a:p>
            <a:r>
              <a:rPr lang="en-US" altLang="zh-TW" sz="2000" dirty="0">
                <a:solidFill>
                  <a:schemeClr val="tx1">
                    <a:lumMod val="75000"/>
                    <a:lumOff val="25000"/>
                  </a:schemeClr>
                </a:solidFill>
                <a:effectLst/>
                <a:latin typeface="Times New Roman" panose="02020603050405020304" pitchFamily="18" charset="0"/>
                <a:ea typeface="新細明體" panose="02020500000000000000" pitchFamily="18" charset="-120"/>
                <a:cs typeface="Times New Roman" panose="02020603050405020304" pitchFamily="18" charset="0"/>
              </a:rPr>
              <a:t>Gaussian noise</a:t>
            </a:r>
            <a:endParaRPr lang="zh-TW" altLang="en-US" sz="20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11" name="文字方塊 10">
            <a:extLst>
              <a:ext uri="{FF2B5EF4-FFF2-40B4-BE49-F238E27FC236}">
                <a16:creationId xmlns:a16="http://schemas.microsoft.com/office/drawing/2014/main" id="{C3BD06F6-7080-7C4A-ED8C-18B2937411E2}"/>
              </a:ext>
            </a:extLst>
          </p:cNvPr>
          <p:cNvSpPr txBox="1"/>
          <p:nvPr/>
        </p:nvSpPr>
        <p:spPr>
          <a:xfrm>
            <a:off x="8973437" y="2419350"/>
            <a:ext cx="1407095" cy="400110"/>
          </a:xfrm>
          <a:prstGeom prst="rect">
            <a:avLst/>
          </a:prstGeom>
          <a:noFill/>
        </p:spPr>
        <p:txBody>
          <a:bodyPr wrap="square" rtlCol="0">
            <a:spAutoFit/>
          </a:bodyPr>
          <a:lstStyle/>
          <a:p>
            <a:r>
              <a:rPr lang="en-US" altLang="zh-TW" sz="2000" dirty="0">
                <a:solidFill>
                  <a:schemeClr val="tx1">
                    <a:lumMod val="75000"/>
                    <a:lumOff val="25000"/>
                  </a:schemeClr>
                </a:solidFill>
                <a:effectLst/>
                <a:latin typeface="Times New Roman" panose="02020603050405020304" pitchFamily="18" charset="0"/>
                <a:ea typeface="新細明體" panose="02020500000000000000" pitchFamily="18" charset="-120"/>
                <a:cs typeface="Times New Roman" panose="02020603050405020304" pitchFamily="18" charset="0"/>
              </a:rPr>
              <a:t>S &amp; P noise</a:t>
            </a:r>
            <a:endParaRPr lang="zh-TW" altLang="en-US" sz="20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pic>
        <p:nvPicPr>
          <p:cNvPr id="8" name="圖片 7">
            <a:extLst>
              <a:ext uri="{FF2B5EF4-FFF2-40B4-BE49-F238E27FC236}">
                <a16:creationId xmlns:a16="http://schemas.microsoft.com/office/drawing/2014/main" id="{8F979FA9-71F3-2B8F-92D8-6DBD256A4622}"/>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0962" t="12367" r="18404" b="12756"/>
          <a:stretch/>
        </p:blipFill>
        <p:spPr bwMode="auto">
          <a:xfrm>
            <a:off x="4722725" y="2963446"/>
            <a:ext cx="2815527" cy="2608433"/>
          </a:xfrm>
          <a:prstGeom prst="rect">
            <a:avLst/>
          </a:prstGeom>
          <a:noFill/>
          <a:ln>
            <a:noFill/>
          </a:ln>
          <a:extLst>
            <a:ext uri="{53640926-AAD7-44D8-BBD7-CCE9431645EC}">
              <a14:shadowObscured xmlns:a14="http://schemas.microsoft.com/office/drawing/2010/main"/>
            </a:ext>
          </a:extLst>
        </p:spPr>
      </p:pic>
      <p:pic>
        <p:nvPicPr>
          <p:cNvPr id="12" name="圖片 11">
            <a:extLst>
              <a:ext uri="{FF2B5EF4-FFF2-40B4-BE49-F238E27FC236}">
                <a16:creationId xmlns:a16="http://schemas.microsoft.com/office/drawing/2014/main" id="{F0A4547D-FE03-FF64-BBC9-2EAA92637B0A}"/>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21444" t="11747" r="18178" b="10977"/>
          <a:stretch/>
        </p:blipFill>
        <p:spPr bwMode="auto">
          <a:xfrm>
            <a:off x="8315560" y="2946072"/>
            <a:ext cx="2733675" cy="2625807"/>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1058957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79F39CC1-26B2-D1D3-CD4A-81E0CE7136E9}"/>
              </a:ext>
            </a:extLst>
          </p:cNvPr>
          <p:cNvSpPr>
            <a:spLocks noGrp="1"/>
          </p:cNvSpPr>
          <p:nvPr>
            <p:ph idx="1"/>
          </p:nvPr>
        </p:nvSpPr>
        <p:spPr>
          <a:xfrm>
            <a:off x="1097280" y="1864784"/>
            <a:ext cx="10058400" cy="4023360"/>
          </a:xfrm>
        </p:spPr>
        <p:txBody>
          <a:bodyPr/>
          <a:lstStyle/>
          <a:p>
            <a:pPr>
              <a:buFont typeface="Wingdings" panose="05000000000000000000" pitchFamily="2" charset="2"/>
              <a:buChar char="Ø"/>
            </a:pPr>
            <a:r>
              <a:rPr lang="zh-TW" altLang="en-US" dirty="0"/>
              <a:t> </a:t>
            </a:r>
            <a:r>
              <a:rPr lang="en-US" altLang="zh-TW" sz="2400" b="1" dirty="0">
                <a:latin typeface="Times New Roman" panose="02020603050405020304" pitchFamily="18" charset="0"/>
                <a:cs typeface="Times New Roman" panose="02020603050405020304" pitchFamily="18" charset="0"/>
              </a:rPr>
              <a:t>Timestep </a:t>
            </a:r>
            <a:r>
              <a:rPr lang="en-US" altLang="zh-TW" sz="2400" b="1" dirty="0">
                <a:solidFill>
                  <a:srgbClr val="FF0000"/>
                </a:solidFill>
                <a:latin typeface="Times New Roman" panose="02020603050405020304" pitchFamily="18" charset="0"/>
                <a:cs typeface="Times New Roman" panose="02020603050405020304" pitchFamily="18" charset="0"/>
              </a:rPr>
              <a:t>90</a:t>
            </a:r>
            <a:endParaRPr lang="zh-TW" altLang="en-US" sz="2400" b="1" dirty="0">
              <a:solidFill>
                <a:srgbClr val="FF0000"/>
              </a:solidFill>
              <a:latin typeface="Times New Roman" panose="02020603050405020304" pitchFamily="18" charset="0"/>
              <a:cs typeface="Times New Roman" panose="02020603050405020304" pitchFamily="18" charset="0"/>
            </a:endParaRPr>
          </a:p>
        </p:txBody>
      </p:sp>
      <p:sp>
        <p:nvSpPr>
          <p:cNvPr id="2" name="標題 1">
            <a:extLst>
              <a:ext uri="{FF2B5EF4-FFF2-40B4-BE49-F238E27FC236}">
                <a16:creationId xmlns:a16="http://schemas.microsoft.com/office/drawing/2014/main" id="{7404A615-9A6F-8FD5-FE09-46C27EBC5406}"/>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Experiments</a:t>
            </a:r>
            <a:endParaRPr lang="zh-TW" altLang="en-US" b="1"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BBC9401-DE94-9D9B-624B-0616EFC70D11}"/>
              </a:ext>
            </a:extLst>
          </p:cNvPr>
          <p:cNvSpPr>
            <a:spLocks noGrp="1"/>
          </p:cNvSpPr>
          <p:nvPr>
            <p:ph type="sldNum" sz="quarter" idx="12"/>
          </p:nvPr>
        </p:nvSpPr>
        <p:spPr/>
        <p:txBody>
          <a:bodyPr/>
          <a:lstStyle/>
          <a:p>
            <a:fld id="{83BADD90-1659-401A-8CB6-1FAE4798FEBF}" type="slidenum">
              <a:rPr lang="zh-TW" altLang="en-US" smtClean="0"/>
              <a:t>21</a:t>
            </a:fld>
            <a:endParaRPr lang="zh-TW" altLang="en-US"/>
          </a:p>
        </p:txBody>
      </p:sp>
      <p:pic>
        <p:nvPicPr>
          <p:cNvPr id="6" name="圖片 5">
            <a:extLst>
              <a:ext uri="{FF2B5EF4-FFF2-40B4-BE49-F238E27FC236}">
                <a16:creationId xmlns:a16="http://schemas.microsoft.com/office/drawing/2014/main" id="{550A61B2-CF0C-5032-F076-A7E7A3673E61}"/>
              </a:ext>
            </a:extLst>
          </p:cNvPr>
          <p:cNvPicPr>
            <a:picLocks noChangeAspect="1"/>
          </p:cNvPicPr>
          <p:nvPr/>
        </p:nvPicPr>
        <p:blipFill>
          <a:blip r:embed="rId2" cstate="print">
            <a:extLst>
              <a:ext uri="{28A0092B-C50C-407E-A947-70E740481C1C}">
                <a14:useLocalDpi xmlns:a14="http://schemas.microsoft.com/office/drawing/2010/main" val="0"/>
              </a:ext>
            </a:extLst>
          </a:blip>
          <a:srcRect l="22226" t="11920" r="19779" b="11047"/>
          <a:stretch/>
        </p:blipFill>
        <p:spPr bwMode="auto">
          <a:xfrm>
            <a:off x="1392747" y="2963446"/>
            <a:ext cx="2616200" cy="2608433"/>
          </a:xfrm>
          <a:prstGeom prst="rect">
            <a:avLst/>
          </a:prstGeom>
          <a:noFill/>
          <a:ln>
            <a:noFill/>
          </a:ln>
        </p:spPr>
      </p:pic>
      <p:sp>
        <p:nvSpPr>
          <p:cNvPr id="9" name="文字方塊 8">
            <a:extLst>
              <a:ext uri="{FF2B5EF4-FFF2-40B4-BE49-F238E27FC236}">
                <a16:creationId xmlns:a16="http://schemas.microsoft.com/office/drawing/2014/main" id="{04687280-4432-A2E3-158A-67186788DB0A}"/>
              </a:ext>
            </a:extLst>
          </p:cNvPr>
          <p:cNvSpPr txBox="1"/>
          <p:nvPr/>
        </p:nvSpPr>
        <p:spPr>
          <a:xfrm>
            <a:off x="2167447" y="2419350"/>
            <a:ext cx="1066800" cy="400110"/>
          </a:xfrm>
          <a:prstGeom prst="rect">
            <a:avLst/>
          </a:prstGeom>
          <a:noFill/>
        </p:spPr>
        <p:txBody>
          <a:bodyPr wrap="square" rtlCol="0">
            <a:spAutoFit/>
          </a:bodyPr>
          <a:lstStyle/>
          <a:p>
            <a:r>
              <a:rPr lang="en-US" altLang="zh-TW" sz="2000" dirty="0">
                <a:solidFill>
                  <a:schemeClr val="tx1">
                    <a:lumMod val="75000"/>
                    <a:lumOff val="25000"/>
                  </a:schemeClr>
                </a:solidFill>
                <a:latin typeface="Times New Roman" panose="02020603050405020304" pitchFamily="18" charset="0"/>
                <a:cs typeface="Times New Roman" panose="02020603050405020304" pitchFamily="18" charset="0"/>
              </a:rPr>
              <a:t>Original</a:t>
            </a:r>
            <a:endParaRPr lang="zh-TW" altLang="en-US" sz="20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7C67E765-05E3-BE1C-0E8F-6E4EB6912F21}"/>
              </a:ext>
            </a:extLst>
          </p:cNvPr>
          <p:cNvSpPr txBox="1"/>
          <p:nvPr/>
        </p:nvSpPr>
        <p:spPr>
          <a:xfrm>
            <a:off x="5295735" y="2419350"/>
            <a:ext cx="1791030" cy="400110"/>
          </a:xfrm>
          <a:prstGeom prst="rect">
            <a:avLst/>
          </a:prstGeom>
          <a:noFill/>
        </p:spPr>
        <p:txBody>
          <a:bodyPr wrap="square" rtlCol="0">
            <a:spAutoFit/>
          </a:bodyPr>
          <a:lstStyle/>
          <a:p>
            <a:r>
              <a:rPr lang="en-US" altLang="zh-TW" sz="2000" dirty="0">
                <a:solidFill>
                  <a:schemeClr val="tx1">
                    <a:lumMod val="75000"/>
                    <a:lumOff val="25000"/>
                  </a:schemeClr>
                </a:solidFill>
                <a:effectLst/>
                <a:latin typeface="Times New Roman" panose="02020603050405020304" pitchFamily="18" charset="0"/>
                <a:ea typeface="新細明體" panose="02020500000000000000" pitchFamily="18" charset="-120"/>
                <a:cs typeface="Times New Roman" panose="02020603050405020304" pitchFamily="18" charset="0"/>
              </a:rPr>
              <a:t>Gaussian noise</a:t>
            </a:r>
            <a:endParaRPr lang="zh-TW" altLang="en-US" sz="20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11" name="文字方塊 10">
            <a:extLst>
              <a:ext uri="{FF2B5EF4-FFF2-40B4-BE49-F238E27FC236}">
                <a16:creationId xmlns:a16="http://schemas.microsoft.com/office/drawing/2014/main" id="{C3BD06F6-7080-7C4A-ED8C-18B2937411E2}"/>
              </a:ext>
            </a:extLst>
          </p:cNvPr>
          <p:cNvSpPr txBox="1"/>
          <p:nvPr/>
        </p:nvSpPr>
        <p:spPr>
          <a:xfrm>
            <a:off x="8973437" y="2419350"/>
            <a:ext cx="1407095" cy="400110"/>
          </a:xfrm>
          <a:prstGeom prst="rect">
            <a:avLst/>
          </a:prstGeom>
          <a:noFill/>
        </p:spPr>
        <p:txBody>
          <a:bodyPr wrap="square" rtlCol="0">
            <a:spAutoFit/>
          </a:bodyPr>
          <a:lstStyle/>
          <a:p>
            <a:r>
              <a:rPr lang="en-US" altLang="zh-TW" sz="2000" dirty="0">
                <a:solidFill>
                  <a:schemeClr val="tx1">
                    <a:lumMod val="75000"/>
                    <a:lumOff val="25000"/>
                  </a:schemeClr>
                </a:solidFill>
                <a:effectLst/>
                <a:latin typeface="Times New Roman" panose="02020603050405020304" pitchFamily="18" charset="0"/>
                <a:ea typeface="新細明體" panose="02020500000000000000" pitchFamily="18" charset="-120"/>
                <a:cs typeface="Times New Roman" panose="02020603050405020304" pitchFamily="18" charset="0"/>
              </a:rPr>
              <a:t>S &amp; P noise</a:t>
            </a:r>
            <a:endParaRPr lang="zh-TW" altLang="en-US" sz="20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pic>
        <p:nvPicPr>
          <p:cNvPr id="5" name="圖片 4">
            <a:extLst>
              <a:ext uri="{FF2B5EF4-FFF2-40B4-BE49-F238E27FC236}">
                <a16:creationId xmlns:a16="http://schemas.microsoft.com/office/drawing/2014/main" id="{53C63833-4D6A-8CCA-76C7-950D7D653DF7}"/>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0907" t="11916" r="18765" b="10935"/>
          <a:stretch/>
        </p:blipFill>
        <p:spPr bwMode="auto">
          <a:xfrm>
            <a:off x="4764405" y="2957528"/>
            <a:ext cx="2724150" cy="2614351"/>
          </a:xfrm>
          <a:prstGeom prst="rect">
            <a:avLst/>
          </a:prstGeom>
          <a:noFill/>
          <a:ln>
            <a:noFill/>
          </a:ln>
          <a:extLst>
            <a:ext uri="{53640926-AAD7-44D8-BBD7-CCE9431645EC}">
              <a14:shadowObscured xmlns:a14="http://schemas.microsoft.com/office/drawing/2010/main"/>
            </a:ext>
          </a:extLst>
        </p:spPr>
      </p:pic>
      <p:pic>
        <p:nvPicPr>
          <p:cNvPr id="7" name="圖片 6">
            <a:extLst>
              <a:ext uri="{FF2B5EF4-FFF2-40B4-BE49-F238E27FC236}">
                <a16:creationId xmlns:a16="http://schemas.microsoft.com/office/drawing/2014/main" id="{85C107B9-4DED-4426-9BAB-DA78570AF0F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20702" t="11639" r="18720" b="11943"/>
          <a:stretch/>
        </p:blipFill>
        <p:spPr bwMode="auto">
          <a:xfrm>
            <a:off x="8290188" y="2958706"/>
            <a:ext cx="2772920" cy="262521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3776344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C90A803-9A15-06C5-107A-9438A7D286A0}"/>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Experiments</a:t>
            </a:r>
            <a:endParaRPr lang="zh-TW" altLang="en-US" dirty="0"/>
          </a:p>
        </p:txBody>
      </p:sp>
      <p:sp>
        <p:nvSpPr>
          <p:cNvPr id="3" name="內容版面配置區 2">
            <a:extLst>
              <a:ext uri="{FF2B5EF4-FFF2-40B4-BE49-F238E27FC236}">
                <a16:creationId xmlns:a16="http://schemas.microsoft.com/office/drawing/2014/main" id="{5A4F22B2-E66A-FC94-7B10-BB31C2B40ED0}"/>
              </a:ext>
            </a:extLst>
          </p:cNvPr>
          <p:cNvSpPr>
            <a:spLocks noGrp="1"/>
          </p:cNvSpPr>
          <p:nvPr>
            <p:ph idx="1"/>
          </p:nvPr>
        </p:nvSpPr>
        <p:spPr/>
        <p:txBody>
          <a:bodyPr/>
          <a:lstStyle/>
          <a:p>
            <a:pPr>
              <a:buFont typeface="Wingdings" panose="05000000000000000000" pitchFamily="2" charset="2"/>
              <a:buChar char="Ø"/>
            </a:pPr>
            <a:r>
              <a:rPr lang="zh-TW" altLang="en-US" dirty="0"/>
              <a:t> </a:t>
            </a:r>
            <a:r>
              <a:rPr lang="en-US" altLang="zh-TW" sz="2400" b="1" dirty="0">
                <a:latin typeface="Times New Roman" panose="02020603050405020304" pitchFamily="18" charset="0"/>
                <a:cs typeface="Times New Roman" panose="02020603050405020304" pitchFamily="18" charset="0"/>
              </a:rPr>
              <a:t>Gaussian noise</a:t>
            </a:r>
            <a:endParaRPr lang="zh-TW" altLang="en-US" sz="2400" b="1"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DD86F4E4-A339-4490-87DC-71F5C0C6948D}"/>
              </a:ext>
            </a:extLst>
          </p:cNvPr>
          <p:cNvSpPr>
            <a:spLocks noGrp="1"/>
          </p:cNvSpPr>
          <p:nvPr>
            <p:ph type="sldNum" sz="quarter" idx="12"/>
          </p:nvPr>
        </p:nvSpPr>
        <p:spPr/>
        <p:txBody>
          <a:bodyPr/>
          <a:lstStyle/>
          <a:p>
            <a:fld id="{83BADD90-1659-401A-8CB6-1FAE4798FEBF}" type="slidenum">
              <a:rPr lang="zh-TW" altLang="en-US" smtClean="0"/>
              <a:t>22</a:t>
            </a:fld>
            <a:endParaRPr lang="zh-TW" altLang="en-US"/>
          </a:p>
        </p:txBody>
      </p:sp>
      <p:pic>
        <p:nvPicPr>
          <p:cNvPr id="5" name="圖片 4">
            <a:extLst>
              <a:ext uri="{FF2B5EF4-FFF2-40B4-BE49-F238E27FC236}">
                <a16:creationId xmlns:a16="http://schemas.microsoft.com/office/drawing/2014/main" id="{E41DB24A-3016-6076-572E-BEAE8B47819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97279" y="2495232"/>
            <a:ext cx="4435535" cy="3327718"/>
          </a:xfrm>
          <a:prstGeom prst="rect">
            <a:avLst/>
          </a:prstGeom>
          <a:noFill/>
          <a:ln>
            <a:noFill/>
          </a:ln>
        </p:spPr>
      </p:pic>
      <p:pic>
        <p:nvPicPr>
          <p:cNvPr id="6" name="圖片 5">
            <a:extLst>
              <a:ext uri="{FF2B5EF4-FFF2-40B4-BE49-F238E27FC236}">
                <a16:creationId xmlns:a16="http://schemas.microsoft.com/office/drawing/2014/main" id="{ADC9E03B-22DC-95EE-0FE7-1AF2E7F2D5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59944" y="2495232"/>
            <a:ext cx="4434776" cy="3327718"/>
          </a:xfrm>
          <a:prstGeom prst="rect">
            <a:avLst/>
          </a:prstGeom>
          <a:noFill/>
          <a:ln>
            <a:noFill/>
          </a:ln>
        </p:spPr>
      </p:pic>
      <p:cxnSp>
        <p:nvCxnSpPr>
          <p:cNvPr id="8" name="直線接點 7">
            <a:extLst>
              <a:ext uri="{FF2B5EF4-FFF2-40B4-BE49-F238E27FC236}">
                <a16:creationId xmlns:a16="http://schemas.microsoft.com/office/drawing/2014/main" id="{79A253FF-DF1E-879D-BA17-5ACE7C06A696}"/>
              </a:ext>
            </a:extLst>
          </p:cNvPr>
          <p:cNvCxnSpPr>
            <a:cxnSpLocks/>
          </p:cNvCxnSpPr>
          <p:nvPr/>
        </p:nvCxnSpPr>
        <p:spPr>
          <a:xfrm>
            <a:off x="2660650" y="3022600"/>
            <a:ext cx="0" cy="2418080"/>
          </a:xfrm>
          <a:prstGeom prst="line">
            <a:avLst/>
          </a:prstGeom>
          <a:ln w="2540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11" name="直線接點 10">
            <a:extLst>
              <a:ext uri="{FF2B5EF4-FFF2-40B4-BE49-F238E27FC236}">
                <a16:creationId xmlns:a16="http://schemas.microsoft.com/office/drawing/2014/main" id="{571D92AC-D7B7-F996-ADE9-1A8E5165FA96}"/>
              </a:ext>
            </a:extLst>
          </p:cNvPr>
          <p:cNvCxnSpPr>
            <a:cxnSpLocks/>
          </p:cNvCxnSpPr>
          <p:nvPr/>
        </p:nvCxnSpPr>
        <p:spPr>
          <a:xfrm>
            <a:off x="8223250" y="3022600"/>
            <a:ext cx="0" cy="2418080"/>
          </a:xfrm>
          <a:prstGeom prst="line">
            <a:avLst/>
          </a:prstGeom>
          <a:ln w="25400">
            <a:solidFill>
              <a:srgbClr val="FF0000"/>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43825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C90A803-9A15-06C5-107A-9438A7D286A0}"/>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Experiments</a:t>
            </a:r>
            <a:endParaRPr lang="zh-TW" altLang="en-US" dirty="0"/>
          </a:p>
        </p:txBody>
      </p:sp>
      <p:sp>
        <p:nvSpPr>
          <p:cNvPr id="3" name="內容版面配置區 2">
            <a:extLst>
              <a:ext uri="{FF2B5EF4-FFF2-40B4-BE49-F238E27FC236}">
                <a16:creationId xmlns:a16="http://schemas.microsoft.com/office/drawing/2014/main" id="{5A4F22B2-E66A-FC94-7B10-BB31C2B40ED0}"/>
              </a:ext>
            </a:extLst>
          </p:cNvPr>
          <p:cNvSpPr>
            <a:spLocks noGrp="1"/>
          </p:cNvSpPr>
          <p:nvPr>
            <p:ph idx="1"/>
          </p:nvPr>
        </p:nvSpPr>
        <p:spPr/>
        <p:txBody>
          <a:bodyPr/>
          <a:lstStyle/>
          <a:p>
            <a:pPr>
              <a:buFont typeface="Wingdings" panose="05000000000000000000" pitchFamily="2" charset="2"/>
              <a:buChar char="Ø"/>
            </a:pPr>
            <a:r>
              <a:rPr lang="zh-TW" altLang="en-US" dirty="0"/>
              <a:t> </a:t>
            </a:r>
            <a:r>
              <a:rPr lang="en-US" altLang="zh-TW" sz="2400" b="1" dirty="0">
                <a:latin typeface="Times New Roman" panose="02020603050405020304" pitchFamily="18" charset="0"/>
                <a:cs typeface="Times New Roman" panose="02020603050405020304" pitchFamily="18" charset="0"/>
              </a:rPr>
              <a:t>S &amp; P noise</a:t>
            </a:r>
            <a:endParaRPr lang="zh-TW" altLang="en-US" sz="2400" b="1"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DD86F4E4-A339-4490-87DC-71F5C0C6948D}"/>
              </a:ext>
            </a:extLst>
          </p:cNvPr>
          <p:cNvSpPr>
            <a:spLocks noGrp="1"/>
          </p:cNvSpPr>
          <p:nvPr>
            <p:ph type="sldNum" sz="quarter" idx="12"/>
          </p:nvPr>
        </p:nvSpPr>
        <p:spPr/>
        <p:txBody>
          <a:bodyPr/>
          <a:lstStyle/>
          <a:p>
            <a:fld id="{83BADD90-1659-401A-8CB6-1FAE4798FEBF}" type="slidenum">
              <a:rPr lang="zh-TW" altLang="en-US" smtClean="0"/>
              <a:t>23</a:t>
            </a:fld>
            <a:endParaRPr lang="zh-TW" altLang="en-US"/>
          </a:p>
        </p:txBody>
      </p:sp>
      <p:pic>
        <p:nvPicPr>
          <p:cNvPr id="7" name="圖片 6">
            <a:extLst>
              <a:ext uri="{FF2B5EF4-FFF2-40B4-BE49-F238E27FC236}">
                <a16:creationId xmlns:a16="http://schemas.microsoft.com/office/drawing/2014/main" id="{428CDC60-9578-C735-137C-B0DF453A2AAF}"/>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97280" y="2464117"/>
            <a:ext cx="4531668" cy="3402120"/>
          </a:xfrm>
          <a:prstGeom prst="rect">
            <a:avLst/>
          </a:prstGeom>
          <a:noFill/>
          <a:ln>
            <a:noFill/>
          </a:ln>
        </p:spPr>
      </p:pic>
      <p:pic>
        <p:nvPicPr>
          <p:cNvPr id="8" name="圖片 7">
            <a:extLst>
              <a:ext uri="{FF2B5EF4-FFF2-40B4-BE49-F238E27FC236}">
                <a16:creationId xmlns:a16="http://schemas.microsoft.com/office/drawing/2014/main" id="{7EF1E2E0-8E68-D0D1-EB00-B3B2DC473FD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0799" y="2464117"/>
            <a:ext cx="4533921" cy="3402120"/>
          </a:xfrm>
          <a:prstGeom prst="rect">
            <a:avLst/>
          </a:prstGeom>
          <a:noFill/>
          <a:ln>
            <a:noFill/>
          </a:ln>
        </p:spPr>
      </p:pic>
      <p:cxnSp>
        <p:nvCxnSpPr>
          <p:cNvPr id="9" name="直線接點 8">
            <a:extLst>
              <a:ext uri="{FF2B5EF4-FFF2-40B4-BE49-F238E27FC236}">
                <a16:creationId xmlns:a16="http://schemas.microsoft.com/office/drawing/2014/main" id="{F11C23AA-22F1-CE19-09ED-156DC6ADD15A}"/>
              </a:ext>
            </a:extLst>
          </p:cNvPr>
          <p:cNvCxnSpPr>
            <a:cxnSpLocks/>
          </p:cNvCxnSpPr>
          <p:nvPr/>
        </p:nvCxnSpPr>
        <p:spPr>
          <a:xfrm>
            <a:off x="3275330" y="3012440"/>
            <a:ext cx="0" cy="2453640"/>
          </a:xfrm>
          <a:prstGeom prst="line">
            <a:avLst/>
          </a:prstGeom>
          <a:ln w="2540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11" name="直線接點 10">
            <a:extLst>
              <a:ext uri="{FF2B5EF4-FFF2-40B4-BE49-F238E27FC236}">
                <a16:creationId xmlns:a16="http://schemas.microsoft.com/office/drawing/2014/main" id="{E934953F-7EAD-80B7-C900-3315C99FB08E}"/>
              </a:ext>
            </a:extLst>
          </p:cNvPr>
          <p:cNvCxnSpPr>
            <a:cxnSpLocks/>
          </p:cNvCxnSpPr>
          <p:nvPr/>
        </p:nvCxnSpPr>
        <p:spPr>
          <a:xfrm>
            <a:off x="8736330" y="3012440"/>
            <a:ext cx="0" cy="2453640"/>
          </a:xfrm>
          <a:prstGeom prst="line">
            <a:avLst/>
          </a:prstGeom>
          <a:ln w="25400">
            <a:solidFill>
              <a:srgbClr val="FF0000"/>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87412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5EE654A-ADD1-EA64-BE70-03B1D96A9A9B}"/>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Conclusions</a:t>
            </a:r>
            <a:endParaRPr lang="zh-TW" altLang="en-US"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11B73142-3A09-5F35-5AD3-C675DB5E036C}"/>
              </a:ext>
            </a:extLst>
          </p:cNvPr>
          <p:cNvSpPr>
            <a:spLocks noGrp="1"/>
          </p:cNvSpPr>
          <p:nvPr>
            <p:ph idx="1"/>
          </p:nvPr>
        </p:nvSpPr>
        <p:spPr/>
        <p:txBody>
          <a:bodyPr/>
          <a:lstStyle/>
          <a:p>
            <a:pPr algn="just">
              <a:lnSpc>
                <a:spcPct val="150000"/>
              </a:lnSpc>
              <a:buFont typeface="Wingdings" panose="05000000000000000000" pitchFamily="2" charset="2"/>
              <a:buChar char="Ø"/>
            </a:pP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Our proposed method enables the generation of new types of images without the necessity of retraining a DDPM from scratch. </a:t>
            </a:r>
            <a:r>
              <a:rPr lang="en-US" altLang="zh-TW" b="1" dirty="0">
                <a:latin typeface="Times New Roman" panose="02020603050405020304" pitchFamily="18" charset="0"/>
                <a:cs typeface="Times New Roman" panose="02020603050405020304" pitchFamily="18" charset="0"/>
              </a:rPr>
              <a:t>Theoretically, any pre-trained DDPM are capable of the  denoising task</a:t>
            </a:r>
            <a:r>
              <a:rPr lang="en-US" altLang="zh-TW" dirty="0">
                <a:latin typeface="Times New Roman" panose="02020603050405020304" pitchFamily="18" charset="0"/>
                <a:cs typeface="Times New Roman" panose="02020603050405020304" pitchFamily="18" charset="0"/>
              </a:rPr>
              <a:t>. This approach allows us to </a:t>
            </a:r>
            <a:r>
              <a:rPr lang="en-US" altLang="zh-TW" b="1" dirty="0">
                <a:solidFill>
                  <a:srgbClr val="FF0000"/>
                </a:solidFill>
                <a:latin typeface="Times New Roman" panose="02020603050405020304" pitchFamily="18" charset="0"/>
                <a:cs typeface="Times New Roman" panose="02020603050405020304" pitchFamily="18" charset="0"/>
              </a:rPr>
              <a:t>reduce the number of timesteps from the typical hundreds to fewer than 50, significantly accelerating the process</a:t>
            </a:r>
            <a:r>
              <a:rPr lang="en-US" altLang="zh-TW" dirty="0">
                <a:latin typeface="Times New Roman" panose="02020603050405020304" pitchFamily="18" charset="0"/>
                <a:cs typeface="Times New Roman" panose="02020603050405020304" pitchFamily="18" charset="0"/>
              </a:rPr>
              <a:t>. Given that DDPMs are specifically designed for denoising, the results remain highly effective, preserving the quality of the generated images. Consequently, this method is both efficient and practical for applications in medical imaging.</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4BB5DB5-8699-CFB2-CE88-9FC9C9B3B0CD}"/>
              </a:ext>
            </a:extLst>
          </p:cNvPr>
          <p:cNvSpPr>
            <a:spLocks noGrp="1"/>
          </p:cNvSpPr>
          <p:nvPr>
            <p:ph type="sldNum" sz="quarter" idx="12"/>
          </p:nvPr>
        </p:nvSpPr>
        <p:spPr/>
        <p:txBody>
          <a:bodyPr/>
          <a:lstStyle/>
          <a:p>
            <a:fld id="{83BADD90-1659-401A-8CB6-1FAE4798FEBF}" type="slidenum">
              <a:rPr lang="zh-TW" altLang="en-US" smtClean="0"/>
              <a:t>24</a:t>
            </a:fld>
            <a:endParaRPr lang="zh-TW" altLang="en-US"/>
          </a:p>
        </p:txBody>
      </p:sp>
    </p:spTree>
    <p:extLst>
      <p:ext uri="{BB962C8B-B14F-4D97-AF65-F5344CB8AC3E}">
        <p14:creationId xmlns:p14="http://schemas.microsoft.com/office/powerpoint/2010/main" val="39185131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04AE8AC-7F84-7850-64B9-10E517B6E306}"/>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References</a:t>
            </a:r>
            <a:endParaRPr lang="zh-TW" altLang="en-US"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1EE37766-9D19-FA08-68E2-ABE912F516A4}"/>
              </a:ext>
            </a:extLst>
          </p:cNvPr>
          <p:cNvSpPr>
            <a:spLocks noGrp="1"/>
          </p:cNvSpPr>
          <p:nvPr>
            <p:ph idx="1"/>
          </p:nvPr>
        </p:nvSpPr>
        <p:spPr/>
        <p:txBody>
          <a:bodyPr>
            <a:normAutofit/>
          </a:bodyPr>
          <a:lstStyle/>
          <a:p>
            <a:r>
              <a:rPr lang="en-US" altLang="zh-TW" u="sng" kern="100" dirty="0">
                <a:solidFill>
                  <a:srgbClr val="0000FF"/>
                </a:solidFill>
                <a:effectLst/>
                <a:latin typeface="Times New Roman" panose="02020603050405020304" pitchFamily="18" charset="0"/>
                <a:ea typeface="KaiTi" panose="02010609060101010101" pitchFamily="49" charset="-122"/>
                <a:cs typeface="Times New Roman" panose="02020603050405020304" pitchFamily="18" charset="0"/>
                <a:hlinkClick r:id="rId2"/>
              </a:rPr>
              <a:t>Project-MONAI/MONAI: AI Toolkit for Healthcare Imaging</a:t>
            </a:r>
            <a:endParaRPr lang="zh-TW" altLang="zh-TW" kern="100" dirty="0">
              <a:effectLst/>
              <a:latin typeface="Times New Roman" panose="02020603050405020304" pitchFamily="18" charset="0"/>
              <a:ea typeface="KaiTi" panose="02010609060101010101" pitchFamily="49" charset="-122"/>
              <a:cs typeface="Times New Roman" panose="02020603050405020304" pitchFamily="18" charset="0"/>
            </a:endParaRPr>
          </a:p>
          <a:p>
            <a:r>
              <a:rPr lang="en-US" altLang="zh-TW" u="sng" kern="100" dirty="0" err="1">
                <a:solidFill>
                  <a:srgbClr val="0000FF"/>
                </a:solidFill>
                <a:effectLst/>
                <a:latin typeface="Times New Roman" panose="02020603050405020304" pitchFamily="18" charset="0"/>
                <a:ea typeface="KaiTi" panose="02010609060101010101" pitchFamily="49" charset="-122"/>
                <a:cs typeface="Times New Roman" panose="02020603050405020304" pitchFamily="18" charset="0"/>
                <a:hlinkClick r:id="rId3"/>
              </a:rPr>
              <a:t>mednist_GAN_tutorial.ipynb</a:t>
            </a:r>
            <a:r>
              <a:rPr lang="en-US" altLang="zh-TW" u="sng" kern="100" dirty="0">
                <a:solidFill>
                  <a:srgbClr val="0000FF"/>
                </a:solidFill>
                <a:effectLst/>
                <a:latin typeface="Times New Roman" panose="02020603050405020304" pitchFamily="18" charset="0"/>
                <a:ea typeface="KaiTi" panose="02010609060101010101" pitchFamily="49" charset="-122"/>
                <a:cs typeface="Times New Roman" panose="02020603050405020304" pitchFamily="18" charset="0"/>
                <a:hlinkClick r:id="rId3"/>
              </a:rPr>
              <a:t> - </a:t>
            </a:r>
            <a:r>
              <a:rPr lang="en-US" altLang="zh-TW" u="sng" kern="100" dirty="0" err="1">
                <a:solidFill>
                  <a:srgbClr val="0000FF"/>
                </a:solidFill>
                <a:effectLst/>
                <a:latin typeface="Times New Roman" panose="02020603050405020304" pitchFamily="18" charset="0"/>
                <a:ea typeface="KaiTi" panose="02010609060101010101" pitchFamily="49" charset="-122"/>
                <a:cs typeface="Times New Roman" panose="02020603050405020304" pitchFamily="18" charset="0"/>
                <a:hlinkClick r:id="rId3"/>
              </a:rPr>
              <a:t>Colab</a:t>
            </a:r>
            <a:endParaRPr lang="zh-TW" altLang="zh-TW" kern="100" dirty="0">
              <a:effectLst/>
              <a:latin typeface="Times New Roman" panose="02020603050405020304" pitchFamily="18" charset="0"/>
              <a:ea typeface="KaiTi" panose="02010609060101010101" pitchFamily="49" charset="-122"/>
              <a:cs typeface="Times New Roman" panose="02020603050405020304" pitchFamily="18" charset="0"/>
            </a:endParaRPr>
          </a:p>
          <a:p>
            <a:r>
              <a:rPr lang="en-US" altLang="zh-TW" u="sng" kern="100" dirty="0" err="1">
                <a:solidFill>
                  <a:srgbClr val="0000FF"/>
                </a:solidFill>
                <a:effectLst/>
                <a:latin typeface="Times New Roman" panose="02020603050405020304" pitchFamily="18" charset="0"/>
                <a:ea typeface="KaiTi" panose="02010609060101010101" pitchFamily="49" charset="-122"/>
                <a:cs typeface="Times New Roman" panose="02020603050405020304" pitchFamily="18" charset="0"/>
                <a:hlinkClick r:id="rId4"/>
              </a:rPr>
              <a:t>autoencoder_mednist.ipynb</a:t>
            </a:r>
            <a:r>
              <a:rPr lang="en-US" altLang="zh-TW" u="sng" kern="100" dirty="0">
                <a:solidFill>
                  <a:srgbClr val="0000FF"/>
                </a:solidFill>
                <a:effectLst/>
                <a:latin typeface="Times New Roman" panose="02020603050405020304" pitchFamily="18" charset="0"/>
                <a:ea typeface="KaiTi" panose="02010609060101010101" pitchFamily="49" charset="-122"/>
                <a:cs typeface="Times New Roman" panose="02020603050405020304" pitchFamily="18" charset="0"/>
                <a:hlinkClick r:id="rId4"/>
              </a:rPr>
              <a:t> - </a:t>
            </a:r>
            <a:r>
              <a:rPr lang="en-US" altLang="zh-TW" u="sng" kern="100" dirty="0" err="1">
                <a:solidFill>
                  <a:srgbClr val="0000FF"/>
                </a:solidFill>
                <a:effectLst/>
                <a:latin typeface="Times New Roman" panose="02020603050405020304" pitchFamily="18" charset="0"/>
                <a:ea typeface="KaiTi" panose="02010609060101010101" pitchFamily="49" charset="-122"/>
                <a:cs typeface="Times New Roman" panose="02020603050405020304" pitchFamily="18" charset="0"/>
                <a:hlinkClick r:id="rId4"/>
              </a:rPr>
              <a:t>Colab</a:t>
            </a:r>
            <a:endParaRPr lang="zh-TW" altLang="zh-TW" kern="100" dirty="0">
              <a:effectLst/>
              <a:latin typeface="Times New Roman" panose="02020603050405020304" pitchFamily="18" charset="0"/>
              <a:ea typeface="KaiTi" panose="02010609060101010101" pitchFamily="49" charset="-122"/>
              <a:cs typeface="Times New Roman" panose="02020603050405020304" pitchFamily="18" charset="0"/>
            </a:endParaRPr>
          </a:p>
          <a:p>
            <a:r>
              <a:rPr lang="en-US" altLang="zh-TW" u="sng" kern="100" dirty="0">
                <a:solidFill>
                  <a:srgbClr val="0000FF"/>
                </a:solidFill>
                <a:effectLst/>
                <a:latin typeface="Times New Roman" panose="02020603050405020304" pitchFamily="18" charset="0"/>
                <a:ea typeface="KaiTi" panose="02010609060101010101" pitchFamily="49" charset="-122"/>
                <a:cs typeface="Times New Roman" panose="02020603050405020304" pitchFamily="18" charset="0"/>
                <a:hlinkClick r:id="rId5"/>
              </a:rPr>
              <a:t>Mastering Denoising Diffusion Probabilistic Models (DDPMs) | by LM Po | Medium</a:t>
            </a:r>
            <a:endParaRPr lang="zh-TW" altLang="zh-TW" kern="100" dirty="0">
              <a:effectLst/>
              <a:latin typeface="Times New Roman" panose="02020603050405020304" pitchFamily="18" charset="0"/>
              <a:ea typeface="KaiTi" panose="02010609060101010101" pitchFamily="49" charset="-122"/>
              <a:cs typeface="Times New Roman" panose="02020603050405020304" pitchFamily="18" charset="0"/>
            </a:endParaRPr>
          </a:p>
          <a:p>
            <a:r>
              <a:rPr lang="en-US" altLang="zh-TW" u="sng" kern="100" dirty="0" err="1">
                <a:solidFill>
                  <a:srgbClr val="0000FF"/>
                </a:solidFill>
                <a:effectLst/>
                <a:latin typeface="Times New Roman" panose="02020603050405020304" pitchFamily="18" charset="0"/>
                <a:ea typeface="KaiTi" panose="02010609060101010101" pitchFamily="49" charset="-122"/>
                <a:cs typeface="Times New Roman" panose="02020603050405020304" pitchFamily="18" charset="0"/>
                <a:hlinkClick r:id="rId6"/>
              </a:rPr>
              <a:t>GenerativeModels</a:t>
            </a:r>
            <a:r>
              <a:rPr lang="en-US" altLang="zh-TW" u="sng" kern="100" dirty="0">
                <a:solidFill>
                  <a:srgbClr val="0000FF"/>
                </a:solidFill>
                <a:effectLst/>
                <a:latin typeface="Times New Roman" panose="02020603050405020304" pitchFamily="18" charset="0"/>
                <a:ea typeface="KaiTi" panose="02010609060101010101" pitchFamily="49" charset="-122"/>
                <a:cs typeface="Times New Roman" panose="02020603050405020304" pitchFamily="18" charset="0"/>
                <a:hlinkClick r:id="rId6"/>
              </a:rPr>
              <a:t>/tutorials/generative/2d_ddpm/2d_ddpm_tutorial.ipynb at main · Project-MONAI/</a:t>
            </a:r>
            <a:r>
              <a:rPr lang="en-US" altLang="zh-TW" u="sng" kern="100" dirty="0" err="1">
                <a:solidFill>
                  <a:srgbClr val="0000FF"/>
                </a:solidFill>
                <a:effectLst/>
                <a:latin typeface="Times New Roman" panose="02020603050405020304" pitchFamily="18" charset="0"/>
                <a:ea typeface="KaiTi" panose="02010609060101010101" pitchFamily="49" charset="-122"/>
                <a:cs typeface="Times New Roman" panose="02020603050405020304" pitchFamily="18" charset="0"/>
                <a:hlinkClick r:id="rId6"/>
              </a:rPr>
              <a:t>GenerativeModels</a:t>
            </a:r>
            <a:endParaRPr lang="zh-TW" altLang="zh-TW" kern="100" dirty="0">
              <a:effectLst/>
              <a:latin typeface="Times New Roman" panose="02020603050405020304" pitchFamily="18" charset="0"/>
              <a:ea typeface="KaiTi" panose="02010609060101010101" pitchFamily="49" charset="-122"/>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BF8DE26C-F91D-6E33-DC1D-F61EEE56B18F}"/>
              </a:ext>
            </a:extLst>
          </p:cNvPr>
          <p:cNvSpPr>
            <a:spLocks noGrp="1"/>
          </p:cNvSpPr>
          <p:nvPr>
            <p:ph type="sldNum" sz="quarter" idx="12"/>
          </p:nvPr>
        </p:nvSpPr>
        <p:spPr/>
        <p:txBody>
          <a:bodyPr/>
          <a:lstStyle/>
          <a:p>
            <a:fld id="{83BADD90-1659-401A-8CB6-1FAE4798FEBF}" type="slidenum">
              <a:rPr lang="zh-TW" altLang="en-US" smtClean="0"/>
              <a:t>25</a:t>
            </a:fld>
            <a:endParaRPr lang="zh-TW" altLang="en-US"/>
          </a:p>
        </p:txBody>
      </p:sp>
    </p:spTree>
    <p:extLst>
      <p:ext uri="{BB962C8B-B14F-4D97-AF65-F5344CB8AC3E}">
        <p14:creationId xmlns:p14="http://schemas.microsoft.com/office/powerpoint/2010/main" val="3033965048"/>
      </p:ext>
    </p:extLst>
  </p:cSld>
  <p:clrMapOvr>
    <a:masterClrMapping/>
  </p:clrMapOvr>
</p:sld>
</file>

<file path=ppt/theme/theme1.xml><?xml version="1.0" encoding="utf-8"?>
<a:theme xmlns:a="http://schemas.openxmlformats.org/drawingml/2006/main" name="回顧">
  <a:themeElements>
    <a:clrScheme name="回顧">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回顧">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回顧">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190</TotalTime>
  <Words>964</Words>
  <Application>Microsoft Office PowerPoint</Application>
  <PresentationFormat>寬螢幕</PresentationFormat>
  <Paragraphs>150</Paragraphs>
  <Slides>25</Slides>
  <Notes>1</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25</vt:i4>
      </vt:variant>
    </vt:vector>
  </HeadingPairs>
  <TitlesOfParts>
    <vt:vector size="32" baseType="lpstr">
      <vt:lpstr>標楷體</vt:lpstr>
      <vt:lpstr>Aptos</vt:lpstr>
      <vt:lpstr>Calibri</vt:lpstr>
      <vt:lpstr>Calibri Light</vt:lpstr>
      <vt:lpstr>Times New Roman</vt:lpstr>
      <vt:lpstr>Wingdings</vt:lpstr>
      <vt:lpstr>回顧</vt:lpstr>
      <vt:lpstr>Facilitate DDPMs in MONAI</vt:lpstr>
      <vt:lpstr>Outline</vt:lpstr>
      <vt:lpstr>Introduction</vt:lpstr>
      <vt:lpstr>Introduction</vt:lpstr>
      <vt:lpstr>Introduction</vt:lpstr>
      <vt:lpstr>Review of Previous Work</vt:lpstr>
      <vt:lpstr>Review of Previous Work</vt:lpstr>
      <vt:lpstr>Technical Part</vt:lpstr>
      <vt:lpstr>Technical Part</vt:lpstr>
      <vt:lpstr>Technical Part</vt:lpstr>
      <vt:lpstr>Technical Part</vt:lpstr>
      <vt:lpstr>Technical Part</vt:lpstr>
      <vt:lpstr>Technical Part</vt:lpstr>
      <vt:lpstr>Technical Part</vt:lpstr>
      <vt:lpstr>Experiments</vt:lpstr>
      <vt:lpstr>Experiments</vt:lpstr>
      <vt:lpstr>Experiments</vt:lpstr>
      <vt:lpstr>Experiments</vt:lpstr>
      <vt:lpstr>Experiments</vt:lpstr>
      <vt:lpstr>Experiments</vt:lpstr>
      <vt:lpstr>Experiments</vt:lpstr>
      <vt:lpstr>Experiments</vt:lpstr>
      <vt:lpstr>Experiments</vt:lpstr>
      <vt:lpstr>Conclusions</vt:lpstr>
      <vt:lpstr>References</vt:lpstr>
    </vt:vector>
  </TitlesOfParts>
  <Company>config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Facilitate DDPMs in MONAI</dc:title>
  <dc:creator>綉惠 徐</dc:creator>
  <cp:lastModifiedBy>綉惠 徐</cp:lastModifiedBy>
  <cp:revision>201</cp:revision>
  <dcterms:created xsi:type="dcterms:W3CDTF">2024-12-16T14:53:54Z</dcterms:created>
  <dcterms:modified xsi:type="dcterms:W3CDTF">2024-12-17T01:57:04Z</dcterms:modified>
</cp:coreProperties>
</file>