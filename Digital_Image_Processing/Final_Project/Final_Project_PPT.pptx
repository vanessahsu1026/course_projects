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9144000" cy="5143500" type="screen16x9"/>
  <p:notesSz cx="6858000" cy="9144000"/>
  <p:embeddedFontLst>
    <p:embeddedFont>
      <p:font typeface="Open Sans" panose="020B0606030504020204" pitchFamily="34" charset="0"/>
      <p:regular r:id="rId33"/>
      <p:bold r:id="rId34"/>
      <p:italic r:id="rId35"/>
      <p:boldItalic r:id="rId36"/>
    </p:embeddedFont>
    <p:embeddedFont>
      <p:font typeface="PT Sans Narrow" panose="020B0506020203020204" pitchFamily="34" charset="0"/>
      <p:regular r:id="rId37"/>
      <p:bold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0487324-7317-4014-BB91-97F82CB72DC5}">
  <a:tblStyle styleId="{60487324-7317-4014-BB91-97F82CB72DC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300" y="8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32857b47047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32857b47047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285fb82fec_1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285fb82fec_1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285fb82fec_1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285fb82fec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3285fb82fec_1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3285fb82fec_1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285fb82fec_1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285fb82fec_1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2865c2475e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32865c2475e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2865c2475e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2865c2475e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2865c2475e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32865c2475e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2865c2475e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32865c2475e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2865c2475e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2865c2475e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2865c2475e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2865c2475e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2865c2475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32865c2475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2865c2475e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32865c2475e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285fb82fec_1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3285fb82fec_1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2865c2475e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32865c2475e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2865c2475e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2865c2475e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2865c2475e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32865c2475e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2865c2475e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 name="Google Shape;213;g32865c2475e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32865c2475e_0_1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32865c2475e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3285fb82fec_1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3285fb82fec_1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2865c2475e_0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32865c2475e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32865c2475e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32865c2475e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32865c2475e_0_1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32865c2475e_0_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3285fb82fec_1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3285fb82fec_1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3285fb82fec_1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3285fb82fec_1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2865c2475e_0_1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2865c2475e_0_1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3285fb82fec_1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7" name="Google Shape;277;g3285fb82fec_1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3285fb82fec_1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3285fb82fec_1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285fb82fec_1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3285fb82fec_1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w="76200" cap="flat" cmpd="sng">
            <a:solidFill>
              <a:schemeClr val="lt2"/>
            </a:solidFill>
            <a:prstDash val="solid"/>
            <a:round/>
            <a:headEnd type="none" w="sm" len="sm"/>
            <a:tailEnd type="none" w="sm" len="sm"/>
          </a:ln>
        </p:spPr>
      </p:cxnSp>
      <p:cxnSp>
        <p:nvCxnSpPr>
          <p:cNvPr id="11" name="Google Shape;11;p2"/>
          <p:cNvCxnSpPr/>
          <p:nvPr/>
        </p:nvCxnSpPr>
        <p:spPr>
          <a:xfrm>
            <a:off x="1575035" y="3158252"/>
            <a:ext cx="562200" cy="0"/>
          </a:xfrm>
          <a:prstGeom prst="straightConnector1">
            <a:avLst/>
          </a:prstGeom>
          <a:noFill/>
          <a:ln w="76200" cap="flat" cmpd="sng">
            <a:solidFill>
              <a:schemeClr val="lt2"/>
            </a:solidFill>
            <a:prstDash val="solid"/>
            <a:round/>
            <a:headEnd type="none" w="sm" len="sm"/>
            <a:tailEnd type="none" w="sm" len="sm"/>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4" name="Google Shape;14;p2"/>
            <p:cNvCxnSpPr/>
            <p:nvPr/>
          </p:nvCxnSpPr>
          <p:spPr>
            <a:xfrm rot="10800000">
              <a:off x="1346429" y="1163700"/>
              <a:ext cx="6452100" cy="0"/>
            </a:xfrm>
            <a:prstGeom prst="straightConnector1">
              <a:avLst/>
            </a:prstGeom>
            <a:noFill/>
            <a:ln w="9525" cap="flat" cmpd="sng">
              <a:solidFill>
                <a:schemeClr val="accent3"/>
              </a:solidFill>
              <a:prstDash val="solid"/>
              <a:round/>
              <a:headEnd type="none" w="sm" len="sm"/>
              <a:tailEnd type="none" w="sm" len="sm"/>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7" name="Google Shape;17;p2"/>
            <p:cNvCxnSpPr/>
            <p:nvPr/>
          </p:nvCxnSpPr>
          <p:spPr>
            <a:xfrm>
              <a:off x="1346435" y="3969088"/>
              <a:ext cx="6452100" cy="0"/>
            </a:xfrm>
            <a:prstGeom prst="straightConnector1">
              <a:avLst/>
            </a:prstGeom>
            <a:noFill/>
            <a:ln w="9525" cap="flat" cmpd="sng">
              <a:solidFill>
                <a:schemeClr val="accent3"/>
              </a:solidFill>
              <a:prstDash val="solid"/>
              <a:round/>
              <a:headEnd type="none" w="sm" len="sm"/>
              <a:tailEnd type="none" w="sm" len="sm"/>
            </a:ln>
          </p:spPr>
        </p:cxnSp>
      </p:grpSp>
      <p:sp>
        <p:nvSpPr>
          <p:cNvPr id="18" name="Google Shape;18;p2"/>
          <p:cNvSpPr txBox="1">
            <a:spLocks noGrp="1"/>
          </p:cNvSpPr>
          <p:nvPr>
            <p:ph type="ctrTitle"/>
          </p:nvPr>
        </p:nvSpPr>
        <p:spPr>
          <a:xfrm>
            <a:off x="1004150" y="1751764"/>
            <a:ext cx="7136700" cy="1022400"/>
          </a:xfrm>
          <a:prstGeom prst="rect">
            <a:avLst/>
          </a:prstGeom>
        </p:spPr>
        <p:txBody>
          <a:bodyPr spcFirstLastPara="1" wrap="square" lIns="91425" tIns="91425" rIns="91425" bIns="91425" anchor="b" anchorCtr="0">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a:endParaRPr/>
          </a:p>
        </p:txBody>
      </p:sp>
      <p:sp>
        <p:nvSpPr>
          <p:cNvPr id="19" name="Google Shape;19;p2"/>
          <p:cNvSpPr txBox="1">
            <a:spLocks noGrp="1"/>
          </p:cNvSpPr>
          <p:nvPr>
            <p:ph type="subTitle" idx="1"/>
          </p:nvPr>
        </p:nvSpPr>
        <p:spPr>
          <a:xfrm>
            <a:off x="2137225" y="2850039"/>
            <a:ext cx="48705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20" name="Google Shape;20;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txBox="1">
            <a:spLocks noGrp="1"/>
          </p:cNvSpPr>
          <p:nvPr>
            <p:ph type="title"/>
          </p:nvPr>
        </p:nvSpPr>
        <p:spPr>
          <a:xfrm>
            <a:off x="311700" y="814800"/>
            <a:ext cx="8571300" cy="9420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a:endParaRPr/>
          </a:p>
        </p:txBody>
      </p:sp>
      <p:sp>
        <p:nvSpPr>
          <p:cNvPr id="24" name="Google Shape;24;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28" name="Google Shape;28;p4"/>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9" name="Google Shape;2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0"/>
        <p:cNvGrpSpPr/>
        <p:nvPr/>
      </p:nvGrpSpPr>
      <p:grpSpPr>
        <a:xfrm>
          <a:off x="0" y="0"/>
          <a:ext cx="0" cy="0"/>
          <a:chOff x="0" y="0"/>
          <a:chExt cx="0" cy="0"/>
        </a:xfrm>
      </p:grpSpPr>
      <p:sp>
        <p:nvSpPr>
          <p:cNvPr id="31" name="Google Shape;31;p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32" name="Google Shape;32;p5"/>
          <p:cNvSpPr txBox="1">
            <a:spLocks noGrp="1"/>
          </p:cNvSpPr>
          <p:nvPr>
            <p:ph type="body" idx="1"/>
          </p:nvPr>
        </p:nvSpPr>
        <p:spPr>
          <a:xfrm>
            <a:off x="311700" y="1266175"/>
            <a:ext cx="3999900" cy="33027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3" name="Google Shape;33;p5"/>
          <p:cNvSpPr txBox="1">
            <a:spLocks noGrp="1"/>
          </p:cNvSpPr>
          <p:nvPr>
            <p:ph type="body" idx="2"/>
          </p:nvPr>
        </p:nvSpPr>
        <p:spPr>
          <a:xfrm>
            <a:off x="4832400" y="1266175"/>
            <a:ext cx="3999900" cy="33027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4" name="Google Shape;3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5"/>
        <p:cNvGrpSpPr/>
        <p:nvPr/>
      </p:nvGrpSpPr>
      <p:grpSpPr>
        <a:xfrm>
          <a:off x="0" y="0"/>
          <a:ext cx="0" cy="0"/>
          <a:chOff x="0" y="0"/>
          <a:chExt cx="0" cy="0"/>
        </a:xfrm>
      </p:grpSpPr>
      <p:sp>
        <p:nvSpPr>
          <p:cNvPr id="36" name="Google Shape;36;p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37" name="Google Shape;3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0" name="Google Shape;4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1" name="Google Shape;4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6"/>
        </a:solidFill>
        <a:effectLst/>
      </p:bgPr>
    </p:bg>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490250" y="526350"/>
            <a:ext cx="56136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dk2"/>
              </a:buClr>
              <a:buSzPts val="5400"/>
              <a:buNone/>
              <a:defRPr sz="5400" b="0">
                <a:solidFill>
                  <a:schemeClr val="dk2"/>
                </a:solidFill>
              </a:defRPr>
            </a:lvl1pPr>
            <a:lvl2pPr lvl="1">
              <a:spcBef>
                <a:spcPts val="0"/>
              </a:spcBef>
              <a:spcAft>
                <a:spcPts val="0"/>
              </a:spcAft>
              <a:buClr>
                <a:schemeClr val="dk2"/>
              </a:buClr>
              <a:buSzPts val="5400"/>
              <a:buNone/>
              <a:defRPr sz="5400" b="0">
                <a:solidFill>
                  <a:schemeClr val="dk2"/>
                </a:solidFill>
              </a:defRPr>
            </a:lvl2pPr>
            <a:lvl3pPr lvl="2">
              <a:spcBef>
                <a:spcPts val="0"/>
              </a:spcBef>
              <a:spcAft>
                <a:spcPts val="0"/>
              </a:spcAft>
              <a:buClr>
                <a:schemeClr val="dk2"/>
              </a:buClr>
              <a:buSzPts val="5400"/>
              <a:buNone/>
              <a:defRPr sz="5400" b="0">
                <a:solidFill>
                  <a:schemeClr val="dk2"/>
                </a:solidFill>
              </a:defRPr>
            </a:lvl3pPr>
            <a:lvl4pPr lvl="3">
              <a:spcBef>
                <a:spcPts val="0"/>
              </a:spcBef>
              <a:spcAft>
                <a:spcPts val="0"/>
              </a:spcAft>
              <a:buClr>
                <a:schemeClr val="dk2"/>
              </a:buClr>
              <a:buSzPts val="5400"/>
              <a:buNone/>
              <a:defRPr sz="5400" b="0">
                <a:solidFill>
                  <a:schemeClr val="dk2"/>
                </a:solidFill>
              </a:defRPr>
            </a:lvl4pPr>
            <a:lvl5pPr lvl="4">
              <a:spcBef>
                <a:spcPts val="0"/>
              </a:spcBef>
              <a:spcAft>
                <a:spcPts val="0"/>
              </a:spcAft>
              <a:buClr>
                <a:schemeClr val="dk2"/>
              </a:buClr>
              <a:buSzPts val="5400"/>
              <a:buNone/>
              <a:defRPr sz="5400" b="0">
                <a:solidFill>
                  <a:schemeClr val="dk2"/>
                </a:solidFill>
              </a:defRPr>
            </a:lvl5pPr>
            <a:lvl6pPr lvl="5">
              <a:spcBef>
                <a:spcPts val="0"/>
              </a:spcBef>
              <a:spcAft>
                <a:spcPts val="0"/>
              </a:spcAft>
              <a:buClr>
                <a:schemeClr val="dk2"/>
              </a:buClr>
              <a:buSzPts val="5400"/>
              <a:buNone/>
              <a:defRPr sz="5400" b="0">
                <a:solidFill>
                  <a:schemeClr val="dk2"/>
                </a:solidFill>
              </a:defRPr>
            </a:lvl6pPr>
            <a:lvl7pPr lvl="6">
              <a:spcBef>
                <a:spcPts val="0"/>
              </a:spcBef>
              <a:spcAft>
                <a:spcPts val="0"/>
              </a:spcAft>
              <a:buClr>
                <a:schemeClr val="dk2"/>
              </a:buClr>
              <a:buSzPts val="5400"/>
              <a:buNone/>
              <a:defRPr sz="5400" b="0">
                <a:solidFill>
                  <a:schemeClr val="dk2"/>
                </a:solidFill>
              </a:defRPr>
            </a:lvl7pPr>
            <a:lvl8pPr lvl="7">
              <a:spcBef>
                <a:spcPts val="0"/>
              </a:spcBef>
              <a:spcAft>
                <a:spcPts val="0"/>
              </a:spcAft>
              <a:buClr>
                <a:schemeClr val="dk2"/>
              </a:buClr>
              <a:buSzPts val="5400"/>
              <a:buNone/>
              <a:defRPr sz="5400" b="0">
                <a:solidFill>
                  <a:schemeClr val="dk2"/>
                </a:solidFill>
              </a:defRPr>
            </a:lvl8pPr>
            <a:lvl9pPr lvl="8">
              <a:spcBef>
                <a:spcPts val="0"/>
              </a:spcBef>
              <a:spcAft>
                <a:spcPts val="0"/>
              </a:spcAft>
              <a:buClr>
                <a:schemeClr val="dk2"/>
              </a:buClr>
              <a:buSzPts val="5400"/>
              <a:buNone/>
              <a:defRPr sz="5400" b="0">
                <a:solidFill>
                  <a:schemeClr val="dk2"/>
                </a:solidFill>
              </a:defRPr>
            </a:lvl9pPr>
          </a:lstStyle>
          <a:p>
            <a:endParaRPr/>
          </a:p>
        </p:txBody>
      </p:sp>
      <p:sp>
        <p:nvSpPr>
          <p:cNvPr id="44" name="Google Shape;4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7" name="Google Shape;47;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8" name="Google Shape;48;p9"/>
          <p:cNvSpPr txBox="1">
            <a:spLocks noGrp="1"/>
          </p:cNvSpPr>
          <p:nvPr>
            <p:ph type="title"/>
          </p:nvPr>
        </p:nvSpPr>
        <p:spPr>
          <a:xfrm>
            <a:off x="265500" y="1039675"/>
            <a:ext cx="4045200" cy="16758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9" name="Google Shape;49;p9"/>
          <p:cNvSpPr txBox="1">
            <a:spLocks noGrp="1"/>
          </p:cNvSpPr>
          <p:nvPr>
            <p:ph type="subTitle" idx="1"/>
          </p:nvPr>
        </p:nvSpPr>
        <p:spPr>
          <a:xfrm>
            <a:off x="265500" y="27268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0" name="Google Shape;50;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51" name="Google Shape;5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
        <p:cNvGrpSpPr/>
        <p:nvPr/>
      </p:nvGrpSpPr>
      <p:grpSpPr>
        <a:xfrm>
          <a:off x="0" y="0"/>
          <a:ext cx="0" cy="0"/>
          <a:chOff x="0" y="0"/>
          <a:chExt cx="0" cy="0"/>
        </a:xfrm>
      </p:grpSpPr>
      <p:sp>
        <p:nvSpPr>
          <p:cNvPr id="53" name="Google Shape;53;p10"/>
          <p:cNvSpPr txBox="1">
            <a:spLocks noGrp="1"/>
          </p:cNvSpPr>
          <p:nvPr>
            <p:ph type="body" idx="1"/>
          </p:nvPr>
        </p:nvSpPr>
        <p:spPr>
          <a:xfrm>
            <a:off x="311700" y="42307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a:endParaRPr/>
          </a:p>
        </p:txBody>
      </p:sp>
      <p:sp>
        <p:nvSpPr>
          <p:cNvPr id="54" name="Google Shape;5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1"/>
          <p:cNvSpPr txBox="1">
            <a:spLocks noGrp="1"/>
          </p:cNvSpPr>
          <p:nvPr>
            <p:ph type="title" hasCustomPrompt="1"/>
          </p:nvPr>
        </p:nvSpPr>
        <p:spPr>
          <a:xfrm>
            <a:off x="311700" y="1304850"/>
            <a:ext cx="8520600" cy="15384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a:spLocks noGrp="1"/>
          </p:cNvSpPr>
          <p:nvPr>
            <p:ph type="body" idx="1"/>
          </p:nvPr>
        </p:nvSpPr>
        <p:spPr>
          <a:xfrm>
            <a:off x="311700" y="2995650"/>
            <a:ext cx="85206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9" name="Google Shape;59;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rop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9pPr>
          </a:lstStyle>
          <a:p>
            <a:endParaRPr/>
          </a:p>
        </p:txBody>
      </p:sp>
      <p:sp>
        <p:nvSpPr>
          <p:cNvPr id="7" name="Google Shape;7;p1"/>
          <p:cNvSpPr txBox="1">
            <a:spLocks noGrp="1"/>
          </p:cNvSpPr>
          <p:nvPr>
            <p:ph type="body" idx="1"/>
          </p:nvPr>
        </p:nvSpPr>
        <p:spPr>
          <a:xfrm>
            <a:off x="311700" y="1266325"/>
            <a:ext cx="8520600" cy="33027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marL="914400" lvl="1"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marL="1371600" lvl="2"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marL="1828800" lvl="3"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marL="2286000" lvl="4"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marL="2743200" lvl="5"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marL="3200400" lvl="6"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marL="3657600" lvl="7"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marL="4114800" lvl="8"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zh-TW"/>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3.xml"/><Relationship Id="rId5" Type="http://schemas.openxmlformats.org/officeDocument/2006/relationships/image" Target="../media/image22.png"/><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3"/>
          <p:cNvSpPr txBox="1">
            <a:spLocks noGrp="1"/>
          </p:cNvSpPr>
          <p:nvPr>
            <p:ph type="ctrTitle"/>
          </p:nvPr>
        </p:nvSpPr>
        <p:spPr>
          <a:xfrm>
            <a:off x="1003650" y="1222364"/>
            <a:ext cx="7136700" cy="10224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zh-TW">
                <a:solidFill>
                  <a:srgbClr val="3C78D8"/>
                </a:solidFill>
              </a:rPr>
              <a:t>Water Segmentation </a:t>
            </a:r>
            <a:endParaRPr>
              <a:solidFill>
                <a:srgbClr val="3C78D8"/>
              </a:solidFill>
            </a:endParaRPr>
          </a:p>
        </p:txBody>
      </p:sp>
      <p:sp>
        <p:nvSpPr>
          <p:cNvPr id="67" name="Google Shape;67;p13"/>
          <p:cNvSpPr txBox="1">
            <a:spLocks noGrp="1"/>
          </p:cNvSpPr>
          <p:nvPr>
            <p:ph type="subTitle" idx="1"/>
          </p:nvPr>
        </p:nvSpPr>
        <p:spPr>
          <a:xfrm>
            <a:off x="2137225" y="2716375"/>
            <a:ext cx="4870500" cy="11562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zh-TW"/>
              <a:t>By 林家榆、徐綉惠</a:t>
            </a:r>
            <a:endParaRPr/>
          </a:p>
          <a:p>
            <a:pPr marL="0" lvl="0" indent="0" algn="ctr" rtl="0">
              <a:spcBef>
                <a:spcPts val="0"/>
              </a:spcBef>
              <a:spcAft>
                <a:spcPts val="0"/>
              </a:spcAft>
              <a:buNone/>
            </a:pPr>
            <a:r>
              <a:rPr lang="zh-TW"/>
              <a:t>Team: 28</a:t>
            </a:r>
            <a:endParaRPr/>
          </a:p>
        </p:txBody>
      </p:sp>
      <p:sp>
        <p:nvSpPr>
          <p:cNvPr id="68" name="Google Shape;68;p13"/>
          <p:cNvSpPr txBox="1">
            <a:spLocks noGrp="1"/>
          </p:cNvSpPr>
          <p:nvPr>
            <p:ph type="ctrTitle"/>
          </p:nvPr>
        </p:nvSpPr>
        <p:spPr>
          <a:xfrm>
            <a:off x="1003650" y="1693964"/>
            <a:ext cx="7136700" cy="10224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zh-TW" sz="3000">
                <a:solidFill>
                  <a:srgbClr val="6D9EEB"/>
                </a:solidFill>
              </a:rPr>
              <a:t>using Convention Method</a:t>
            </a:r>
            <a:endParaRPr>
              <a:solidFill>
                <a:srgbClr val="6D9EEB"/>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4"/>
          <p:cNvSpPr txBox="1">
            <a:spLocks noGrp="1"/>
          </p:cNvSpPr>
          <p:nvPr>
            <p:ph type="title"/>
          </p:nvPr>
        </p:nvSpPr>
        <p:spPr>
          <a:xfrm>
            <a:off x="311700" y="25927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TW" sz="3540"/>
              <a:t>Outline</a:t>
            </a:r>
            <a:endParaRPr sz="3540"/>
          </a:p>
        </p:txBody>
      </p:sp>
      <p:sp>
        <p:nvSpPr>
          <p:cNvPr id="74" name="Google Shape;74;p14"/>
          <p:cNvSpPr txBox="1">
            <a:spLocks noGrp="1"/>
          </p:cNvSpPr>
          <p:nvPr>
            <p:ph type="body" idx="1"/>
          </p:nvPr>
        </p:nvSpPr>
        <p:spPr>
          <a:xfrm>
            <a:off x="311700" y="1066700"/>
            <a:ext cx="8520600" cy="3837000"/>
          </a:xfrm>
          <a:prstGeom prst="rect">
            <a:avLst/>
          </a:prstGeom>
        </p:spPr>
        <p:txBody>
          <a:bodyPr spcFirstLastPara="1" wrap="square" lIns="91425" tIns="91425" rIns="91425" bIns="91425" anchor="t" anchorCtr="0">
            <a:normAutofit fontScale="92500" lnSpcReduction="10000"/>
          </a:bodyPr>
          <a:lstStyle/>
          <a:p>
            <a:pPr marL="457200" lvl="0" indent="-355600" algn="l" rtl="0">
              <a:lnSpc>
                <a:spcPct val="150000"/>
              </a:lnSpc>
              <a:spcBef>
                <a:spcPts val="0"/>
              </a:spcBef>
              <a:spcAft>
                <a:spcPts val="0"/>
              </a:spcAft>
              <a:buSzPts val="2000"/>
              <a:buChar char="●"/>
            </a:pPr>
            <a:r>
              <a:rPr lang="zh-TW" sz="2000" b="1" dirty="0"/>
              <a:t>Introduction</a:t>
            </a:r>
            <a:endParaRPr sz="2000" b="1" dirty="0"/>
          </a:p>
          <a:p>
            <a:pPr marL="457200" lvl="0" indent="-355600" algn="l" rtl="0">
              <a:lnSpc>
                <a:spcPct val="150000"/>
              </a:lnSpc>
              <a:spcBef>
                <a:spcPts val="0"/>
              </a:spcBef>
              <a:spcAft>
                <a:spcPts val="0"/>
              </a:spcAft>
              <a:buSzPts val="2000"/>
              <a:buChar char="●"/>
            </a:pPr>
            <a:r>
              <a:rPr lang="zh-TW" sz="2000" b="1" dirty="0"/>
              <a:t>Methods</a:t>
            </a:r>
            <a:endParaRPr sz="2000" b="1" dirty="0"/>
          </a:p>
          <a:p>
            <a:pPr marL="914400" lvl="1" indent="-342900" algn="l" rtl="0">
              <a:lnSpc>
                <a:spcPct val="150000"/>
              </a:lnSpc>
              <a:spcBef>
                <a:spcPts val="0"/>
              </a:spcBef>
              <a:spcAft>
                <a:spcPts val="0"/>
              </a:spcAft>
              <a:buSzPts val="1800"/>
              <a:buChar char="○"/>
            </a:pPr>
            <a:r>
              <a:rPr lang="zh-TW" sz="1800" dirty="0"/>
              <a:t>Watershed</a:t>
            </a:r>
            <a:endParaRPr sz="1800" dirty="0"/>
          </a:p>
          <a:p>
            <a:pPr marL="914400" lvl="1" indent="-342900" algn="l" rtl="0">
              <a:lnSpc>
                <a:spcPct val="150000"/>
              </a:lnSpc>
              <a:spcBef>
                <a:spcPts val="0"/>
              </a:spcBef>
              <a:spcAft>
                <a:spcPts val="0"/>
              </a:spcAft>
              <a:buSzPts val="1800"/>
              <a:buChar char="○"/>
            </a:pPr>
            <a:r>
              <a:rPr lang="zh-TW" sz="1800" dirty="0"/>
              <a:t>Morphological Gradient</a:t>
            </a:r>
            <a:endParaRPr sz="1800" dirty="0"/>
          </a:p>
          <a:p>
            <a:pPr marL="457200" lvl="0" indent="-355600" algn="l" rtl="0">
              <a:lnSpc>
                <a:spcPct val="150000"/>
              </a:lnSpc>
              <a:spcBef>
                <a:spcPts val="0"/>
              </a:spcBef>
              <a:spcAft>
                <a:spcPts val="0"/>
              </a:spcAft>
              <a:buSzPts val="2000"/>
              <a:buChar char="●"/>
            </a:pPr>
            <a:r>
              <a:rPr lang="zh-TW" sz="2000" b="1" dirty="0"/>
              <a:t>MAP model</a:t>
            </a:r>
            <a:endParaRPr sz="2000" b="1" dirty="0"/>
          </a:p>
          <a:p>
            <a:pPr marL="457200" lvl="0" indent="-355600" algn="l" rtl="0">
              <a:lnSpc>
                <a:spcPct val="150000"/>
              </a:lnSpc>
              <a:spcBef>
                <a:spcPts val="0"/>
              </a:spcBef>
              <a:spcAft>
                <a:spcPts val="0"/>
              </a:spcAft>
              <a:buSzPts val="2000"/>
              <a:buChar char="●"/>
            </a:pPr>
            <a:r>
              <a:rPr lang="zh-TW" sz="2000" b="1" dirty="0"/>
              <a:t>Experimental Results</a:t>
            </a:r>
            <a:endParaRPr sz="2000" b="1" dirty="0"/>
          </a:p>
          <a:p>
            <a:pPr marL="457200" lvl="0" indent="-355600" algn="l" rtl="0">
              <a:lnSpc>
                <a:spcPct val="150000"/>
              </a:lnSpc>
              <a:spcBef>
                <a:spcPts val="0"/>
              </a:spcBef>
              <a:spcAft>
                <a:spcPts val="0"/>
              </a:spcAft>
              <a:buSzPts val="2000"/>
              <a:buChar char="●"/>
            </a:pPr>
            <a:r>
              <a:rPr lang="zh-TW" sz="2000" b="1" dirty="0"/>
              <a:t>Analysis</a:t>
            </a:r>
            <a:endParaRPr sz="2000" b="1" dirty="0"/>
          </a:p>
          <a:p>
            <a:pPr marL="457200" lvl="0" indent="-355600" algn="l" rtl="0">
              <a:lnSpc>
                <a:spcPct val="150000"/>
              </a:lnSpc>
              <a:spcBef>
                <a:spcPts val="0"/>
              </a:spcBef>
              <a:spcAft>
                <a:spcPts val="0"/>
              </a:spcAft>
              <a:buSzPts val="2000"/>
              <a:buChar char="●"/>
            </a:pPr>
            <a:r>
              <a:rPr lang="zh-TW" sz="2000" b="1" dirty="0"/>
              <a:t>Comparison</a:t>
            </a:r>
            <a:endParaRPr sz="2000" b="1" dirty="0"/>
          </a:p>
          <a:p>
            <a:pPr marL="457200" lvl="0" indent="-355600" algn="l" rtl="0">
              <a:lnSpc>
                <a:spcPct val="150000"/>
              </a:lnSpc>
              <a:spcBef>
                <a:spcPts val="0"/>
              </a:spcBef>
              <a:spcAft>
                <a:spcPts val="0"/>
              </a:spcAft>
              <a:buSzPts val="2000"/>
              <a:buChar char="●"/>
            </a:pPr>
            <a:r>
              <a:rPr lang="zh-TW" sz="2000" b="1" dirty="0"/>
              <a:t>Conclusion</a:t>
            </a:r>
            <a:endParaRPr sz="20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TW" sz="3540"/>
              <a:t>Introduction</a:t>
            </a:r>
            <a:endParaRPr sz="3540"/>
          </a:p>
        </p:txBody>
      </p:sp>
      <p:sp>
        <p:nvSpPr>
          <p:cNvPr id="80" name="Google Shape;80;p15"/>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457200" lvl="0" indent="-342900" algn="just" rtl="0">
              <a:spcBef>
                <a:spcPts val="0"/>
              </a:spcBef>
              <a:spcAft>
                <a:spcPts val="0"/>
              </a:spcAft>
              <a:buSzPts val="1800"/>
              <a:buChar char="●"/>
            </a:pPr>
            <a:r>
              <a:rPr lang="zh-TW" dirty="0"/>
              <a:t>We employed two conventional feature extraction methods to accomplish the task of water segmentation.</a:t>
            </a:r>
            <a:endParaRPr dirty="0"/>
          </a:p>
          <a:p>
            <a:pPr marL="0" lvl="0" indent="0" algn="just" rtl="0">
              <a:spcBef>
                <a:spcPts val="1200"/>
              </a:spcBef>
              <a:spcAft>
                <a:spcPts val="0"/>
              </a:spcAft>
              <a:buNone/>
            </a:pPr>
            <a:endParaRPr dirty="0"/>
          </a:p>
          <a:p>
            <a:pPr marL="457200" lvl="0" indent="-342900" algn="just" rtl="0">
              <a:spcBef>
                <a:spcPts val="1200"/>
              </a:spcBef>
              <a:spcAft>
                <a:spcPts val="0"/>
              </a:spcAft>
              <a:buSzPts val="1800"/>
              <a:buChar char="●"/>
            </a:pPr>
            <a:r>
              <a:rPr lang="zh-TW" dirty="0"/>
              <a:t>We implemented the watershed algorithm and the morphological gradient algorithm, applying the Maximum A Posteriori (MAP) statistical model to both methods to enhance their performance.</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TW" sz="3540"/>
              <a:t>Method -- Watershed</a:t>
            </a:r>
            <a:endParaRPr sz="3540"/>
          </a:p>
          <a:p>
            <a:pPr marL="0" lvl="0" indent="0" algn="l" rtl="0">
              <a:spcBef>
                <a:spcPts val="0"/>
              </a:spcBef>
              <a:spcAft>
                <a:spcPts val="0"/>
              </a:spcAft>
              <a:buSzPts val="990"/>
              <a:buNone/>
            </a:pPr>
            <a:r>
              <a:rPr lang="zh-TW" sz="3540"/>
              <a:t> </a:t>
            </a:r>
            <a:endParaRPr sz="3540"/>
          </a:p>
        </p:txBody>
      </p:sp>
      <p:sp>
        <p:nvSpPr>
          <p:cNvPr id="86" name="Google Shape;86;p16"/>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457200" lvl="0" indent="-342900" algn="just" rtl="0">
              <a:spcBef>
                <a:spcPts val="0"/>
              </a:spcBef>
              <a:spcAft>
                <a:spcPts val="0"/>
              </a:spcAft>
              <a:buSzPts val="1800"/>
              <a:buAutoNum type="arabicPeriod"/>
            </a:pPr>
            <a:r>
              <a:rPr lang="zh-TW" b="1" dirty="0"/>
              <a:t>Convert to Grayscale</a:t>
            </a:r>
            <a:r>
              <a:rPr lang="en-US" altLang="zh-TW" b="1" dirty="0"/>
              <a:t> </a:t>
            </a:r>
            <a:r>
              <a:rPr lang="zh-TW" b="1" dirty="0"/>
              <a:t>:</a:t>
            </a:r>
            <a:endParaRPr b="1" dirty="0"/>
          </a:p>
          <a:p>
            <a:pPr marL="457200" lvl="0" indent="0" algn="just" rtl="0">
              <a:spcBef>
                <a:spcPts val="1200"/>
              </a:spcBef>
              <a:spcAft>
                <a:spcPts val="0"/>
              </a:spcAft>
              <a:buNone/>
            </a:pPr>
            <a:r>
              <a:rPr lang="zh-TW" dirty="0"/>
              <a:t>The input image is converted to grayscale for compatibility with image processing operations.</a:t>
            </a:r>
            <a:endParaRPr dirty="0"/>
          </a:p>
          <a:p>
            <a:pPr marL="114300" lvl="0" indent="0" algn="just" rtl="0">
              <a:spcBef>
                <a:spcPts val="1200"/>
              </a:spcBef>
              <a:spcAft>
                <a:spcPts val="0"/>
              </a:spcAft>
              <a:buSzPts val="1800"/>
              <a:buNone/>
            </a:pPr>
            <a:r>
              <a:rPr lang="en-US" altLang="zh-TW" b="1" dirty="0"/>
              <a:t>2.   </a:t>
            </a:r>
            <a:r>
              <a:rPr lang="zh-TW" b="1" dirty="0"/>
              <a:t>Otsu's Method</a:t>
            </a:r>
            <a:r>
              <a:rPr lang="en-US" altLang="zh-TW" b="1" dirty="0"/>
              <a:t> </a:t>
            </a:r>
            <a:r>
              <a:rPr lang="zh-TW" b="1" dirty="0"/>
              <a:t>:</a:t>
            </a:r>
            <a:endParaRPr b="1" dirty="0"/>
          </a:p>
          <a:p>
            <a:pPr marL="457200" lvl="0" indent="0" algn="just" rtl="0">
              <a:spcBef>
                <a:spcPts val="1200"/>
              </a:spcBef>
              <a:spcAft>
                <a:spcPts val="0"/>
              </a:spcAft>
              <a:buNone/>
            </a:pPr>
            <a:r>
              <a:rPr lang="zh-TW" dirty="0"/>
              <a:t>Determine an optimal threshold, creating a binary mask by assigning values based on pixel intensity.</a:t>
            </a:r>
            <a:endParaRPr dirty="0"/>
          </a:p>
          <a:p>
            <a:pPr marL="1371600" lvl="1" indent="-330200" algn="just" rtl="0">
              <a:spcBef>
                <a:spcPts val="1200"/>
              </a:spcBef>
              <a:spcAft>
                <a:spcPts val="0"/>
              </a:spcAft>
              <a:buSzPts val="1600"/>
              <a:buChar char="○"/>
            </a:pPr>
            <a:r>
              <a:rPr lang="zh-TW" sz="1600" dirty="0"/>
              <a:t>Pixels below the threshold are set to 255 (white) for the foreground.</a:t>
            </a:r>
            <a:endParaRPr sz="1600" dirty="0"/>
          </a:p>
          <a:p>
            <a:pPr marL="1371600" lvl="1" indent="-330200" algn="just" rtl="0">
              <a:spcBef>
                <a:spcPts val="0"/>
              </a:spcBef>
              <a:spcAft>
                <a:spcPts val="0"/>
              </a:spcAft>
              <a:buSzPts val="1600"/>
              <a:buChar char="○"/>
            </a:pPr>
            <a:r>
              <a:rPr lang="zh-TW" sz="1600" dirty="0"/>
              <a:t>Pixels above the threshold are set to 0 (black) for the background.</a:t>
            </a:r>
            <a:endParaRPr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7"/>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TW" sz="3540"/>
              <a:t>Method -- Watershed</a:t>
            </a:r>
            <a:endParaRPr sz="3540"/>
          </a:p>
          <a:p>
            <a:pPr marL="0" lvl="0" indent="0" algn="l" rtl="0">
              <a:spcBef>
                <a:spcPts val="0"/>
              </a:spcBef>
              <a:spcAft>
                <a:spcPts val="0"/>
              </a:spcAft>
              <a:buSzPts val="990"/>
              <a:buNone/>
            </a:pPr>
            <a:r>
              <a:rPr lang="zh-TW" sz="3540"/>
              <a:t> </a:t>
            </a:r>
            <a:endParaRPr sz="3540"/>
          </a:p>
        </p:txBody>
      </p:sp>
      <p:sp>
        <p:nvSpPr>
          <p:cNvPr id="92" name="Google Shape;92;p17"/>
          <p:cNvSpPr txBox="1">
            <a:spLocks noGrp="1"/>
          </p:cNvSpPr>
          <p:nvPr>
            <p:ph type="body" idx="1"/>
          </p:nvPr>
        </p:nvSpPr>
        <p:spPr>
          <a:xfrm>
            <a:off x="311700" y="1152425"/>
            <a:ext cx="8520600" cy="3680400"/>
          </a:xfrm>
          <a:prstGeom prst="rect">
            <a:avLst/>
          </a:prstGeom>
        </p:spPr>
        <p:txBody>
          <a:bodyPr spcFirstLastPara="1" wrap="square" lIns="91425" tIns="91425" rIns="91425" bIns="91425" anchor="t" anchorCtr="0">
            <a:normAutofit fontScale="92500" lnSpcReduction="10000"/>
          </a:bodyPr>
          <a:lstStyle/>
          <a:p>
            <a:pPr marL="0" lvl="0" indent="0" algn="just" rtl="0">
              <a:spcBef>
                <a:spcPts val="0"/>
              </a:spcBef>
              <a:spcAft>
                <a:spcPts val="0"/>
              </a:spcAft>
              <a:buNone/>
            </a:pPr>
            <a:r>
              <a:rPr lang="zh-TW" b="1" dirty="0"/>
              <a:t>3.    Morphological Refinement</a:t>
            </a:r>
            <a:r>
              <a:rPr lang="en-US" altLang="zh-TW" b="1" dirty="0"/>
              <a:t> </a:t>
            </a:r>
            <a:r>
              <a:rPr lang="zh-TW" b="1" dirty="0"/>
              <a:t>:</a:t>
            </a:r>
            <a:endParaRPr b="1" dirty="0"/>
          </a:p>
          <a:p>
            <a:pPr marL="457200" lvl="0" indent="0" algn="just" rtl="0">
              <a:spcBef>
                <a:spcPts val="1200"/>
              </a:spcBef>
              <a:spcAft>
                <a:spcPts val="0"/>
              </a:spcAft>
              <a:buNone/>
            </a:pPr>
            <a:r>
              <a:rPr lang="zh-TW" dirty="0"/>
              <a:t>Using a 5x5 elliptical kernel with a closing operation to smooth boundaries and eliminate small holes.</a:t>
            </a:r>
            <a:endParaRPr dirty="0"/>
          </a:p>
          <a:p>
            <a:pPr marL="0" lvl="0" indent="0" algn="just" rtl="0">
              <a:spcBef>
                <a:spcPts val="1200"/>
              </a:spcBef>
              <a:spcAft>
                <a:spcPts val="0"/>
              </a:spcAft>
              <a:buNone/>
            </a:pPr>
            <a:r>
              <a:rPr lang="zh-TW" b="1" dirty="0"/>
              <a:t>4. </a:t>
            </a:r>
            <a:r>
              <a:rPr lang="zh-TW" dirty="0"/>
              <a:t>   </a:t>
            </a:r>
            <a:r>
              <a:rPr lang="zh-TW" b="1" dirty="0"/>
              <a:t>Distance Transform</a:t>
            </a:r>
            <a:r>
              <a:rPr lang="en-US" altLang="zh-TW" b="1" dirty="0"/>
              <a:t> </a:t>
            </a:r>
            <a:r>
              <a:rPr lang="zh-TW" b="1" dirty="0"/>
              <a:t>:</a:t>
            </a:r>
            <a:endParaRPr b="1" dirty="0"/>
          </a:p>
          <a:p>
            <a:pPr marL="0" lvl="0" indent="0" algn="just" rtl="0">
              <a:spcBef>
                <a:spcPts val="1200"/>
              </a:spcBef>
              <a:spcAft>
                <a:spcPts val="0"/>
              </a:spcAft>
              <a:buNone/>
            </a:pPr>
            <a:r>
              <a:rPr lang="zh-TW" dirty="0"/>
              <a:t>       C</a:t>
            </a:r>
            <a:r>
              <a:rPr lang="zh-TW" sz="1800" dirty="0"/>
              <a:t>alculate the distance of each pixel to the nearest zero pixel, identifying</a:t>
            </a:r>
            <a:endParaRPr sz="1800" dirty="0"/>
          </a:p>
          <a:p>
            <a:pPr marL="0" lvl="0" indent="0" algn="just" rtl="0">
              <a:spcBef>
                <a:spcPts val="0"/>
              </a:spcBef>
              <a:spcAft>
                <a:spcPts val="0"/>
              </a:spcAft>
              <a:buNone/>
            </a:pPr>
            <a:r>
              <a:rPr lang="zh-TW" dirty="0"/>
              <a:t>  </a:t>
            </a:r>
            <a:r>
              <a:rPr lang="zh-TW" sz="1800" dirty="0"/>
              <a:t>     "sure foreground" pixels that exceed 40% of the maximum distance.</a:t>
            </a:r>
            <a:endParaRPr sz="1800" dirty="0"/>
          </a:p>
          <a:p>
            <a:pPr marL="0" lvl="0" indent="0" algn="just" rtl="0">
              <a:spcBef>
                <a:spcPts val="1200"/>
              </a:spcBef>
              <a:spcAft>
                <a:spcPts val="0"/>
              </a:spcAft>
              <a:buNone/>
            </a:pPr>
            <a:r>
              <a:rPr lang="zh-TW" b="1" dirty="0"/>
              <a:t>5.  </a:t>
            </a:r>
            <a:r>
              <a:rPr lang="zh-TW" dirty="0"/>
              <a:t>  </a:t>
            </a:r>
            <a:r>
              <a:rPr lang="zh-TW" b="1" dirty="0"/>
              <a:t>Perform Dilation</a:t>
            </a:r>
            <a:r>
              <a:rPr lang="en-US" altLang="zh-TW" b="1" dirty="0"/>
              <a:t> </a:t>
            </a:r>
            <a:r>
              <a:rPr lang="zh-TW" b="1" dirty="0"/>
              <a:t>:</a:t>
            </a:r>
            <a:endParaRPr b="1" dirty="0"/>
          </a:p>
          <a:p>
            <a:pPr marL="0" lvl="0" indent="0" algn="just" rtl="0">
              <a:spcBef>
                <a:spcPts val="1200"/>
              </a:spcBef>
              <a:spcAft>
                <a:spcPts val="0"/>
              </a:spcAft>
              <a:buNone/>
            </a:pPr>
            <a:r>
              <a:rPr lang="en-US" altLang="zh-TW" dirty="0"/>
              <a:t>        E</a:t>
            </a:r>
            <a:r>
              <a:rPr lang="zh-TW" dirty="0"/>
              <a:t>xpand the foreground regions, defining the "sure background," and</a:t>
            </a:r>
            <a:endParaRPr dirty="0"/>
          </a:p>
          <a:p>
            <a:pPr marL="0" lvl="0" indent="0" algn="just" rtl="0">
              <a:spcBef>
                <a:spcPts val="0"/>
              </a:spcBef>
              <a:spcAft>
                <a:spcPts val="0"/>
              </a:spcAft>
              <a:buNone/>
            </a:pPr>
            <a:r>
              <a:rPr lang="zh-TW" dirty="0"/>
              <a:t>        the foreground is subtracted from the background to find the "unknown"</a:t>
            </a:r>
            <a:endParaRPr dirty="0"/>
          </a:p>
          <a:p>
            <a:pPr marL="0" lvl="0" indent="0" algn="just" rtl="0">
              <a:spcBef>
                <a:spcPts val="0"/>
              </a:spcBef>
              <a:spcAft>
                <a:spcPts val="0"/>
              </a:spcAft>
              <a:buNone/>
            </a:pPr>
            <a:r>
              <a:rPr lang="zh-TW" dirty="0"/>
              <a:t>        region.</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8"/>
          <p:cNvSpPr txBox="1">
            <a:spLocks noGrp="1"/>
          </p:cNvSpPr>
          <p:nvPr>
            <p:ph type="title"/>
          </p:nvPr>
        </p:nvSpPr>
        <p:spPr>
          <a:xfrm>
            <a:off x="311700" y="287850"/>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TW" sz="3540"/>
              <a:t>Method -- Watershed</a:t>
            </a:r>
            <a:endParaRPr sz="3540"/>
          </a:p>
          <a:p>
            <a:pPr marL="0" lvl="0" indent="0" algn="l" rtl="0">
              <a:spcBef>
                <a:spcPts val="0"/>
              </a:spcBef>
              <a:spcAft>
                <a:spcPts val="0"/>
              </a:spcAft>
              <a:buSzPts val="990"/>
              <a:buNone/>
            </a:pPr>
            <a:r>
              <a:rPr lang="zh-TW" sz="3540"/>
              <a:t> </a:t>
            </a:r>
            <a:endParaRPr sz="3540"/>
          </a:p>
        </p:txBody>
      </p:sp>
      <p:sp>
        <p:nvSpPr>
          <p:cNvPr id="98" name="Google Shape;98;p18"/>
          <p:cNvSpPr txBox="1">
            <a:spLocks noGrp="1"/>
          </p:cNvSpPr>
          <p:nvPr>
            <p:ph type="body" idx="1"/>
          </p:nvPr>
        </p:nvSpPr>
        <p:spPr>
          <a:xfrm>
            <a:off x="184200" y="995250"/>
            <a:ext cx="8648100" cy="3980100"/>
          </a:xfrm>
          <a:prstGeom prst="rect">
            <a:avLst/>
          </a:prstGeom>
        </p:spPr>
        <p:txBody>
          <a:bodyPr spcFirstLastPara="1" wrap="square" lIns="91425" tIns="91425" rIns="91425" bIns="91425" anchor="t" anchorCtr="0">
            <a:normAutofit lnSpcReduction="10000"/>
          </a:bodyPr>
          <a:lstStyle/>
          <a:p>
            <a:pPr marL="0" lvl="0" indent="0" algn="just" rtl="0">
              <a:spcBef>
                <a:spcPts val="0"/>
              </a:spcBef>
              <a:spcAft>
                <a:spcPts val="0"/>
              </a:spcAft>
              <a:buNone/>
            </a:pPr>
            <a:r>
              <a:rPr lang="zh-TW" b="1" dirty="0"/>
              <a:t>6.    Connected Components Algorithm</a:t>
            </a:r>
            <a:r>
              <a:rPr lang="en-US" altLang="zh-TW" b="1" dirty="0"/>
              <a:t> </a:t>
            </a:r>
            <a:r>
              <a:rPr lang="zh-TW" b="1" dirty="0"/>
              <a:t>:</a:t>
            </a:r>
            <a:endParaRPr b="1" dirty="0"/>
          </a:p>
          <a:p>
            <a:pPr marL="457200" lvl="0" indent="0" algn="just" rtl="0">
              <a:spcBef>
                <a:spcPts val="1200"/>
              </a:spcBef>
              <a:spcAft>
                <a:spcPts val="0"/>
              </a:spcAft>
              <a:buNone/>
            </a:pPr>
            <a:r>
              <a:rPr lang="zh-TW" dirty="0"/>
              <a:t>Label each region in the "sure foreground" uniquely, with background pixels initially labeled as 0 and then incremented to 1, and the pixels in the unknown region are reassigned to 0.</a:t>
            </a:r>
            <a:endParaRPr dirty="0"/>
          </a:p>
          <a:p>
            <a:pPr marL="0" lvl="0" indent="0" algn="just" rtl="0">
              <a:spcBef>
                <a:spcPts val="1200"/>
              </a:spcBef>
              <a:spcAft>
                <a:spcPts val="0"/>
              </a:spcAft>
              <a:buNone/>
            </a:pPr>
            <a:r>
              <a:rPr lang="zh-TW" b="1" dirty="0"/>
              <a:t>7.    Watershed Algorithm</a:t>
            </a:r>
            <a:r>
              <a:rPr lang="en-US" altLang="zh-TW" b="1" dirty="0"/>
              <a:t> </a:t>
            </a:r>
            <a:r>
              <a:rPr lang="zh-TW" b="1" dirty="0"/>
              <a:t>:</a:t>
            </a:r>
            <a:endParaRPr b="1" dirty="0"/>
          </a:p>
          <a:p>
            <a:pPr marL="0" lvl="0" indent="0" algn="just" rtl="0">
              <a:spcBef>
                <a:spcPts val="1200"/>
              </a:spcBef>
              <a:spcAft>
                <a:spcPts val="0"/>
              </a:spcAft>
              <a:buNone/>
            </a:pPr>
            <a:r>
              <a:rPr lang="zh-TW" dirty="0"/>
              <a:t>       Treating the image as a topographical surface and flooding it from labeled</a:t>
            </a:r>
            <a:endParaRPr dirty="0"/>
          </a:p>
          <a:p>
            <a:pPr marL="0" lvl="0" indent="0" algn="just" rtl="0">
              <a:spcBef>
                <a:spcPts val="0"/>
              </a:spcBef>
              <a:spcAft>
                <a:spcPts val="0"/>
              </a:spcAft>
              <a:buNone/>
            </a:pPr>
            <a:r>
              <a:rPr lang="zh-TW" dirty="0"/>
              <a:t>       markers, and the boundaries between regions are labeled as -1.</a:t>
            </a:r>
            <a:endParaRPr dirty="0"/>
          </a:p>
          <a:p>
            <a:pPr marL="0" lvl="0" indent="0" algn="just" rtl="0">
              <a:spcBef>
                <a:spcPts val="1000"/>
              </a:spcBef>
              <a:spcAft>
                <a:spcPts val="0"/>
              </a:spcAft>
              <a:buNone/>
            </a:pPr>
            <a:r>
              <a:rPr lang="zh-TW" b="1" dirty="0"/>
              <a:t>8.    Binary Segmentation</a:t>
            </a:r>
            <a:r>
              <a:rPr lang="en-US" altLang="zh-TW" b="1" dirty="0"/>
              <a:t> </a:t>
            </a:r>
            <a:r>
              <a:rPr lang="zh-TW" b="1" dirty="0"/>
              <a:t>:</a:t>
            </a:r>
            <a:endParaRPr b="1" dirty="0"/>
          </a:p>
          <a:p>
            <a:pPr marL="0" lvl="0" indent="0" algn="just" rtl="0">
              <a:spcBef>
                <a:spcPts val="1200"/>
              </a:spcBef>
              <a:spcAft>
                <a:spcPts val="0"/>
              </a:spcAft>
              <a:buNone/>
            </a:pPr>
            <a:r>
              <a:rPr lang="en-US" altLang="zh-TW" dirty="0"/>
              <a:t>       </a:t>
            </a:r>
            <a:r>
              <a:rPr lang="zh-TW" dirty="0"/>
              <a:t>The final result is produced by setting pixels with labels greater than 1 to</a:t>
            </a:r>
            <a:endParaRPr dirty="0"/>
          </a:p>
          <a:p>
            <a:pPr marL="0" lvl="0" indent="0" algn="just" rtl="0">
              <a:spcBef>
                <a:spcPts val="0"/>
              </a:spcBef>
              <a:spcAft>
                <a:spcPts val="0"/>
              </a:spcAft>
              <a:buNone/>
            </a:pPr>
            <a:r>
              <a:rPr lang="zh-TW" dirty="0"/>
              <a:t>       white (255) and boundary pixels (-1) to black (0).</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9"/>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TW" sz="3540"/>
              <a:t>Experimental Results -- Watershed</a:t>
            </a:r>
            <a:endParaRPr sz="3540"/>
          </a:p>
        </p:txBody>
      </p:sp>
      <p:sp>
        <p:nvSpPr>
          <p:cNvPr id="104" name="Google Shape;104;p19"/>
          <p:cNvSpPr txBox="1">
            <a:spLocks noGrp="1"/>
          </p:cNvSpPr>
          <p:nvPr>
            <p:ph type="body" idx="1"/>
          </p:nvPr>
        </p:nvSpPr>
        <p:spPr>
          <a:xfrm>
            <a:off x="311700" y="1266325"/>
            <a:ext cx="8520600" cy="6084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zh-TW" sz="2000" b="1"/>
              <a:t>Intersection over Union (IoU) : 0.62</a:t>
            </a:r>
            <a:endParaRPr sz="2000" b="1"/>
          </a:p>
        </p:txBody>
      </p:sp>
      <p:pic>
        <p:nvPicPr>
          <p:cNvPr id="105" name="Google Shape;105;p19"/>
          <p:cNvPicPr preferRelativeResize="0"/>
          <p:nvPr/>
        </p:nvPicPr>
        <p:blipFill>
          <a:blip r:embed="rId3">
            <a:alphaModFix/>
          </a:blip>
          <a:stretch>
            <a:fillRect/>
          </a:stretch>
        </p:blipFill>
        <p:spPr>
          <a:xfrm>
            <a:off x="311700" y="2596838"/>
            <a:ext cx="2661700" cy="1996275"/>
          </a:xfrm>
          <a:prstGeom prst="rect">
            <a:avLst/>
          </a:prstGeom>
          <a:noFill/>
          <a:ln>
            <a:noFill/>
          </a:ln>
        </p:spPr>
      </p:pic>
      <p:pic>
        <p:nvPicPr>
          <p:cNvPr id="106" name="Google Shape;106;p19"/>
          <p:cNvPicPr preferRelativeResize="0"/>
          <p:nvPr/>
        </p:nvPicPr>
        <p:blipFill>
          <a:blip r:embed="rId4">
            <a:alphaModFix/>
          </a:blip>
          <a:stretch>
            <a:fillRect/>
          </a:stretch>
        </p:blipFill>
        <p:spPr>
          <a:xfrm>
            <a:off x="3241150" y="2596825"/>
            <a:ext cx="2661700" cy="1996281"/>
          </a:xfrm>
          <a:prstGeom prst="rect">
            <a:avLst/>
          </a:prstGeom>
          <a:noFill/>
          <a:ln>
            <a:noFill/>
          </a:ln>
        </p:spPr>
      </p:pic>
      <p:sp>
        <p:nvSpPr>
          <p:cNvPr id="107" name="Google Shape;107;p19"/>
          <p:cNvSpPr txBox="1"/>
          <p:nvPr/>
        </p:nvSpPr>
        <p:spPr>
          <a:xfrm>
            <a:off x="311800" y="2057150"/>
            <a:ext cx="2661600" cy="539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zh-TW" sz="1800" dirty="0">
                <a:solidFill>
                  <a:schemeClr val="bg2"/>
                </a:solidFill>
                <a:latin typeface="Open Sans"/>
                <a:ea typeface="Open Sans"/>
                <a:cs typeface="Open Sans"/>
                <a:sym typeface="Open Sans"/>
              </a:rPr>
              <a:t>image</a:t>
            </a:r>
            <a:endParaRPr sz="1800" dirty="0">
              <a:solidFill>
                <a:schemeClr val="bg2"/>
              </a:solidFill>
              <a:latin typeface="Open Sans"/>
              <a:ea typeface="Open Sans"/>
              <a:cs typeface="Open Sans"/>
              <a:sym typeface="Open Sans"/>
            </a:endParaRPr>
          </a:p>
        </p:txBody>
      </p:sp>
      <p:sp>
        <p:nvSpPr>
          <p:cNvPr id="108" name="Google Shape;108;p19"/>
          <p:cNvSpPr txBox="1"/>
          <p:nvPr/>
        </p:nvSpPr>
        <p:spPr>
          <a:xfrm>
            <a:off x="3241150" y="2057150"/>
            <a:ext cx="2661600" cy="539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zh-TW" sz="1833" dirty="0">
                <a:solidFill>
                  <a:schemeClr val="bg2"/>
                </a:solidFill>
                <a:latin typeface="Open Sans"/>
                <a:ea typeface="Open Sans"/>
                <a:cs typeface="Open Sans"/>
                <a:sym typeface="Open Sans"/>
              </a:rPr>
              <a:t>actual</a:t>
            </a:r>
            <a:r>
              <a:rPr lang="zh-TW" sz="1800" dirty="0">
                <a:solidFill>
                  <a:schemeClr val="bg2"/>
                </a:solidFill>
                <a:latin typeface="Open Sans"/>
                <a:ea typeface="Open Sans"/>
                <a:cs typeface="Open Sans"/>
                <a:sym typeface="Open Sans"/>
              </a:rPr>
              <a:t> mask</a:t>
            </a:r>
            <a:endParaRPr sz="1800" dirty="0">
              <a:solidFill>
                <a:schemeClr val="bg2"/>
              </a:solidFill>
              <a:latin typeface="Open Sans"/>
              <a:ea typeface="Open Sans"/>
              <a:cs typeface="Open Sans"/>
              <a:sym typeface="Open Sans"/>
            </a:endParaRPr>
          </a:p>
        </p:txBody>
      </p:sp>
      <p:sp>
        <p:nvSpPr>
          <p:cNvPr id="109" name="Google Shape;109;p19"/>
          <p:cNvSpPr txBox="1"/>
          <p:nvPr/>
        </p:nvSpPr>
        <p:spPr>
          <a:xfrm>
            <a:off x="6170600" y="2057150"/>
            <a:ext cx="2661600" cy="539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zh-TW" sz="1800" dirty="0">
                <a:solidFill>
                  <a:schemeClr val="bg2"/>
                </a:solidFill>
                <a:latin typeface="Open Sans"/>
                <a:ea typeface="Open Sans"/>
                <a:cs typeface="Open Sans"/>
                <a:sym typeface="Open Sans"/>
              </a:rPr>
              <a:t>predicted mask</a:t>
            </a:r>
            <a:endParaRPr sz="1800" dirty="0">
              <a:solidFill>
                <a:schemeClr val="bg2"/>
              </a:solidFill>
              <a:latin typeface="Open Sans"/>
              <a:ea typeface="Open Sans"/>
              <a:cs typeface="Open Sans"/>
              <a:sym typeface="Open Sans"/>
            </a:endParaRPr>
          </a:p>
        </p:txBody>
      </p:sp>
      <p:pic>
        <p:nvPicPr>
          <p:cNvPr id="110" name="Google Shape;110;p19"/>
          <p:cNvPicPr preferRelativeResize="0"/>
          <p:nvPr/>
        </p:nvPicPr>
        <p:blipFill>
          <a:blip r:embed="rId5">
            <a:alphaModFix/>
          </a:blip>
          <a:stretch>
            <a:fillRect/>
          </a:stretch>
        </p:blipFill>
        <p:spPr>
          <a:xfrm>
            <a:off x="6170600" y="2595950"/>
            <a:ext cx="2660401" cy="19980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0"/>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TW" sz="3540"/>
              <a:t>Experimental Results -- Watershed</a:t>
            </a:r>
            <a:endParaRPr sz="3540"/>
          </a:p>
        </p:txBody>
      </p:sp>
      <p:sp>
        <p:nvSpPr>
          <p:cNvPr id="116" name="Google Shape;116;p20"/>
          <p:cNvSpPr txBox="1">
            <a:spLocks noGrp="1"/>
          </p:cNvSpPr>
          <p:nvPr>
            <p:ph type="body" idx="1"/>
          </p:nvPr>
        </p:nvSpPr>
        <p:spPr>
          <a:xfrm>
            <a:off x="311700" y="1266325"/>
            <a:ext cx="8520600" cy="6084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zh-TW" sz="2000" b="1"/>
              <a:t>Intersection over Union (IoU) : 0.40</a:t>
            </a:r>
            <a:endParaRPr sz="2000" b="1"/>
          </a:p>
        </p:txBody>
      </p:sp>
      <p:sp>
        <p:nvSpPr>
          <p:cNvPr id="117" name="Google Shape;117;p20"/>
          <p:cNvSpPr txBox="1"/>
          <p:nvPr/>
        </p:nvSpPr>
        <p:spPr>
          <a:xfrm>
            <a:off x="311800" y="2057150"/>
            <a:ext cx="2661600" cy="539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zh-TW" sz="1800" dirty="0">
                <a:solidFill>
                  <a:schemeClr val="bg2"/>
                </a:solidFill>
                <a:latin typeface="Open Sans"/>
                <a:ea typeface="Open Sans"/>
                <a:cs typeface="Open Sans"/>
                <a:sym typeface="Open Sans"/>
              </a:rPr>
              <a:t>image</a:t>
            </a:r>
            <a:endParaRPr sz="1800" dirty="0">
              <a:solidFill>
                <a:schemeClr val="bg2"/>
              </a:solidFill>
              <a:latin typeface="Open Sans"/>
              <a:ea typeface="Open Sans"/>
              <a:cs typeface="Open Sans"/>
              <a:sym typeface="Open Sans"/>
            </a:endParaRPr>
          </a:p>
        </p:txBody>
      </p:sp>
      <p:sp>
        <p:nvSpPr>
          <p:cNvPr id="118" name="Google Shape;118;p20"/>
          <p:cNvSpPr txBox="1"/>
          <p:nvPr/>
        </p:nvSpPr>
        <p:spPr>
          <a:xfrm>
            <a:off x="3241150" y="2057150"/>
            <a:ext cx="2661600" cy="539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zh-TW" sz="1833">
                <a:solidFill>
                  <a:schemeClr val="dk2"/>
                </a:solidFill>
                <a:latin typeface="Open Sans"/>
                <a:ea typeface="Open Sans"/>
                <a:cs typeface="Open Sans"/>
                <a:sym typeface="Open Sans"/>
              </a:rPr>
              <a:t>actual</a:t>
            </a:r>
            <a:r>
              <a:rPr lang="zh-TW" sz="1800">
                <a:solidFill>
                  <a:schemeClr val="dk2"/>
                </a:solidFill>
                <a:latin typeface="Open Sans"/>
                <a:ea typeface="Open Sans"/>
                <a:cs typeface="Open Sans"/>
                <a:sym typeface="Open Sans"/>
              </a:rPr>
              <a:t> mask</a:t>
            </a:r>
            <a:endParaRPr sz="1800">
              <a:solidFill>
                <a:schemeClr val="dk2"/>
              </a:solidFill>
              <a:latin typeface="Open Sans"/>
              <a:ea typeface="Open Sans"/>
              <a:cs typeface="Open Sans"/>
              <a:sym typeface="Open Sans"/>
            </a:endParaRPr>
          </a:p>
        </p:txBody>
      </p:sp>
      <p:sp>
        <p:nvSpPr>
          <p:cNvPr id="119" name="Google Shape;119;p20"/>
          <p:cNvSpPr txBox="1"/>
          <p:nvPr/>
        </p:nvSpPr>
        <p:spPr>
          <a:xfrm>
            <a:off x="6170600" y="2057150"/>
            <a:ext cx="2661600" cy="539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zh-TW" sz="1800">
                <a:solidFill>
                  <a:schemeClr val="dk2"/>
                </a:solidFill>
                <a:latin typeface="Open Sans"/>
                <a:ea typeface="Open Sans"/>
                <a:cs typeface="Open Sans"/>
                <a:sym typeface="Open Sans"/>
              </a:rPr>
              <a:t>predicted mask</a:t>
            </a:r>
            <a:endParaRPr sz="1800">
              <a:solidFill>
                <a:schemeClr val="dk2"/>
              </a:solidFill>
              <a:latin typeface="Open Sans"/>
              <a:ea typeface="Open Sans"/>
              <a:cs typeface="Open Sans"/>
              <a:sym typeface="Open Sans"/>
            </a:endParaRPr>
          </a:p>
        </p:txBody>
      </p:sp>
      <p:pic>
        <p:nvPicPr>
          <p:cNvPr id="120" name="Google Shape;120;p20"/>
          <p:cNvPicPr preferRelativeResize="0"/>
          <p:nvPr/>
        </p:nvPicPr>
        <p:blipFill>
          <a:blip r:embed="rId3">
            <a:alphaModFix/>
          </a:blip>
          <a:stretch>
            <a:fillRect/>
          </a:stretch>
        </p:blipFill>
        <p:spPr>
          <a:xfrm>
            <a:off x="311800" y="2596850"/>
            <a:ext cx="2661699" cy="1996285"/>
          </a:xfrm>
          <a:prstGeom prst="rect">
            <a:avLst/>
          </a:prstGeom>
          <a:noFill/>
          <a:ln>
            <a:noFill/>
          </a:ln>
        </p:spPr>
      </p:pic>
      <p:pic>
        <p:nvPicPr>
          <p:cNvPr id="121" name="Google Shape;121;p20"/>
          <p:cNvPicPr preferRelativeResize="0"/>
          <p:nvPr/>
        </p:nvPicPr>
        <p:blipFill>
          <a:blip r:embed="rId4">
            <a:alphaModFix/>
          </a:blip>
          <a:stretch>
            <a:fillRect/>
          </a:stretch>
        </p:blipFill>
        <p:spPr>
          <a:xfrm>
            <a:off x="3241150" y="2596850"/>
            <a:ext cx="2661699" cy="1996274"/>
          </a:xfrm>
          <a:prstGeom prst="rect">
            <a:avLst/>
          </a:prstGeom>
          <a:noFill/>
          <a:ln>
            <a:noFill/>
          </a:ln>
        </p:spPr>
      </p:pic>
      <p:pic>
        <p:nvPicPr>
          <p:cNvPr id="122" name="Google Shape;122;p20"/>
          <p:cNvPicPr preferRelativeResize="0"/>
          <p:nvPr/>
        </p:nvPicPr>
        <p:blipFill>
          <a:blip r:embed="rId5">
            <a:alphaModFix/>
          </a:blip>
          <a:stretch>
            <a:fillRect/>
          </a:stretch>
        </p:blipFill>
        <p:spPr>
          <a:xfrm>
            <a:off x="6170498" y="2595988"/>
            <a:ext cx="2660401" cy="19980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1"/>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TW" sz="3540"/>
              <a:t>Experimental Results -- Watershed</a:t>
            </a:r>
            <a:endParaRPr sz="3540"/>
          </a:p>
        </p:txBody>
      </p:sp>
      <p:sp>
        <p:nvSpPr>
          <p:cNvPr id="128" name="Google Shape;128;p21"/>
          <p:cNvSpPr txBox="1">
            <a:spLocks noGrp="1"/>
          </p:cNvSpPr>
          <p:nvPr>
            <p:ph type="body" idx="1"/>
          </p:nvPr>
        </p:nvSpPr>
        <p:spPr>
          <a:xfrm>
            <a:off x="311700" y="1266325"/>
            <a:ext cx="8520600" cy="6084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zh-TW" sz="2000" b="1"/>
              <a:t>Intersection over Union (IoU) : 0.40</a:t>
            </a:r>
            <a:endParaRPr sz="2000" b="1"/>
          </a:p>
        </p:txBody>
      </p:sp>
      <p:sp>
        <p:nvSpPr>
          <p:cNvPr id="129" name="Google Shape;129;p21"/>
          <p:cNvSpPr txBox="1"/>
          <p:nvPr/>
        </p:nvSpPr>
        <p:spPr>
          <a:xfrm>
            <a:off x="311800" y="2057150"/>
            <a:ext cx="2661600" cy="539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zh-TW" sz="1800">
                <a:solidFill>
                  <a:schemeClr val="dk2"/>
                </a:solidFill>
                <a:latin typeface="Open Sans"/>
                <a:ea typeface="Open Sans"/>
                <a:cs typeface="Open Sans"/>
                <a:sym typeface="Open Sans"/>
              </a:rPr>
              <a:t>image</a:t>
            </a:r>
            <a:endParaRPr sz="1800">
              <a:solidFill>
                <a:schemeClr val="dk2"/>
              </a:solidFill>
              <a:latin typeface="Open Sans"/>
              <a:ea typeface="Open Sans"/>
              <a:cs typeface="Open Sans"/>
              <a:sym typeface="Open Sans"/>
            </a:endParaRPr>
          </a:p>
        </p:txBody>
      </p:sp>
      <p:sp>
        <p:nvSpPr>
          <p:cNvPr id="130" name="Google Shape;130;p21"/>
          <p:cNvSpPr txBox="1"/>
          <p:nvPr/>
        </p:nvSpPr>
        <p:spPr>
          <a:xfrm>
            <a:off x="3241150" y="2057150"/>
            <a:ext cx="2661600" cy="539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zh-TW" sz="1833">
                <a:solidFill>
                  <a:schemeClr val="dk2"/>
                </a:solidFill>
                <a:latin typeface="Open Sans"/>
                <a:ea typeface="Open Sans"/>
                <a:cs typeface="Open Sans"/>
                <a:sym typeface="Open Sans"/>
              </a:rPr>
              <a:t>actual</a:t>
            </a:r>
            <a:r>
              <a:rPr lang="zh-TW" sz="1800">
                <a:solidFill>
                  <a:schemeClr val="dk2"/>
                </a:solidFill>
                <a:latin typeface="Open Sans"/>
                <a:ea typeface="Open Sans"/>
                <a:cs typeface="Open Sans"/>
                <a:sym typeface="Open Sans"/>
              </a:rPr>
              <a:t> mask</a:t>
            </a:r>
            <a:endParaRPr sz="1800">
              <a:solidFill>
                <a:schemeClr val="dk2"/>
              </a:solidFill>
              <a:latin typeface="Open Sans"/>
              <a:ea typeface="Open Sans"/>
              <a:cs typeface="Open Sans"/>
              <a:sym typeface="Open Sans"/>
            </a:endParaRPr>
          </a:p>
        </p:txBody>
      </p:sp>
      <p:sp>
        <p:nvSpPr>
          <p:cNvPr id="131" name="Google Shape;131;p21"/>
          <p:cNvSpPr txBox="1"/>
          <p:nvPr/>
        </p:nvSpPr>
        <p:spPr>
          <a:xfrm>
            <a:off x="6170600" y="2057150"/>
            <a:ext cx="2661600" cy="539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zh-TW" sz="1800">
                <a:solidFill>
                  <a:schemeClr val="dk2"/>
                </a:solidFill>
                <a:latin typeface="Open Sans"/>
                <a:ea typeface="Open Sans"/>
                <a:cs typeface="Open Sans"/>
                <a:sym typeface="Open Sans"/>
              </a:rPr>
              <a:t>predicted mask</a:t>
            </a:r>
            <a:endParaRPr sz="1800">
              <a:solidFill>
                <a:schemeClr val="dk2"/>
              </a:solidFill>
              <a:latin typeface="Open Sans"/>
              <a:ea typeface="Open Sans"/>
              <a:cs typeface="Open Sans"/>
              <a:sym typeface="Open Sans"/>
            </a:endParaRPr>
          </a:p>
        </p:txBody>
      </p:sp>
      <p:pic>
        <p:nvPicPr>
          <p:cNvPr id="132" name="Google Shape;132;p21"/>
          <p:cNvPicPr preferRelativeResize="0"/>
          <p:nvPr/>
        </p:nvPicPr>
        <p:blipFill>
          <a:blip r:embed="rId3">
            <a:alphaModFix/>
          </a:blip>
          <a:stretch>
            <a:fillRect/>
          </a:stretch>
        </p:blipFill>
        <p:spPr>
          <a:xfrm>
            <a:off x="313100" y="2595988"/>
            <a:ext cx="2660400" cy="1998000"/>
          </a:xfrm>
          <a:prstGeom prst="rect">
            <a:avLst/>
          </a:prstGeom>
          <a:noFill/>
          <a:ln>
            <a:noFill/>
          </a:ln>
        </p:spPr>
      </p:pic>
      <p:pic>
        <p:nvPicPr>
          <p:cNvPr id="133" name="Google Shape;133;p21"/>
          <p:cNvPicPr preferRelativeResize="0"/>
          <p:nvPr/>
        </p:nvPicPr>
        <p:blipFill>
          <a:blip r:embed="rId4">
            <a:alphaModFix/>
          </a:blip>
          <a:stretch>
            <a:fillRect/>
          </a:stretch>
        </p:blipFill>
        <p:spPr>
          <a:xfrm>
            <a:off x="3183050" y="2595988"/>
            <a:ext cx="2660400" cy="1998000"/>
          </a:xfrm>
          <a:prstGeom prst="rect">
            <a:avLst/>
          </a:prstGeom>
          <a:noFill/>
          <a:ln>
            <a:noFill/>
          </a:ln>
        </p:spPr>
      </p:pic>
      <p:pic>
        <p:nvPicPr>
          <p:cNvPr id="134" name="Google Shape;134;p21"/>
          <p:cNvPicPr preferRelativeResize="0"/>
          <p:nvPr/>
        </p:nvPicPr>
        <p:blipFill>
          <a:blip r:embed="rId5">
            <a:alphaModFix/>
          </a:blip>
          <a:stretch>
            <a:fillRect/>
          </a:stretch>
        </p:blipFill>
        <p:spPr>
          <a:xfrm>
            <a:off x="6170400" y="2596000"/>
            <a:ext cx="2660401" cy="19980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2"/>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TW" sz="3540"/>
              <a:t>Analysis -- Watershed</a:t>
            </a:r>
            <a:endParaRPr sz="3540"/>
          </a:p>
        </p:txBody>
      </p:sp>
      <p:sp>
        <p:nvSpPr>
          <p:cNvPr id="140" name="Google Shape;140;p22"/>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457200" lvl="0" indent="-342900" algn="just" rtl="0">
              <a:spcBef>
                <a:spcPts val="0"/>
              </a:spcBef>
              <a:spcAft>
                <a:spcPts val="0"/>
              </a:spcAft>
              <a:buSzPts val="1800"/>
              <a:buChar char="●"/>
            </a:pPr>
            <a:r>
              <a:rPr lang="zh-TW" dirty="0"/>
              <a:t>However, upon examining the output of the watershed algorithm, I find that while the algorithm can reasonably predict the edges of the objects in the input image, it struggles to accurately differentiate between water and non-water areas. </a:t>
            </a:r>
            <a:endParaRPr dirty="0"/>
          </a:p>
          <a:p>
            <a:pPr marL="0" lvl="0" indent="0" algn="just" rtl="0">
              <a:spcBef>
                <a:spcPts val="1200"/>
              </a:spcBef>
              <a:spcAft>
                <a:spcPts val="0"/>
              </a:spcAft>
              <a:buNone/>
            </a:pPr>
            <a:endParaRPr dirty="0"/>
          </a:p>
          <a:p>
            <a:pPr marL="457200" lvl="0" indent="-355600" algn="just" rtl="0">
              <a:spcBef>
                <a:spcPts val="1200"/>
              </a:spcBef>
              <a:spcAft>
                <a:spcPts val="0"/>
              </a:spcAft>
              <a:buSzPts val="2000"/>
              <a:buChar char="●"/>
            </a:pPr>
            <a:r>
              <a:rPr lang="zh-TW" sz="2000" b="1" dirty="0"/>
              <a:t>Proposed Solution</a:t>
            </a:r>
            <a:r>
              <a:rPr lang="en-US" altLang="zh-TW" sz="2000" b="1" dirty="0"/>
              <a:t> </a:t>
            </a:r>
            <a:r>
              <a:rPr lang="zh-TW" sz="2000" b="1" dirty="0"/>
              <a:t>:</a:t>
            </a:r>
            <a:endParaRPr sz="2000" b="1" dirty="0"/>
          </a:p>
          <a:p>
            <a:pPr marL="914400" lvl="1" indent="-342900" algn="just" rtl="0">
              <a:spcBef>
                <a:spcPts val="0"/>
              </a:spcBef>
              <a:spcAft>
                <a:spcPts val="0"/>
              </a:spcAft>
              <a:buSzPts val="1800"/>
              <a:buChar char="○"/>
            </a:pPr>
            <a:r>
              <a:rPr lang="zh-TW" sz="1800" dirty="0"/>
              <a:t>We plan to develop a statistical model, known as the Maximum A Posteriori (MAP) estimation, to address this issue more effectively.</a:t>
            </a:r>
            <a:endParaRPr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3"/>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TW" sz="3540"/>
              <a:t>Experimental Results -- Watershed with MAP</a:t>
            </a:r>
            <a:endParaRPr sz="3540"/>
          </a:p>
        </p:txBody>
      </p:sp>
      <p:sp>
        <p:nvSpPr>
          <p:cNvPr id="146" name="Google Shape;146;p23"/>
          <p:cNvSpPr txBox="1">
            <a:spLocks noGrp="1"/>
          </p:cNvSpPr>
          <p:nvPr>
            <p:ph type="body" idx="1"/>
          </p:nvPr>
        </p:nvSpPr>
        <p:spPr>
          <a:xfrm>
            <a:off x="311700" y="1266325"/>
            <a:ext cx="8520600" cy="6084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zh-TW" sz="2000" b="1"/>
              <a:t>Intersection over Union (IoU) : 0.64</a:t>
            </a:r>
            <a:endParaRPr sz="2000" b="1"/>
          </a:p>
        </p:txBody>
      </p:sp>
      <p:pic>
        <p:nvPicPr>
          <p:cNvPr id="147" name="Google Shape;147;p23"/>
          <p:cNvPicPr preferRelativeResize="0"/>
          <p:nvPr/>
        </p:nvPicPr>
        <p:blipFill>
          <a:blip r:embed="rId3">
            <a:alphaModFix/>
          </a:blip>
          <a:stretch>
            <a:fillRect/>
          </a:stretch>
        </p:blipFill>
        <p:spPr>
          <a:xfrm>
            <a:off x="311700" y="2596838"/>
            <a:ext cx="2661700" cy="1996275"/>
          </a:xfrm>
          <a:prstGeom prst="rect">
            <a:avLst/>
          </a:prstGeom>
          <a:noFill/>
          <a:ln>
            <a:noFill/>
          </a:ln>
        </p:spPr>
      </p:pic>
      <p:pic>
        <p:nvPicPr>
          <p:cNvPr id="148" name="Google Shape;148;p23"/>
          <p:cNvPicPr preferRelativeResize="0"/>
          <p:nvPr/>
        </p:nvPicPr>
        <p:blipFill>
          <a:blip r:embed="rId4">
            <a:alphaModFix/>
          </a:blip>
          <a:stretch>
            <a:fillRect/>
          </a:stretch>
        </p:blipFill>
        <p:spPr>
          <a:xfrm>
            <a:off x="3241150" y="2596825"/>
            <a:ext cx="2661700" cy="1996281"/>
          </a:xfrm>
          <a:prstGeom prst="rect">
            <a:avLst/>
          </a:prstGeom>
          <a:noFill/>
          <a:ln>
            <a:noFill/>
          </a:ln>
        </p:spPr>
      </p:pic>
      <p:pic>
        <p:nvPicPr>
          <p:cNvPr id="149" name="Google Shape;149;p23"/>
          <p:cNvPicPr preferRelativeResize="0"/>
          <p:nvPr/>
        </p:nvPicPr>
        <p:blipFill>
          <a:blip r:embed="rId5">
            <a:alphaModFix/>
          </a:blip>
          <a:stretch>
            <a:fillRect/>
          </a:stretch>
        </p:blipFill>
        <p:spPr>
          <a:xfrm>
            <a:off x="6170600" y="2596837"/>
            <a:ext cx="2661708" cy="1996275"/>
          </a:xfrm>
          <a:prstGeom prst="rect">
            <a:avLst/>
          </a:prstGeom>
          <a:noFill/>
          <a:ln>
            <a:noFill/>
          </a:ln>
        </p:spPr>
      </p:pic>
      <p:sp>
        <p:nvSpPr>
          <p:cNvPr id="150" name="Google Shape;150;p23"/>
          <p:cNvSpPr txBox="1"/>
          <p:nvPr/>
        </p:nvSpPr>
        <p:spPr>
          <a:xfrm>
            <a:off x="311800" y="2057150"/>
            <a:ext cx="2661600" cy="539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zh-TW" sz="1800">
                <a:solidFill>
                  <a:schemeClr val="dk2"/>
                </a:solidFill>
                <a:latin typeface="Open Sans"/>
                <a:ea typeface="Open Sans"/>
                <a:cs typeface="Open Sans"/>
                <a:sym typeface="Open Sans"/>
              </a:rPr>
              <a:t>image</a:t>
            </a:r>
            <a:endParaRPr sz="1800">
              <a:solidFill>
                <a:schemeClr val="dk2"/>
              </a:solidFill>
              <a:latin typeface="Open Sans"/>
              <a:ea typeface="Open Sans"/>
              <a:cs typeface="Open Sans"/>
              <a:sym typeface="Open Sans"/>
            </a:endParaRPr>
          </a:p>
        </p:txBody>
      </p:sp>
      <p:sp>
        <p:nvSpPr>
          <p:cNvPr id="151" name="Google Shape;151;p23"/>
          <p:cNvSpPr txBox="1"/>
          <p:nvPr/>
        </p:nvSpPr>
        <p:spPr>
          <a:xfrm>
            <a:off x="3241150" y="2057150"/>
            <a:ext cx="2661600" cy="539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zh-TW" sz="1833">
                <a:solidFill>
                  <a:schemeClr val="dk2"/>
                </a:solidFill>
                <a:latin typeface="Open Sans"/>
                <a:ea typeface="Open Sans"/>
                <a:cs typeface="Open Sans"/>
                <a:sym typeface="Open Sans"/>
              </a:rPr>
              <a:t>actual</a:t>
            </a:r>
            <a:r>
              <a:rPr lang="zh-TW" sz="1800">
                <a:solidFill>
                  <a:schemeClr val="dk2"/>
                </a:solidFill>
                <a:latin typeface="Open Sans"/>
                <a:ea typeface="Open Sans"/>
                <a:cs typeface="Open Sans"/>
                <a:sym typeface="Open Sans"/>
              </a:rPr>
              <a:t> mask</a:t>
            </a:r>
            <a:endParaRPr sz="1800">
              <a:solidFill>
                <a:schemeClr val="dk2"/>
              </a:solidFill>
              <a:latin typeface="Open Sans"/>
              <a:ea typeface="Open Sans"/>
              <a:cs typeface="Open Sans"/>
              <a:sym typeface="Open Sans"/>
            </a:endParaRPr>
          </a:p>
        </p:txBody>
      </p:sp>
      <p:sp>
        <p:nvSpPr>
          <p:cNvPr id="152" name="Google Shape;152;p23"/>
          <p:cNvSpPr txBox="1"/>
          <p:nvPr/>
        </p:nvSpPr>
        <p:spPr>
          <a:xfrm>
            <a:off x="6170600" y="2057150"/>
            <a:ext cx="2661600" cy="539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zh-TW" sz="1800">
                <a:solidFill>
                  <a:schemeClr val="dk2"/>
                </a:solidFill>
                <a:latin typeface="Open Sans"/>
                <a:ea typeface="Open Sans"/>
                <a:cs typeface="Open Sans"/>
                <a:sym typeface="Open Sans"/>
              </a:rPr>
              <a:t>predicted mask</a:t>
            </a:r>
            <a:endParaRPr sz="1800">
              <a:solidFill>
                <a:schemeClr val="dk2"/>
              </a:solidFill>
              <a:latin typeface="Open Sans"/>
              <a:ea typeface="Open Sans"/>
              <a:cs typeface="Open Sans"/>
              <a:sym typeface="Open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TW" sz="3540"/>
              <a:t>Experimental Results -- Watershed with MAP</a:t>
            </a:r>
            <a:endParaRPr sz="3540"/>
          </a:p>
        </p:txBody>
      </p:sp>
      <p:sp>
        <p:nvSpPr>
          <p:cNvPr id="158" name="Google Shape;158;p24"/>
          <p:cNvSpPr txBox="1">
            <a:spLocks noGrp="1"/>
          </p:cNvSpPr>
          <p:nvPr>
            <p:ph type="body" idx="1"/>
          </p:nvPr>
        </p:nvSpPr>
        <p:spPr>
          <a:xfrm>
            <a:off x="311700" y="1266325"/>
            <a:ext cx="8520600" cy="6084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zh-TW" sz="2000" b="1"/>
              <a:t>Intersection over Union (IoU) : 0.45</a:t>
            </a:r>
            <a:endParaRPr sz="2000" b="1"/>
          </a:p>
        </p:txBody>
      </p:sp>
      <p:sp>
        <p:nvSpPr>
          <p:cNvPr id="159" name="Google Shape;159;p24"/>
          <p:cNvSpPr txBox="1"/>
          <p:nvPr/>
        </p:nvSpPr>
        <p:spPr>
          <a:xfrm>
            <a:off x="311800" y="2057150"/>
            <a:ext cx="2661600" cy="539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zh-TW" sz="1800">
                <a:solidFill>
                  <a:schemeClr val="dk2"/>
                </a:solidFill>
                <a:latin typeface="Open Sans"/>
                <a:ea typeface="Open Sans"/>
                <a:cs typeface="Open Sans"/>
                <a:sym typeface="Open Sans"/>
              </a:rPr>
              <a:t>image</a:t>
            </a:r>
            <a:endParaRPr sz="1800">
              <a:solidFill>
                <a:schemeClr val="dk2"/>
              </a:solidFill>
              <a:latin typeface="Open Sans"/>
              <a:ea typeface="Open Sans"/>
              <a:cs typeface="Open Sans"/>
              <a:sym typeface="Open Sans"/>
            </a:endParaRPr>
          </a:p>
        </p:txBody>
      </p:sp>
      <p:sp>
        <p:nvSpPr>
          <p:cNvPr id="160" name="Google Shape;160;p24"/>
          <p:cNvSpPr txBox="1"/>
          <p:nvPr/>
        </p:nvSpPr>
        <p:spPr>
          <a:xfrm>
            <a:off x="3241150" y="2057150"/>
            <a:ext cx="2661600" cy="539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zh-TW" sz="1833">
                <a:solidFill>
                  <a:schemeClr val="dk2"/>
                </a:solidFill>
                <a:latin typeface="Open Sans"/>
                <a:ea typeface="Open Sans"/>
                <a:cs typeface="Open Sans"/>
                <a:sym typeface="Open Sans"/>
              </a:rPr>
              <a:t>actual</a:t>
            </a:r>
            <a:r>
              <a:rPr lang="zh-TW" sz="1800">
                <a:solidFill>
                  <a:schemeClr val="dk2"/>
                </a:solidFill>
                <a:latin typeface="Open Sans"/>
                <a:ea typeface="Open Sans"/>
                <a:cs typeface="Open Sans"/>
                <a:sym typeface="Open Sans"/>
              </a:rPr>
              <a:t> mask</a:t>
            </a:r>
            <a:endParaRPr sz="1800">
              <a:solidFill>
                <a:schemeClr val="dk2"/>
              </a:solidFill>
              <a:latin typeface="Open Sans"/>
              <a:ea typeface="Open Sans"/>
              <a:cs typeface="Open Sans"/>
              <a:sym typeface="Open Sans"/>
            </a:endParaRPr>
          </a:p>
        </p:txBody>
      </p:sp>
      <p:sp>
        <p:nvSpPr>
          <p:cNvPr id="161" name="Google Shape;161;p24"/>
          <p:cNvSpPr txBox="1"/>
          <p:nvPr/>
        </p:nvSpPr>
        <p:spPr>
          <a:xfrm>
            <a:off x="6170600" y="2057150"/>
            <a:ext cx="2661600" cy="539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zh-TW" sz="1800">
                <a:solidFill>
                  <a:schemeClr val="dk2"/>
                </a:solidFill>
                <a:latin typeface="Open Sans"/>
                <a:ea typeface="Open Sans"/>
                <a:cs typeface="Open Sans"/>
                <a:sym typeface="Open Sans"/>
              </a:rPr>
              <a:t>predicted mask</a:t>
            </a:r>
            <a:endParaRPr sz="1800">
              <a:solidFill>
                <a:schemeClr val="dk2"/>
              </a:solidFill>
              <a:latin typeface="Open Sans"/>
              <a:ea typeface="Open Sans"/>
              <a:cs typeface="Open Sans"/>
              <a:sym typeface="Open Sans"/>
            </a:endParaRPr>
          </a:p>
        </p:txBody>
      </p:sp>
      <p:pic>
        <p:nvPicPr>
          <p:cNvPr id="162" name="Google Shape;162;p24"/>
          <p:cNvPicPr preferRelativeResize="0"/>
          <p:nvPr/>
        </p:nvPicPr>
        <p:blipFill>
          <a:blip r:embed="rId3">
            <a:alphaModFix/>
          </a:blip>
          <a:stretch>
            <a:fillRect/>
          </a:stretch>
        </p:blipFill>
        <p:spPr>
          <a:xfrm>
            <a:off x="311800" y="2596850"/>
            <a:ext cx="2661699" cy="1996285"/>
          </a:xfrm>
          <a:prstGeom prst="rect">
            <a:avLst/>
          </a:prstGeom>
          <a:noFill/>
          <a:ln>
            <a:noFill/>
          </a:ln>
        </p:spPr>
      </p:pic>
      <p:pic>
        <p:nvPicPr>
          <p:cNvPr id="163" name="Google Shape;163;p24"/>
          <p:cNvPicPr preferRelativeResize="0"/>
          <p:nvPr/>
        </p:nvPicPr>
        <p:blipFill>
          <a:blip r:embed="rId4">
            <a:alphaModFix/>
          </a:blip>
          <a:stretch>
            <a:fillRect/>
          </a:stretch>
        </p:blipFill>
        <p:spPr>
          <a:xfrm>
            <a:off x="3241150" y="2596850"/>
            <a:ext cx="2661699" cy="1996274"/>
          </a:xfrm>
          <a:prstGeom prst="rect">
            <a:avLst/>
          </a:prstGeom>
          <a:noFill/>
          <a:ln>
            <a:noFill/>
          </a:ln>
        </p:spPr>
      </p:pic>
      <p:pic>
        <p:nvPicPr>
          <p:cNvPr id="164" name="Google Shape;164;p24"/>
          <p:cNvPicPr preferRelativeResize="0"/>
          <p:nvPr/>
        </p:nvPicPr>
        <p:blipFill>
          <a:blip r:embed="rId5">
            <a:alphaModFix/>
          </a:blip>
          <a:stretch>
            <a:fillRect/>
          </a:stretch>
        </p:blipFill>
        <p:spPr>
          <a:xfrm>
            <a:off x="6170500" y="2596850"/>
            <a:ext cx="2661683" cy="199627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TW" sz="3540"/>
              <a:t>Experimental Results -- Watershed with MAP</a:t>
            </a:r>
            <a:endParaRPr sz="3540"/>
          </a:p>
        </p:txBody>
      </p:sp>
      <p:sp>
        <p:nvSpPr>
          <p:cNvPr id="170" name="Google Shape;170;p25"/>
          <p:cNvSpPr txBox="1">
            <a:spLocks noGrp="1"/>
          </p:cNvSpPr>
          <p:nvPr>
            <p:ph type="body" idx="1"/>
          </p:nvPr>
        </p:nvSpPr>
        <p:spPr>
          <a:xfrm>
            <a:off x="311700" y="1266325"/>
            <a:ext cx="8520600" cy="6084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zh-TW" sz="2000" b="1"/>
              <a:t>Intersection over Union (IoU) : 0.52</a:t>
            </a:r>
            <a:endParaRPr sz="2000" b="1"/>
          </a:p>
        </p:txBody>
      </p:sp>
      <p:sp>
        <p:nvSpPr>
          <p:cNvPr id="171" name="Google Shape;171;p25"/>
          <p:cNvSpPr txBox="1"/>
          <p:nvPr/>
        </p:nvSpPr>
        <p:spPr>
          <a:xfrm>
            <a:off x="311800" y="2057150"/>
            <a:ext cx="2661600" cy="539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zh-TW" sz="1800">
                <a:solidFill>
                  <a:schemeClr val="dk2"/>
                </a:solidFill>
                <a:latin typeface="Open Sans"/>
                <a:ea typeface="Open Sans"/>
                <a:cs typeface="Open Sans"/>
                <a:sym typeface="Open Sans"/>
              </a:rPr>
              <a:t>image</a:t>
            </a:r>
            <a:endParaRPr sz="1800">
              <a:solidFill>
                <a:schemeClr val="dk2"/>
              </a:solidFill>
              <a:latin typeface="Open Sans"/>
              <a:ea typeface="Open Sans"/>
              <a:cs typeface="Open Sans"/>
              <a:sym typeface="Open Sans"/>
            </a:endParaRPr>
          </a:p>
        </p:txBody>
      </p:sp>
      <p:sp>
        <p:nvSpPr>
          <p:cNvPr id="172" name="Google Shape;172;p25"/>
          <p:cNvSpPr txBox="1"/>
          <p:nvPr/>
        </p:nvSpPr>
        <p:spPr>
          <a:xfrm>
            <a:off x="3241150" y="2057150"/>
            <a:ext cx="2661600" cy="539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zh-TW" sz="1833">
                <a:solidFill>
                  <a:schemeClr val="dk2"/>
                </a:solidFill>
                <a:latin typeface="Open Sans"/>
                <a:ea typeface="Open Sans"/>
                <a:cs typeface="Open Sans"/>
                <a:sym typeface="Open Sans"/>
              </a:rPr>
              <a:t>actual</a:t>
            </a:r>
            <a:r>
              <a:rPr lang="zh-TW" sz="1800">
                <a:solidFill>
                  <a:schemeClr val="dk2"/>
                </a:solidFill>
                <a:latin typeface="Open Sans"/>
                <a:ea typeface="Open Sans"/>
                <a:cs typeface="Open Sans"/>
                <a:sym typeface="Open Sans"/>
              </a:rPr>
              <a:t> mask</a:t>
            </a:r>
            <a:endParaRPr sz="1800">
              <a:solidFill>
                <a:schemeClr val="dk2"/>
              </a:solidFill>
              <a:latin typeface="Open Sans"/>
              <a:ea typeface="Open Sans"/>
              <a:cs typeface="Open Sans"/>
              <a:sym typeface="Open Sans"/>
            </a:endParaRPr>
          </a:p>
        </p:txBody>
      </p:sp>
      <p:sp>
        <p:nvSpPr>
          <p:cNvPr id="173" name="Google Shape;173;p25"/>
          <p:cNvSpPr txBox="1"/>
          <p:nvPr/>
        </p:nvSpPr>
        <p:spPr>
          <a:xfrm>
            <a:off x="6170600" y="2057150"/>
            <a:ext cx="2661600" cy="539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zh-TW" sz="1800">
                <a:solidFill>
                  <a:schemeClr val="dk2"/>
                </a:solidFill>
                <a:latin typeface="Open Sans"/>
                <a:ea typeface="Open Sans"/>
                <a:cs typeface="Open Sans"/>
                <a:sym typeface="Open Sans"/>
              </a:rPr>
              <a:t>predicted mask</a:t>
            </a:r>
            <a:endParaRPr sz="1800">
              <a:solidFill>
                <a:schemeClr val="dk2"/>
              </a:solidFill>
              <a:latin typeface="Open Sans"/>
              <a:ea typeface="Open Sans"/>
              <a:cs typeface="Open Sans"/>
              <a:sym typeface="Open Sans"/>
            </a:endParaRPr>
          </a:p>
        </p:txBody>
      </p:sp>
      <p:pic>
        <p:nvPicPr>
          <p:cNvPr id="174" name="Google Shape;174;p25"/>
          <p:cNvPicPr preferRelativeResize="0"/>
          <p:nvPr/>
        </p:nvPicPr>
        <p:blipFill>
          <a:blip r:embed="rId3">
            <a:alphaModFix/>
          </a:blip>
          <a:stretch>
            <a:fillRect/>
          </a:stretch>
        </p:blipFill>
        <p:spPr>
          <a:xfrm>
            <a:off x="313100" y="2595988"/>
            <a:ext cx="2660400" cy="1998000"/>
          </a:xfrm>
          <a:prstGeom prst="rect">
            <a:avLst/>
          </a:prstGeom>
          <a:noFill/>
          <a:ln>
            <a:noFill/>
          </a:ln>
        </p:spPr>
      </p:pic>
      <p:pic>
        <p:nvPicPr>
          <p:cNvPr id="175" name="Google Shape;175;p25"/>
          <p:cNvPicPr preferRelativeResize="0"/>
          <p:nvPr/>
        </p:nvPicPr>
        <p:blipFill>
          <a:blip r:embed="rId4">
            <a:alphaModFix/>
          </a:blip>
          <a:stretch>
            <a:fillRect/>
          </a:stretch>
        </p:blipFill>
        <p:spPr>
          <a:xfrm>
            <a:off x="3183050" y="2595988"/>
            <a:ext cx="2660400" cy="1998000"/>
          </a:xfrm>
          <a:prstGeom prst="rect">
            <a:avLst/>
          </a:prstGeom>
          <a:noFill/>
          <a:ln>
            <a:noFill/>
          </a:ln>
        </p:spPr>
      </p:pic>
      <p:pic>
        <p:nvPicPr>
          <p:cNvPr id="176" name="Google Shape;176;p25"/>
          <p:cNvPicPr preferRelativeResize="0"/>
          <p:nvPr/>
        </p:nvPicPr>
        <p:blipFill>
          <a:blip r:embed="rId5">
            <a:alphaModFix/>
          </a:blip>
          <a:stretch>
            <a:fillRect/>
          </a:stretch>
        </p:blipFill>
        <p:spPr>
          <a:xfrm>
            <a:off x="6171200" y="2596000"/>
            <a:ext cx="2660400" cy="1998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TW" sz="3540"/>
              <a:t>Analysis -- Watershed with MAP</a:t>
            </a:r>
            <a:endParaRPr sz="3540"/>
          </a:p>
        </p:txBody>
      </p:sp>
      <p:sp>
        <p:nvSpPr>
          <p:cNvPr id="182" name="Google Shape;182;p26"/>
          <p:cNvSpPr txBox="1">
            <a:spLocks noGrp="1"/>
          </p:cNvSpPr>
          <p:nvPr>
            <p:ph type="body" idx="1"/>
          </p:nvPr>
        </p:nvSpPr>
        <p:spPr>
          <a:xfrm>
            <a:off x="311700" y="1266325"/>
            <a:ext cx="8520600" cy="3623100"/>
          </a:xfrm>
          <a:prstGeom prst="rect">
            <a:avLst/>
          </a:prstGeom>
        </p:spPr>
        <p:txBody>
          <a:bodyPr spcFirstLastPara="1" wrap="square" lIns="91425" tIns="91425" rIns="91425" bIns="91425" anchor="t" anchorCtr="0">
            <a:normAutofit lnSpcReduction="10000"/>
          </a:bodyPr>
          <a:lstStyle/>
          <a:p>
            <a:pPr marL="457200" lvl="0" indent="-342900" algn="just" rtl="0">
              <a:spcBef>
                <a:spcPts val="0"/>
              </a:spcBef>
              <a:spcAft>
                <a:spcPts val="0"/>
              </a:spcAft>
              <a:buSzPts val="1800"/>
              <a:buChar char="●"/>
            </a:pPr>
            <a:r>
              <a:rPr lang="zh-TW" dirty="0"/>
              <a:t>By analyzing the output of the watershed algorithm in conjunction with the MAP model, it is evident that the distinction between water and non-water areas has become more precise; however, the average IoU values have not shown significant improvement.</a:t>
            </a:r>
            <a:endParaRPr dirty="0"/>
          </a:p>
          <a:p>
            <a:pPr marL="0" lvl="0" indent="0" algn="just" rtl="0">
              <a:spcBef>
                <a:spcPts val="1200"/>
              </a:spcBef>
              <a:spcAft>
                <a:spcPts val="0"/>
              </a:spcAft>
              <a:buNone/>
            </a:pPr>
            <a:endParaRPr dirty="0"/>
          </a:p>
          <a:p>
            <a:pPr marL="457200" lvl="0" indent="-355600" algn="just" rtl="0">
              <a:spcBef>
                <a:spcPts val="1200"/>
              </a:spcBef>
              <a:spcAft>
                <a:spcPts val="0"/>
              </a:spcAft>
              <a:buSzPts val="2000"/>
              <a:buChar char="●"/>
            </a:pPr>
            <a:r>
              <a:rPr lang="zh-TW" sz="2000" b="1" dirty="0"/>
              <a:t>Potential Problems</a:t>
            </a:r>
            <a:r>
              <a:rPr lang="en-US" altLang="zh-TW" sz="2000" b="1" dirty="0"/>
              <a:t> </a:t>
            </a:r>
            <a:r>
              <a:rPr lang="zh-TW" sz="2000" b="1" dirty="0"/>
              <a:t>:</a:t>
            </a:r>
            <a:endParaRPr sz="2000" b="1" dirty="0"/>
          </a:p>
          <a:p>
            <a:pPr marL="914400" lvl="1" indent="-345050" algn="just" rtl="0">
              <a:spcBef>
                <a:spcPts val="0"/>
              </a:spcBef>
              <a:spcAft>
                <a:spcPts val="0"/>
              </a:spcAft>
              <a:buSzPts val="1834"/>
              <a:buChar char="○"/>
            </a:pPr>
            <a:r>
              <a:rPr lang="zh-TW" sz="1833" dirty="0"/>
              <a:t>As evidenced by the disparity between the actual and predicted masks, there is still an inaccurate assessment of the luminance variations on the water's surface and the differentiation between similar colors, such as water and sky.</a:t>
            </a:r>
            <a:endParaRPr sz="1833" dirty="0"/>
          </a:p>
          <a:p>
            <a:pPr marL="0" lvl="0" indent="0" algn="just" rtl="0">
              <a:spcBef>
                <a:spcPts val="1200"/>
              </a:spcBef>
              <a:spcAft>
                <a:spcPts val="1200"/>
              </a:spcAft>
              <a:buNone/>
            </a:pP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7"/>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TW" sz="3540"/>
              <a:t>Method -- Morphological Gradient</a:t>
            </a:r>
            <a:endParaRPr sz="3540"/>
          </a:p>
          <a:p>
            <a:pPr marL="0" lvl="0" indent="0" algn="l" rtl="0">
              <a:spcBef>
                <a:spcPts val="0"/>
              </a:spcBef>
              <a:spcAft>
                <a:spcPts val="0"/>
              </a:spcAft>
              <a:buSzPts val="990"/>
              <a:buNone/>
            </a:pPr>
            <a:r>
              <a:rPr lang="zh-TW" sz="3540"/>
              <a:t> </a:t>
            </a:r>
            <a:endParaRPr sz="3540"/>
          </a:p>
        </p:txBody>
      </p:sp>
      <p:sp>
        <p:nvSpPr>
          <p:cNvPr id="188" name="Google Shape;188;p27"/>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zh-TW"/>
              <a:t>Assumtion: water region would be smooth and non-water would be complex</a:t>
            </a:r>
            <a:endParaRPr/>
          </a:p>
          <a:p>
            <a:pPr marL="457200" lvl="0" indent="-342900" algn="l" rtl="0">
              <a:spcBef>
                <a:spcPts val="1200"/>
              </a:spcBef>
              <a:spcAft>
                <a:spcPts val="0"/>
              </a:spcAft>
              <a:buSzPts val="1800"/>
              <a:buAutoNum type="arabicPeriod"/>
            </a:pPr>
            <a:r>
              <a:rPr lang="zh-TW"/>
              <a:t>Transform the image into gray scale and apply Gaussian Smoothing</a:t>
            </a:r>
            <a:endParaRPr/>
          </a:p>
        </p:txBody>
      </p:sp>
      <p:pic>
        <p:nvPicPr>
          <p:cNvPr id="189" name="Google Shape;189;p27"/>
          <p:cNvPicPr preferRelativeResize="0"/>
          <p:nvPr/>
        </p:nvPicPr>
        <p:blipFill rotWithShape="1">
          <a:blip r:embed="rId3">
            <a:alphaModFix/>
          </a:blip>
          <a:srcRect r="79921"/>
          <a:stretch/>
        </p:blipFill>
        <p:spPr>
          <a:xfrm>
            <a:off x="221700" y="2477175"/>
            <a:ext cx="1728850" cy="16954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28"/>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TW" sz="3540"/>
              <a:t>Method -- Morphological Gradient</a:t>
            </a:r>
            <a:endParaRPr sz="3540"/>
          </a:p>
          <a:p>
            <a:pPr marL="0" lvl="0" indent="0" algn="l" rtl="0">
              <a:spcBef>
                <a:spcPts val="0"/>
              </a:spcBef>
              <a:spcAft>
                <a:spcPts val="0"/>
              </a:spcAft>
              <a:buSzPts val="990"/>
              <a:buNone/>
            </a:pPr>
            <a:r>
              <a:rPr lang="zh-TW" sz="3540"/>
              <a:t> </a:t>
            </a:r>
            <a:endParaRPr sz="3540"/>
          </a:p>
        </p:txBody>
      </p:sp>
      <p:sp>
        <p:nvSpPr>
          <p:cNvPr id="195" name="Google Shape;195;p28"/>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zh-TW"/>
              <a:t>Assumtion: water region would be smooth and non-water would be complex</a:t>
            </a:r>
            <a:endParaRPr/>
          </a:p>
          <a:p>
            <a:pPr marL="0" lvl="0" indent="0" algn="l" rtl="0">
              <a:spcBef>
                <a:spcPts val="1200"/>
              </a:spcBef>
              <a:spcAft>
                <a:spcPts val="1200"/>
              </a:spcAft>
              <a:buNone/>
            </a:pPr>
            <a:r>
              <a:rPr lang="zh-TW"/>
              <a:t>2.  Apply morphological gradient </a:t>
            </a:r>
            <a:endParaRPr/>
          </a:p>
        </p:txBody>
      </p:sp>
      <p:pic>
        <p:nvPicPr>
          <p:cNvPr id="196" name="Google Shape;196;p28"/>
          <p:cNvPicPr preferRelativeResize="0"/>
          <p:nvPr/>
        </p:nvPicPr>
        <p:blipFill rotWithShape="1">
          <a:blip r:embed="rId3">
            <a:alphaModFix/>
          </a:blip>
          <a:srcRect r="60035"/>
          <a:stretch/>
        </p:blipFill>
        <p:spPr>
          <a:xfrm>
            <a:off x="221700" y="2477175"/>
            <a:ext cx="3441200" cy="16954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29"/>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TW" sz="3540"/>
              <a:t>Method -- Morphological Gradient</a:t>
            </a:r>
            <a:endParaRPr sz="3540"/>
          </a:p>
          <a:p>
            <a:pPr marL="0" lvl="0" indent="0" algn="l" rtl="0">
              <a:spcBef>
                <a:spcPts val="0"/>
              </a:spcBef>
              <a:spcAft>
                <a:spcPts val="0"/>
              </a:spcAft>
              <a:buSzPts val="990"/>
              <a:buNone/>
            </a:pPr>
            <a:r>
              <a:rPr lang="zh-TW" sz="3540"/>
              <a:t> </a:t>
            </a:r>
            <a:endParaRPr sz="3540"/>
          </a:p>
        </p:txBody>
      </p:sp>
      <p:sp>
        <p:nvSpPr>
          <p:cNvPr id="202" name="Google Shape;202;p29"/>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zh-TW"/>
              <a:t>Assumption: water region would be smooth and non-water would be complex</a:t>
            </a:r>
            <a:endParaRPr/>
          </a:p>
          <a:p>
            <a:pPr marL="0" lvl="0" indent="0" algn="l" rtl="0">
              <a:spcBef>
                <a:spcPts val="1200"/>
              </a:spcBef>
              <a:spcAft>
                <a:spcPts val="1200"/>
              </a:spcAft>
              <a:buNone/>
            </a:pPr>
            <a:r>
              <a:rPr lang="zh-TW"/>
              <a:t>3.   Use the mean of gradient as threshold to convert the grayscale into binary </a:t>
            </a:r>
            <a:endParaRPr/>
          </a:p>
        </p:txBody>
      </p:sp>
      <p:pic>
        <p:nvPicPr>
          <p:cNvPr id="203" name="Google Shape;203;p29"/>
          <p:cNvPicPr preferRelativeResize="0"/>
          <p:nvPr/>
        </p:nvPicPr>
        <p:blipFill rotWithShape="1">
          <a:blip r:embed="rId3">
            <a:alphaModFix/>
          </a:blip>
          <a:srcRect r="40073"/>
          <a:stretch/>
        </p:blipFill>
        <p:spPr>
          <a:xfrm>
            <a:off x="221700" y="2477175"/>
            <a:ext cx="5159976" cy="16954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30"/>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TW" sz="3540"/>
              <a:t>Method -- Morphological Gradient</a:t>
            </a:r>
            <a:endParaRPr sz="3540"/>
          </a:p>
          <a:p>
            <a:pPr marL="0" lvl="0" indent="0" algn="l" rtl="0">
              <a:spcBef>
                <a:spcPts val="0"/>
              </a:spcBef>
              <a:spcAft>
                <a:spcPts val="0"/>
              </a:spcAft>
              <a:buSzPts val="990"/>
              <a:buNone/>
            </a:pPr>
            <a:r>
              <a:rPr lang="zh-TW" sz="3540"/>
              <a:t> </a:t>
            </a:r>
            <a:endParaRPr sz="3540"/>
          </a:p>
        </p:txBody>
      </p:sp>
      <p:sp>
        <p:nvSpPr>
          <p:cNvPr id="209" name="Google Shape;209;p30"/>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zh-TW"/>
              <a:t>Assumption: water region would be smooth and non-water would be complex</a:t>
            </a:r>
            <a:endParaRPr/>
          </a:p>
          <a:p>
            <a:pPr marL="0" lvl="0" indent="0" algn="l" rtl="0">
              <a:spcBef>
                <a:spcPts val="1200"/>
              </a:spcBef>
              <a:spcAft>
                <a:spcPts val="1200"/>
              </a:spcAft>
              <a:buNone/>
            </a:pPr>
            <a:r>
              <a:rPr lang="zh-TW"/>
              <a:t>4.   Apply binary opening and dilation to smooth and connect the edges</a:t>
            </a:r>
            <a:endParaRPr/>
          </a:p>
        </p:txBody>
      </p:sp>
      <p:pic>
        <p:nvPicPr>
          <p:cNvPr id="210" name="Google Shape;210;p30"/>
          <p:cNvPicPr preferRelativeResize="0"/>
          <p:nvPr/>
        </p:nvPicPr>
        <p:blipFill rotWithShape="1">
          <a:blip r:embed="rId3">
            <a:alphaModFix/>
          </a:blip>
          <a:srcRect r="20038"/>
          <a:stretch/>
        </p:blipFill>
        <p:spPr>
          <a:xfrm>
            <a:off x="221700" y="2477175"/>
            <a:ext cx="6885226" cy="16954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31"/>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TW" sz="3540"/>
              <a:t>Method -- Morphological Gradient</a:t>
            </a:r>
            <a:endParaRPr sz="3540"/>
          </a:p>
          <a:p>
            <a:pPr marL="0" lvl="0" indent="0" algn="l" rtl="0">
              <a:spcBef>
                <a:spcPts val="0"/>
              </a:spcBef>
              <a:spcAft>
                <a:spcPts val="0"/>
              </a:spcAft>
              <a:buSzPts val="990"/>
              <a:buNone/>
            </a:pPr>
            <a:r>
              <a:rPr lang="zh-TW" sz="3540"/>
              <a:t> </a:t>
            </a:r>
            <a:endParaRPr sz="3540"/>
          </a:p>
        </p:txBody>
      </p:sp>
      <p:sp>
        <p:nvSpPr>
          <p:cNvPr id="216" name="Google Shape;216;p31"/>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zh-TW"/>
              <a:t>Assumption: water region would be smooth and non-water would be complex</a:t>
            </a:r>
            <a:endParaRPr/>
          </a:p>
          <a:p>
            <a:pPr marL="0" lvl="0" indent="0" algn="l" rtl="0">
              <a:spcBef>
                <a:spcPts val="1200"/>
              </a:spcBef>
              <a:spcAft>
                <a:spcPts val="1200"/>
              </a:spcAft>
              <a:buNone/>
            </a:pPr>
            <a:r>
              <a:rPr lang="zh-TW"/>
              <a:t>5.   Fill element that is smaller than pre-define threshold</a:t>
            </a:r>
            <a:endParaRPr/>
          </a:p>
        </p:txBody>
      </p:sp>
      <p:pic>
        <p:nvPicPr>
          <p:cNvPr id="217" name="Google Shape;217;p31"/>
          <p:cNvPicPr preferRelativeResize="0"/>
          <p:nvPr/>
        </p:nvPicPr>
        <p:blipFill>
          <a:blip r:embed="rId3">
            <a:alphaModFix/>
          </a:blip>
          <a:stretch>
            <a:fillRect/>
          </a:stretch>
        </p:blipFill>
        <p:spPr>
          <a:xfrm>
            <a:off x="221700" y="2477175"/>
            <a:ext cx="8610600" cy="16954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32"/>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TW" sz="3540"/>
              <a:t>Method -- Morphological Gradient</a:t>
            </a:r>
            <a:endParaRPr sz="3540"/>
          </a:p>
          <a:p>
            <a:pPr marL="0" lvl="0" indent="0" algn="l" rtl="0">
              <a:spcBef>
                <a:spcPts val="0"/>
              </a:spcBef>
              <a:spcAft>
                <a:spcPts val="0"/>
              </a:spcAft>
              <a:buSzPts val="990"/>
              <a:buNone/>
            </a:pPr>
            <a:r>
              <a:rPr lang="zh-TW" sz="3540"/>
              <a:t> </a:t>
            </a:r>
            <a:endParaRPr sz="3540"/>
          </a:p>
        </p:txBody>
      </p:sp>
      <p:sp>
        <p:nvSpPr>
          <p:cNvPr id="223" name="Google Shape;223;p32"/>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24" name="Google Shape;224;p32"/>
          <p:cNvPicPr preferRelativeResize="0"/>
          <p:nvPr/>
        </p:nvPicPr>
        <p:blipFill>
          <a:blip r:embed="rId3">
            <a:alphaModFix/>
          </a:blip>
          <a:stretch>
            <a:fillRect/>
          </a:stretch>
        </p:blipFill>
        <p:spPr>
          <a:xfrm>
            <a:off x="0" y="1088390"/>
            <a:ext cx="9143997" cy="1906485"/>
          </a:xfrm>
          <a:prstGeom prst="rect">
            <a:avLst/>
          </a:prstGeom>
          <a:noFill/>
          <a:ln>
            <a:noFill/>
          </a:ln>
        </p:spPr>
      </p:pic>
      <p:pic>
        <p:nvPicPr>
          <p:cNvPr id="225" name="Google Shape;225;p32"/>
          <p:cNvPicPr preferRelativeResize="0"/>
          <p:nvPr/>
        </p:nvPicPr>
        <p:blipFill>
          <a:blip r:embed="rId4">
            <a:alphaModFix/>
          </a:blip>
          <a:stretch>
            <a:fillRect/>
          </a:stretch>
        </p:blipFill>
        <p:spPr>
          <a:xfrm>
            <a:off x="0" y="3117186"/>
            <a:ext cx="9144003" cy="148232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33"/>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TW" sz="3540"/>
              <a:t>MAP Model</a:t>
            </a:r>
            <a:endParaRPr sz="3540"/>
          </a:p>
          <a:p>
            <a:pPr marL="0" lvl="0" indent="0" algn="l" rtl="0">
              <a:spcBef>
                <a:spcPts val="0"/>
              </a:spcBef>
              <a:spcAft>
                <a:spcPts val="0"/>
              </a:spcAft>
              <a:buSzPts val="990"/>
              <a:buNone/>
            </a:pPr>
            <a:r>
              <a:rPr lang="zh-TW" sz="3540"/>
              <a:t> </a:t>
            </a:r>
            <a:endParaRPr sz="3540"/>
          </a:p>
        </p:txBody>
      </p:sp>
      <p:sp>
        <p:nvSpPr>
          <p:cNvPr id="231" name="Google Shape;231;p33"/>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zh-TW"/>
              <a:t>Features:</a:t>
            </a:r>
            <a:endParaRPr/>
          </a:p>
          <a:p>
            <a:pPr marL="457200" lvl="0" indent="-342900" algn="l" rtl="0">
              <a:spcBef>
                <a:spcPts val="1200"/>
              </a:spcBef>
              <a:spcAft>
                <a:spcPts val="0"/>
              </a:spcAft>
              <a:buSzPts val="1800"/>
              <a:buChar char="●"/>
            </a:pPr>
            <a:r>
              <a:rPr lang="zh-TW"/>
              <a:t>Color </a:t>
            </a:r>
            <a:endParaRPr/>
          </a:p>
          <a:p>
            <a:pPr marL="914400" lvl="1" indent="-317500" algn="l" rtl="0">
              <a:spcBef>
                <a:spcPts val="0"/>
              </a:spcBef>
              <a:spcAft>
                <a:spcPts val="0"/>
              </a:spcAft>
              <a:buSzPts val="1400"/>
              <a:buChar char="○"/>
            </a:pPr>
            <a:r>
              <a:rPr lang="zh-TW"/>
              <a:t>mean, std of RGB and HSB color space</a:t>
            </a:r>
            <a:endParaRPr/>
          </a:p>
          <a:p>
            <a:pPr marL="457200" lvl="0" indent="-342900" algn="l" rtl="0">
              <a:spcBef>
                <a:spcPts val="0"/>
              </a:spcBef>
              <a:spcAft>
                <a:spcPts val="0"/>
              </a:spcAft>
              <a:buSzPts val="1800"/>
              <a:buChar char="●"/>
            </a:pPr>
            <a:r>
              <a:rPr lang="zh-TW"/>
              <a:t>Texture</a:t>
            </a:r>
            <a:endParaRPr/>
          </a:p>
          <a:p>
            <a:pPr marL="914400" lvl="1" indent="-317500" algn="l" rtl="0">
              <a:spcBef>
                <a:spcPts val="0"/>
              </a:spcBef>
              <a:spcAft>
                <a:spcPts val="0"/>
              </a:spcAft>
              <a:buSzPts val="1400"/>
              <a:buChar char="○"/>
            </a:pPr>
            <a:r>
              <a:rPr lang="zh-TW"/>
              <a:t>Local Binary pattern </a:t>
            </a:r>
            <a:endParaRPr/>
          </a:p>
          <a:p>
            <a:pPr marL="914400" lvl="1" indent="-317500" algn="l" rtl="0">
              <a:spcBef>
                <a:spcPts val="0"/>
              </a:spcBef>
              <a:spcAft>
                <a:spcPts val="0"/>
              </a:spcAft>
              <a:buSzPts val="1400"/>
              <a:buChar char="○"/>
            </a:pPr>
            <a:r>
              <a:rPr lang="zh-TW"/>
              <a:t>Haralick features such as energy, correlation</a:t>
            </a:r>
            <a:endParaRPr/>
          </a:p>
          <a:p>
            <a:pPr marL="914400" lvl="1" indent="-317500" algn="l" rtl="0">
              <a:spcBef>
                <a:spcPts val="0"/>
              </a:spcBef>
              <a:spcAft>
                <a:spcPts val="0"/>
              </a:spcAft>
              <a:buSzPts val="1400"/>
              <a:buChar char="○"/>
            </a:pPr>
            <a:r>
              <a:rPr lang="zh-TW"/>
              <a:t>Entropy</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3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Feature Distribution</a:t>
            </a:r>
            <a:endParaRPr/>
          </a:p>
        </p:txBody>
      </p:sp>
      <p:sp>
        <p:nvSpPr>
          <p:cNvPr id="237" name="Google Shape;237;p34"/>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38" name="Google Shape;238;p34"/>
          <p:cNvPicPr preferRelativeResize="0"/>
          <p:nvPr/>
        </p:nvPicPr>
        <p:blipFill>
          <a:blip r:embed="rId3">
            <a:alphaModFix/>
          </a:blip>
          <a:stretch>
            <a:fillRect/>
          </a:stretch>
        </p:blipFill>
        <p:spPr>
          <a:xfrm>
            <a:off x="92825" y="1266325"/>
            <a:ext cx="4610100" cy="3219450"/>
          </a:xfrm>
          <a:prstGeom prst="rect">
            <a:avLst/>
          </a:prstGeom>
          <a:noFill/>
          <a:ln>
            <a:noFill/>
          </a:ln>
        </p:spPr>
      </p:pic>
      <p:pic>
        <p:nvPicPr>
          <p:cNvPr id="239" name="Google Shape;239;p34"/>
          <p:cNvPicPr preferRelativeResize="0"/>
          <p:nvPr/>
        </p:nvPicPr>
        <p:blipFill>
          <a:blip r:embed="rId4">
            <a:alphaModFix/>
          </a:blip>
          <a:stretch>
            <a:fillRect/>
          </a:stretch>
        </p:blipFill>
        <p:spPr>
          <a:xfrm>
            <a:off x="4419600" y="1266325"/>
            <a:ext cx="4724400" cy="32194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3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Feature Distribution</a:t>
            </a:r>
            <a:endParaRPr/>
          </a:p>
        </p:txBody>
      </p:sp>
      <p:sp>
        <p:nvSpPr>
          <p:cNvPr id="245" name="Google Shape;245;p35"/>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46" name="Google Shape;246;p35"/>
          <p:cNvPicPr preferRelativeResize="0"/>
          <p:nvPr/>
        </p:nvPicPr>
        <p:blipFill>
          <a:blip r:embed="rId3">
            <a:alphaModFix/>
          </a:blip>
          <a:stretch>
            <a:fillRect/>
          </a:stretch>
        </p:blipFill>
        <p:spPr>
          <a:xfrm>
            <a:off x="144900" y="1330525"/>
            <a:ext cx="4476750" cy="3238500"/>
          </a:xfrm>
          <a:prstGeom prst="rect">
            <a:avLst/>
          </a:prstGeom>
          <a:noFill/>
          <a:ln>
            <a:noFill/>
          </a:ln>
        </p:spPr>
      </p:pic>
      <p:pic>
        <p:nvPicPr>
          <p:cNvPr id="247" name="Google Shape;247;p35"/>
          <p:cNvPicPr preferRelativeResize="0"/>
          <p:nvPr/>
        </p:nvPicPr>
        <p:blipFill>
          <a:blip r:embed="rId4">
            <a:alphaModFix/>
          </a:blip>
          <a:stretch>
            <a:fillRect/>
          </a:stretch>
        </p:blipFill>
        <p:spPr>
          <a:xfrm>
            <a:off x="4572000" y="1266325"/>
            <a:ext cx="4495800" cy="31432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3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MAP model</a:t>
            </a:r>
            <a:endParaRPr/>
          </a:p>
        </p:txBody>
      </p:sp>
      <p:sp>
        <p:nvSpPr>
          <p:cNvPr id="253" name="Google Shape;253;p36"/>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zh-TW"/>
              <a:t>Training:</a:t>
            </a:r>
            <a:endParaRPr/>
          </a:p>
          <a:p>
            <a:pPr marL="457200" lvl="0" indent="-342900" algn="l" rtl="0">
              <a:spcBef>
                <a:spcPts val="1200"/>
              </a:spcBef>
              <a:spcAft>
                <a:spcPts val="0"/>
              </a:spcAft>
              <a:buSzPts val="1800"/>
              <a:buChar char="●"/>
            </a:pPr>
            <a:r>
              <a:rPr lang="zh-TW"/>
              <a:t>Find prior probability</a:t>
            </a:r>
            <a:endParaRPr/>
          </a:p>
          <a:p>
            <a:pPr marL="457200" lvl="0" indent="-342900" algn="l" rtl="0">
              <a:spcBef>
                <a:spcPts val="0"/>
              </a:spcBef>
              <a:spcAft>
                <a:spcPts val="0"/>
              </a:spcAft>
              <a:buSzPts val="1800"/>
              <a:buChar char="●"/>
            </a:pPr>
            <a:r>
              <a:rPr lang="zh-TW"/>
              <a:t>Estimate likelihood function using Gaussian function</a:t>
            </a:r>
            <a:endParaRPr/>
          </a:p>
          <a:p>
            <a:pPr marL="0" lvl="0" indent="0" algn="l" rtl="0">
              <a:spcBef>
                <a:spcPts val="1200"/>
              </a:spcBef>
              <a:spcAft>
                <a:spcPts val="0"/>
              </a:spcAft>
              <a:buNone/>
            </a:pPr>
            <a:r>
              <a:rPr lang="zh-TW"/>
              <a:t>Classificastion </a:t>
            </a:r>
            <a:endParaRPr/>
          </a:p>
          <a:p>
            <a:pPr marL="457200" lvl="0" indent="-342900" algn="l" rtl="0">
              <a:spcBef>
                <a:spcPts val="1200"/>
              </a:spcBef>
              <a:spcAft>
                <a:spcPts val="0"/>
              </a:spcAft>
              <a:buSzPts val="1800"/>
              <a:buChar char="●"/>
            </a:pPr>
            <a:r>
              <a:rPr lang="zh-TW"/>
              <a:t>Select the group that has highest product of prior and likelihood function</a:t>
            </a:r>
            <a:endParaRPr/>
          </a:p>
          <a:p>
            <a:pPr marL="0" lvl="0" indent="0" algn="l" rtl="0">
              <a:spcBef>
                <a:spcPts val="1200"/>
              </a:spcBef>
              <a:spcAft>
                <a:spcPts val="0"/>
              </a:spcAft>
              <a:buNone/>
            </a:pPr>
            <a:r>
              <a:rPr lang="zh-TW"/>
              <a:t>Model result</a:t>
            </a:r>
            <a:endParaRPr/>
          </a:p>
          <a:p>
            <a:pPr marL="457200" lvl="0" indent="-342900" algn="l" rtl="0">
              <a:spcBef>
                <a:spcPts val="1200"/>
              </a:spcBef>
              <a:spcAft>
                <a:spcPts val="0"/>
              </a:spcAft>
              <a:buSzPts val="1800"/>
              <a:buChar char="●"/>
            </a:pPr>
            <a:r>
              <a:rPr lang="zh-TW"/>
              <a:t>Training / Testing images accuracy: 0.66 / 0.78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37"/>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TW" sz="3540"/>
              <a:t>Final Algorithm </a:t>
            </a:r>
            <a:endParaRPr sz="3540"/>
          </a:p>
        </p:txBody>
      </p:sp>
      <p:sp>
        <p:nvSpPr>
          <p:cNvPr id="259" name="Google Shape;259;p37"/>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fontScale="85000" lnSpcReduction="20000"/>
          </a:bodyPr>
          <a:lstStyle/>
          <a:p>
            <a:pPr marL="0" lvl="0" indent="0" algn="l" rtl="0">
              <a:spcBef>
                <a:spcPts val="0"/>
              </a:spcBef>
              <a:spcAft>
                <a:spcPts val="0"/>
              </a:spcAft>
              <a:buNone/>
            </a:pPr>
            <a:r>
              <a:rPr lang="zh-TW"/>
              <a:t>Procedures:</a:t>
            </a:r>
            <a:endParaRPr/>
          </a:p>
          <a:p>
            <a:pPr marL="457200" lvl="0" indent="-334327" algn="l" rtl="0">
              <a:lnSpc>
                <a:spcPct val="150000"/>
              </a:lnSpc>
              <a:spcBef>
                <a:spcPts val="1200"/>
              </a:spcBef>
              <a:spcAft>
                <a:spcPts val="0"/>
              </a:spcAft>
              <a:buSzPct val="100000"/>
              <a:buAutoNum type="arabicPeriod"/>
            </a:pPr>
            <a:r>
              <a:rPr lang="zh-TW"/>
              <a:t>Train MAP model using training data and provided mask.</a:t>
            </a:r>
            <a:endParaRPr/>
          </a:p>
          <a:p>
            <a:pPr marL="457200" lvl="0" indent="-334327" algn="l" rtl="0">
              <a:lnSpc>
                <a:spcPct val="150000"/>
              </a:lnSpc>
              <a:spcBef>
                <a:spcPts val="0"/>
              </a:spcBef>
              <a:spcAft>
                <a:spcPts val="0"/>
              </a:spcAft>
              <a:buSzPct val="100000"/>
              <a:buAutoNum type="arabicPeriod"/>
            </a:pPr>
            <a:r>
              <a:rPr lang="zh-TW"/>
              <a:t>Segment the image based on the edges.</a:t>
            </a:r>
            <a:endParaRPr/>
          </a:p>
          <a:p>
            <a:pPr marL="914400" lvl="1" indent="-310832" algn="l" rtl="0">
              <a:lnSpc>
                <a:spcPct val="150000"/>
              </a:lnSpc>
              <a:spcBef>
                <a:spcPts val="0"/>
              </a:spcBef>
              <a:spcAft>
                <a:spcPts val="0"/>
              </a:spcAft>
              <a:buSzPct val="100000"/>
              <a:buAutoNum type="alphaLcPeriod"/>
            </a:pPr>
            <a:r>
              <a:rPr lang="zh-TW"/>
              <a:t>Convert the png image into a grayscale array.</a:t>
            </a:r>
            <a:endParaRPr/>
          </a:p>
          <a:p>
            <a:pPr marL="914400" lvl="1" indent="-310832" algn="l" rtl="0">
              <a:lnSpc>
                <a:spcPct val="150000"/>
              </a:lnSpc>
              <a:spcBef>
                <a:spcPts val="0"/>
              </a:spcBef>
              <a:spcAft>
                <a:spcPts val="0"/>
              </a:spcAft>
              <a:buSzPct val="100000"/>
              <a:buAutoNum type="alphaLcPeriod"/>
            </a:pPr>
            <a:r>
              <a:rPr lang="zh-TW"/>
              <a:t>Apply Gaussian Smoothing to reduce noise and detail.</a:t>
            </a:r>
            <a:endParaRPr/>
          </a:p>
          <a:p>
            <a:pPr marL="914400" lvl="1" indent="-310832" algn="l" rtl="0">
              <a:lnSpc>
                <a:spcPct val="150000"/>
              </a:lnSpc>
              <a:spcBef>
                <a:spcPts val="0"/>
              </a:spcBef>
              <a:spcAft>
                <a:spcPts val="0"/>
              </a:spcAft>
              <a:buSzPct val="100000"/>
              <a:buAutoNum type="alphaLcPeriod"/>
            </a:pPr>
            <a:r>
              <a:rPr lang="zh-TW"/>
              <a:t>Calculate the morphological gradient to highlight edges.</a:t>
            </a:r>
            <a:endParaRPr/>
          </a:p>
          <a:p>
            <a:pPr marL="914400" lvl="1" indent="-310832" algn="l" rtl="0">
              <a:lnSpc>
                <a:spcPct val="150000"/>
              </a:lnSpc>
              <a:spcBef>
                <a:spcPts val="0"/>
              </a:spcBef>
              <a:spcAft>
                <a:spcPts val="0"/>
              </a:spcAft>
              <a:buSzPct val="100000"/>
              <a:buAutoNum type="alphaLcPeriod"/>
            </a:pPr>
            <a:r>
              <a:rPr lang="zh-TW"/>
              <a:t>Determine the threshold for the image based on its mean and standard deviation.</a:t>
            </a:r>
            <a:endParaRPr/>
          </a:p>
          <a:p>
            <a:pPr marL="914400" lvl="1" indent="-310832" algn="l" rtl="0">
              <a:lnSpc>
                <a:spcPct val="150000"/>
              </a:lnSpc>
              <a:spcBef>
                <a:spcPts val="0"/>
              </a:spcBef>
              <a:spcAft>
                <a:spcPts val="0"/>
              </a:spcAft>
              <a:buSzPct val="100000"/>
              <a:buAutoNum type="alphaLcPeriod"/>
            </a:pPr>
            <a:r>
              <a:rPr lang="zh-TW"/>
              <a:t>Connect edgels using multiple thresholds obtained in step d.</a:t>
            </a:r>
            <a:endParaRPr/>
          </a:p>
          <a:p>
            <a:pPr marL="914400" lvl="1" indent="-310832" algn="l" rtl="0">
              <a:lnSpc>
                <a:spcPct val="150000"/>
              </a:lnSpc>
              <a:spcBef>
                <a:spcPts val="0"/>
              </a:spcBef>
              <a:spcAft>
                <a:spcPts val="0"/>
              </a:spcAft>
              <a:buSzPct val="100000"/>
              <a:buAutoNum type="alphaLcPeriod"/>
            </a:pPr>
            <a:r>
              <a:rPr lang="zh-TW"/>
              <a:t>Apply a binary closing operation to remove small edgel artifacts and smooth the edges.</a:t>
            </a:r>
            <a:endParaRPr/>
          </a:p>
          <a:p>
            <a:pPr marL="914400" lvl="1" indent="-310832" algn="l" rtl="0">
              <a:lnSpc>
                <a:spcPct val="150000"/>
              </a:lnSpc>
              <a:spcBef>
                <a:spcPts val="0"/>
              </a:spcBef>
              <a:spcAft>
                <a:spcPts val="0"/>
              </a:spcAft>
              <a:buSzPct val="100000"/>
              <a:buAutoNum type="alphaLcPeriod"/>
            </a:pPr>
            <a:r>
              <a:rPr lang="zh-TW"/>
              <a:t>Identify connected elements; if an element is too small, classify it as part of the background.)</a:t>
            </a:r>
            <a:endParaRPr/>
          </a:p>
          <a:p>
            <a:pPr marL="457200" lvl="0" indent="-334327" algn="l" rtl="0">
              <a:lnSpc>
                <a:spcPct val="150000"/>
              </a:lnSpc>
              <a:spcBef>
                <a:spcPts val="0"/>
              </a:spcBef>
              <a:spcAft>
                <a:spcPts val="0"/>
              </a:spcAft>
              <a:buSzPct val="100000"/>
              <a:buAutoNum type="arabicPeriod"/>
            </a:pPr>
            <a:r>
              <a:rPr lang="zh-TW"/>
              <a:t>Classify each connected element using the MAP model.</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38"/>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TW" sz="3540"/>
              <a:t>Improvement</a:t>
            </a:r>
            <a:endParaRPr sz="3540"/>
          </a:p>
          <a:p>
            <a:pPr marL="0" lvl="0" indent="0" algn="l" rtl="0">
              <a:spcBef>
                <a:spcPts val="0"/>
              </a:spcBef>
              <a:spcAft>
                <a:spcPts val="0"/>
              </a:spcAft>
              <a:buSzPts val="990"/>
              <a:buNone/>
            </a:pPr>
            <a:endParaRPr sz="3540"/>
          </a:p>
        </p:txBody>
      </p:sp>
      <p:sp>
        <p:nvSpPr>
          <p:cNvPr id="265" name="Google Shape;265;p38"/>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zh-TW"/>
              <a:t>Connecting edge using multiple thresholds</a:t>
            </a:r>
            <a:endParaRPr/>
          </a:p>
          <a:p>
            <a:pPr marL="457200" lvl="0" indent="-342900" algn="l" rtl="0">
              <a:spcBef>
                <a:spcPts val="0"/>
              </a:spcBef>
              <a:spcAft>
                <a:spcPts val="0"/>
              </a:spcAft>
              <a:buSzPts val="1800"/>
              <a:buChar char="●"/>
            </a:pPr>
            <a:r>
              <a:rPr lang="zh-TW"/>
              <a:t>Eliminating assumptions</a:t>
            </a:r>
            <a:endParaRPr/>
          </a:p>
          <a:p>
            <a:pPr marL="457200" lvl="0" indent="-342900" algn="l" rtl="0">
              <a:spcBef>
                <a:spcPts val="0"/>
              </a:spcBef>
              <a:spcAft>
                <a:spcPts val="0"/>
              </a:spcAft>
              <a:buSzPts val="1800"/>
              <a:buChar char="●"/>
            </a:pPr>
            <a:r>
              <a:rPr lang="zh-TW"/>
              <a:t>Segmentation and classification</a:t>
            </a:r>
            <a:endParaRPr/>
          </a:p>
          <a:p>
            <a:pPr marL="457200" lvl="0" indent="-342900" algn="l" rtl="0">
              <a:spcBef>
                <a:spcPts val="0"/>
              </a:spcBef>
              <a:spcAft>
                <a:spcPts val="0"/>
              </a:spcAft>
              <a:buSzPts val="1800"/>
              <a:buChar char="●"/>
            </a:pPr>
            <a:r>
              <a:rPr lang="zh-TW"/>
              <a:t>Fail Prevention</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9"/>
          <p:cNvSpPr txBox="1">
            <a:spLocks noGrp="1"/>
          </p:cNvSpPr>
          <p:nvPr>
            <p:ph type="title"/>
          </p:nvPr>
        </p:nvSpPr>
        <p:spPr>
          <a:xfrm>
            <a:off x="311700" y="16177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Final result:</a:t>
            </a:r>
            <a:endParaRPr/>
          </a:p>
        </p:txBody>
      </p:sp>
      <p:sp>
        <p:nvSpPr>
          <p:cNvPr id="271" name="Google Shape;271;p39"/>
          <p:cNvSpPr txBox="1">
            <a:spLocks noGrp="1"/>
          </p:cNvSpPr>
          <p:nvPr>
            <p:ph type="body" idx="1"/>
          </p:nvPr>
        </p:nvSpPr>
        <p:spPr>
          <a:xfrm>
            <a:off x="2198150" y="346600"/>
            <a:ext cx="6692100" cy="426000"/>
          </a:xfrm>
          <a:prstGeom prst="rect">
            <a:avLst/>
          </a:prstGeom>
        </p:spPr>
        <p:txBody>
          <a:bodyPr spcFirstLastPara="1" wrap="square" lIns="91425" tIns="91425" rIns="91425" bIns="91425" anchor="t" anchorCtr="0">
            <a:normAutofit fontScale="55000" lnSpcReduction="20000"/>
          </a:bodyPr>
          <a:lstStyle/>
          <a:p>
            <a:pPr marL="0" lvl="0" indent="0" algn="l" rtl="0">
              <a:lnSpc>
                <a:spcPct val="95000"/>
              </a:lnSpc>
              <a:spcBef>
                <a:spcPts val="0"/>
              </a:spcBef>
              <a:spcAft>
                <a:spcPts val="1200"/>
              </a:spcAft>
              <a:buSzPts val="1018"/>
              <a:buNone/>
            </a:pPr>
            <a:r>
              <a:rPr lang="zh-TW" sz="1265"/>
              <a:t>Average IoU (training/testing/demo): 0.3218 / 0.4288 / 0.2705</a:t>
            </a:r>
            <a:endParaRPr sz="1265"/>
          </a:p>
        </p:txBody>
      </p:sp>
      <p:pic>
        <p:nvPicPr>
          <p:cNvPr id="272" name="Google Shape;272;p39"/>
          <p:cNvPicPr preferRelativeResize="0"/>
          <p:nvPr/>
        </p:nvPicPr>
        <p:blipFill>
          <a:blip r:embed="rId3">
            <a:alphaModFix/>
          </a:blip>
          <a:stretch>
            <a:fillRect/>
          </a:stretch>
        </p:blipFill>
        <p:spPr>
          <a:xfrm>
            <a:off x="0" y="2335119"/>
            <a:ext cx="9144003" cy="1236762"/>
          </a:xfrm>
          <a:prstGeom prst="rect">
            <a:avLst/>
          </a:prstGeom>
          <a:noFill/>
          <a:ln>
            <a:noFill/>
          </a:ln>
        </p:spPr>
      </p:pic>
      <p:pic>
        <p:nvPicPr>
          <p:cNvPr id="273" name="Google Shape;273;p39"/>
          <p:cNvPicPr preferRelativeResize="0"/>
          <p:nvPr/>
        </p:nvPicPr>
        <p:blipFill>
          <a:blip r:embed="rId4">
            <a:alphaModFix/>
          </a:blip>
          <a:stretch>
            <a:fillRect/>
          </a:stretch>
        </p:blipFill>
        <p:spPr>
          <a:xfrm>
            <a:off x="0" y="3571863"/>
            <a:ext cx="9144003" cy="1571625"/>
          </a:xfrm>
          <a:prstGeom prst="rect">
            <a:avLst/>
          </a:prstGeom>
          <a:noFill/>
          <a:ln>
            <a:noFill/>
          </a:ln>
        </p:spPr>
      </p:pic>
      <p:pic>
        <p:nvPicPr>
          <p:cNvPr id="274" name="Google Shape;274;p39"/>
          <p:cNvPicPr preferRelativeResize="0"/>
          <p:nvPr/>
        </p:nvPicPr>
        <p:blipFill>
          <a:blip r:embed="rId5">
            <a:alphaModFix/>
          </a:blip>
          <a:stretch>
            <a:fillRect/>
          </a:stretch>
        </p:blipFill>
        <p:spPr>
          <a:xfrm>
            <a:off x="0" y="821534"/>
            <a:ext cx="9144003" cy="1513582"/>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40"/>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TW" sz="3540"/>
              <a:t>Comparison </a:t>
            </a:r>
            <a:endParaRPr sz="3540"/>
          </a:p>
        </p:txBody>
      </p:sp>
      <p:graphicFrame>
        <p:nvGraphicFramePr>
          <p:cNvPr id="280" name="Google Shape;280;p40"/>
          <p:cNvGraphicFramePr/>
          <p:nvPr/>
        </p:nvGraphicFramePr>
        <p:xfrm>
          <a:off x="952500" y="2000250"/>
          <a:ext cx="7239000" cy="1981050"/>
        </p:xfrm>
        <a:graphic>
          <a:graphicData uri="http://schemas.openxmlformats.org/drawingml/2006/table">
            <a:tbl>
              <a:tblPr>
                <a:noFill/>
                <a:tableStyleId>{60487324-7317-4014-BB91-97F82CB72DC5}</a:tableStyleId>
              </a:tblPr>
              <a:tblGrid>
                <a:gridCol w="2413000">
                  <a:extLst>
                    <a:ext uri="{9D8B030D-6E8A-4147-A177-3AD203B41FA5}">
                      <a16:colId xmlns:a16="http://schemas.microsoft.com/office/drawing/2014/main" val="20000"/>
                    </a:ext>
                  </a:extLst>
                </a:gridCol>
                <a:gridCol w="2413000">
                  <a:extLst>
                    <a:ext uri="{9D8B030D-6E8A-4147-A177-3AD203B41FA5}">
                      <a16:colId xmlns:a16="http://schemas.microsoft.com/office/drawing/2014/main" val="20001"/>
                    </a:ext>
                  </a:extLst>
                </a:gridCol>
                <a:gridCol w="2413000">
                  <a:extLst>
                    <a:ext uri="{9D8B030D-6E8A-4147-A177-3AD203B41FA5}">
                      <a16:colId xmlns:a16="http://schemas.microsoft.com/office/drawing/2014/main" val="20002"/>
                    </a:ext>
                  </a:extLst>
                </a:gridCol>
              </a:tblGrid>
              <a:tr h="381000">
                <a:tc>
                  <a:txBody>
                    <a:bodyPr/>
                    <a:lstStyle/>
                    <a:p>
                      <a:pPr marL="0" lvl="0" indent="0" algn="l" rtl="0">
                        <a:spcBef>
                          <a:spcPts val="0"/>
                        </a:spcBef>
                        <a:spcAft>
                          <a:spcPts val="0"/>
                        </a:spcAft>
                        <a:buNone/>
                      </a:pPr>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zh-TW"/>
                        <a:t>Average training IoU</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zh-TW"/>
                        <a:t>Average testing IoU</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zh-TW"/>
                        <a:t>Watershed</a:t>
                      </a:r>
                      <a:endParaRPr/>
                    </a:p>
                  </a:txBody>
                  <a:tcPr marL="91425" marR="91425" marT="91425" marB="91425"/>
                </a:tc>
                <a:tc>
                  <a:txBody>
                    <a:bodyPr/>
                    <a:lstStyle/>
                    <a:p>
                      <a:pPr marL="0" lvl="0" indent="0" algn="l" rtl="0">
                        <a:spcBef>
                          <a:spcPts val="0"/>
                        </a:spcBef>
                        <a:spcAft>
                          <a:spcPts val="0"/>
                        </a:spcAft>
                        <a:buNone/>
                      </a:pPr>
                      <a:r>
                        <a:rPr lang="zh-TW"/>
                        <a:t>0.3034</a:t>
                      </a:r>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zh-TW"/>
                        <a:t>0.3203</a:t>
                      </a:r>
                      <a:endParaRPr/>
                    </a:p>
                  </a:txBody>
                  <a:tcPr marL="91425" marR="91425" marT="91425" marB="91425">
                    <a:lnT w="9525" cap="flat" cmpd="sng">
                      <a:solidFill>
                        <a:srgbClr val="9E9E9E"/>
                      </a:solidFill>
                      <a:prstDash val="solid"/>
                      <a:round/>
                      <a:headEnd type="none" w="sm" len="sm"/>
                      <a:tailEnd type="none" w="sm" len="sm"/>
                    </a:lnT>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zh-TW"/>
                        <a:t>Watershed + MAP</a:t>
                      </a:r>
                      <a:endParaRPr/>
                    </a:p>
                  </a:txBody>
                  <a:tcPr marL="91425" marR="91425" marT="91425" marB="91425"/>
                </a:tc>
                <a:tc>
                  <a:txBody>
                    <a:bodyPr/>
                    <a:lstStyle/>
                    <a:p>
                      <a:pPr marL="0" lvl="0" indent="0" algn="l" rtl="0">
                        <a:spcBef>
                          <a:spcPts val="0"/>
                        </a:spcBef>
                        <a:spcAft>
                          <a:spcPts val="0"/>
                        </a:spcAft>
                        <a:buNone/>
                      </a:pPr>
                      <a:r>
                        <a:rPr lang="zh-TW"/>
                        <a:t>0.2927</a:t>
                      </a:r>
                      <a:endParaRPr/>
                    </a:p>
                  </a:txBody>
                  <a:tcPr marL="91425" marR="91425" marT="91425" marB="91425"/>
                </a:tc>
                <a:tc>
                  <a:txBody>
                    <a:bodyPr/>
                    <a:lstStyle/>
                    <a:p>
                      <a:pPr marL="0" lvl="0" indent="0" algn="l" rtl="0">
                        <a:spcBef>
                          <a:spcPts val="0"/>
                        </a:spcBef>
                        <a:spcAft>
                          <a:spcPts val="0"/>
                        </a:spcAft>
                        <a:buNone/>
                      </a:pPr>
                      <a:r>
                        <a:rPr lang="zh-TW"/>
                        <a:t>0.2864</a:t>
                      </a:r>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zh-TW"/>
                        <a:t>Original Morphological</a:t>
                      </a:r>
                      <a:endParaRPr/>
                    </a:p>
                  </a:txBody>
                  <a:tcPr marL="91425" marR="91425" marT="91425" marB="91425"/>
                </a:tc>
                <a:tc>
                  <a:txBody>
                    <a:bodyPr/>
                    <a:lstStyle/>
                    <a:p>
                      <a:pPr marL="0" lvl="0" indent="0" algn="l" rtl="0">
                        <a:spcBef>
                          <a:spcPts val="0"/>
                        </a:spcBef>
                        <a:spcAft>
                          <a:spcPts val="0"/>
                        </a:spcAft>
                        <a:buNone/>
                      </a:pPr>
                      <a:r>
                        <a:rPr lang="zh-TW"/>
                        <a:t>0.3093</a:t>
                      </a:r>
                      <a:endParaRPr/>
                    </a:p>
                  </a:txBody>
                  <a:tcPr marL="91425" marR="91425" marT="91425" marB="91425"/>
                </a:tc>
                <a:tc>
                  <a:txBody>
                    <a:bodyPr/>
                    <a:lstStyle/>
                    <a:p>
                      <a:pPr marL="0" lvl="0" indent="0" algn="l" rtl="0">
                        <a:spcBef>
                          <a:spcPts val="0"/>
                        </a:spcBef>
                        <a:spcAft>
                          <a:spcPts val="0"/>
                        </a:spcAft>
                        <a:buNone/>
                      </a:pPr>
                      <a:r>
                        <a:rPr lang="zh-TW"/>
                        <a:t>0.3320</a:t>
                      </a:r>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zh-TW"/>
                        <a:t>Final algorithm</a:t>
                      </a:r>
                      <a:endParaRPr/>
                    </a:p>
                  </a:txBody>
                  <a:tcPr marL="91425" marR="91425" marT="91425" marB="91425"/>
                </a:tc>
                <a:tc>
                  <a:txBody>
                    <a:bodyPr/>
                    <a:lstStyle/>
                    <a:p>
                      <a:pPr marL="0" lvl="0" indent="0" algn="l" rtl="0">
                        <a:spcBef>
                          <a:spcPts val="0"/>
                        </a:spcBef>
                        <a:spcAft>
                          <a:spcPts val="0"/>
                        </a:spcAft>
                        <a:buNone/>
                      </a:pPr>
                      <a:r>
                        <a:rPr lang="zh-TW"/>
                        <a:t>0.3218</a:t>
                      </a:r>
                      <a:endParaRPr/>
                    </a:p>
                  </a:txBody>
                  <a:tcPr marL="91425" marR="91425" marT="91425" marB="91425"/>
                </a:tc>
                <a:tc>
                  <a:txBody>
                    <a:bodyPr/>
                    <a:lstStyle/>
                    <a:p>
                      <a:pPr marL="0" lvl="0" indent="0" algn="l" rtl="0">
                        <a:spcBef>
                          <a:spcPts val="0"/>
                        </a:spcBef>
                        <a:spcAft>
                          <a:spcPts val="0"/>
                        </a:spcAft>
                        <a:buNone/>
                      </a:pPr>
                      <a:r>
                        <a:rPr lang="zh-TW"/>
                        <a:t>0.4288</a:t>
                      </a:r>
                      <a:endParaRPr/>
                    </a:p>
                  </a:txBody>
                  <a:tcPr marL="91425" marR="91425" marT="91425" marB="91425"/>
                </a:tc>
                <a:extLst>
                  <a:ext uri="{0D108BD9-81ED-4DB2-BD59-A6C34878D82A}">
                    <a16:rowId xmlns:a16="http://schemas.microsoft.com/office/drawing/2014/main" val="10004"/>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41"/>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TW" sz="3540" dirty="0"/>
              <a:t>Possible reason</a:t>
            </a:r>
            <a:r>
              <a:rPr lang="en-US" altLang="zh-TW" sz="3540" dirty="0"/>
              <a:t>s</a:t>
            </a:r>
            <a:r>
              <a:rPr lang="zh-TW" sz="3540" dirty="0"/>
              <a:t> that cause poor accuracy</a:t>
            </a:r>
            <a:endParaRPr sz="3540" dirty="0"/>
          </a:p>
          <a:p>
            <a:pPr marL="0" lvl="0" indent="0" algn="l" rtl="0">
              <a:spcBef>
                <a:spcPts val="0"/>
              </a:spcBef>
              <a:spcAft>
                <a:spcPts val="0"/>
              </a:spcAft>
              <a:buSzPts val="990"/>
              <a:buNone/>
            </a:pPr>
            <a:endParaRPr sz="3540" dirty="0"/>
          </a:p>
        </p:txBody>
      </p:sp>
      <p:sp>
        <p:nvSpPr>
          <p:cNvPr id="286" name="Google Shape;286;p41"/>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zh-TW" dirty="0"/>
              <a:t>Inadequate Likelihood Function Assumption</a:t>
            </a:r>
            <a:endParaRPr dirty="0"/>
          </a:p>
          <a:p>
            <a:pPr marL="457200" lvl="0" indent="-342900" algn="l" rtl="0">
              <a:spcBef>
                <a:spcPts val="0"/>
              </a:spcBef>
              <a:spcAft>
                <a:spcPts val="0"/>
              </a:spcAft>
              <a:buSzPts val="1800"/>
              <a:buChar char="●"/>
            </a:pPr>
            <a:r>
              <a:rPr lang="zh-TW" dirty="0"/>
              <a:t>Limitations of Manually Selected Features</a:t>
            </a:r>
            <a:endParaRPr dirty="0"/>
          </a:p>
          <a:p>
            <a:pPr marL="457200" lvl="0" indent="-342900" algn="l" rtl="0">
              <a:spcBef>
                <a:spcPts val="0"/>
              </a:spcBef>
              <a:spcAft>
                <a:spcPts val="0"/>
              </a:spcAft>
              <a:buSzPts val="1800"/>
              <a:buChar char="●"/>
            </a:pPr>
            <a:r>
              <a:rPr lang="zh-TW" dirty="0"/>
              <a:t>Difficulty Differentiating Similar Regions:</a:t>
            </a:r>
            <a:endParaRPr dirty="0"/>
          </a:p>
          <a:p>
            <a:pPr marL="457200" lvl="0" indent="-342900" algn="l" rtl="0">
              <a:spcBef>
                <a:spcPts val="0"/>
              </a:spcBef>
              <a:spcAft>
                <a:spcPts val="0"/>
              </a:spcAft>
              <a:buSzPts val="1800"/>
              <a:buChar char="●"/>
            </a:pPr>
            <a:r>
              <a:rPr lang="zh-TW" dirty="0"/>
              <a:t>Sensitivity to Brightness Changes</a:t>
            </a:r>
            <a:endParaRPr dirty="0"/>
          </a:p>
          <a:p>
            <a:pPr marL="457200" lvl="0" indent="-342900" algn="l" rtl="0">
              <a:spcBef>
                <a:spcPts val="0"/>
              </a:spcBef>
              <a:spcAft>
                <a:spcPts val="0"/>
              </a:spcAft>
              <a:buSzPts val="1800"/>
              <a:buChar char="●"/>
            </a:pPr>
            <a:r>
              <a:rPr lang="zh-TW" dirty="0"/>
              <a:t>Global Thresholding Limitations</a:t>
            </a:r>
            <a:endParaRPr dirty="0"/>
          </a:p>
          <a:p>
            <a:pPr marL="457200" lvl="0" indent="-342900" algn="l" rtl="0">
              <a:spcBef>
                <a:spcPts val="0"/>
              </a:spcBef>
              <a:spcAft>
                <a:spcPts val="0"/>
              </a:spcAft>
              <a:buSzPts val="1800"/>
              <a:buChar char="●"/>
            </a:pPr>
            <a:r>
              <a:rPr lang="zh-TW" dirty="0"/>
              <a:t>Simplicity of the MAP Model</a:t>
            </a:r>
            <a:endParaRPr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42"/>
          <p:cNvSpPr txBox="1">
            <a:spLocks noGrp="1"/>
          </p:cNvSpPr>
          <p:nvPr>
            <p:ph type="title"/>
          </p:nvPr>
        </p:nvSpPr>
        <p:spPr>
          <a:xfrm>
            <a:off x="311700" y="278771"/>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TW" sz="3540" dirty="0"/>
              <a:t>Conclusion</a:t>
            </a:r>
            <a:endParaRPr sz="3540" dirty="0"/>
          </a:p>
        </p:txBody>
      </p:sp>
      <p:sp>
        <p:nvSpPr>
          <p:cNvPr id="292" name="Google Shape;292;p42"/>
          <p:cNvSpPr txBox="1">
            <a:spLocks noGrp="1"/>
          </p:cNvSpPr>
          <p:nvPr>
            <p:ph type="body" idx="1"/>
          </p:nvPr>
        </p:nvSpPr>
        <p:spPr>
          <a:xfrm>
            <a:off x="311700" y="986172"/>
            <a:ext cx="8520600" cy="3964520"/>
          </a:xfrm>
          <a:prstGeom prst="rect">
            <a:avLst/>
          </a:prstGeom>
        </p:spPr>
        <p:txBody>
          <a:bodyPr spcFirstLastPara="1" wrap="square" lIns="91425" tIns="91425" rIns="91425" bIns="91425" anchor="t" anchorCtr="0">
            <a:normAutofit lnSpcReduction="10000"/>
          </a:bodyPr>
          <a:lstStyle/>
          <a:p>
            <a:pPr marL="457200" lvl="0" indent="-342900" algn="just" rtl="0">
              <a:spcBef>
                <a:spcPts val="0"/>
              </a:spcBef>
              <a:spcAft>
                <a:spcPts val="0"/>
              </a:spcAft>
              <a:buSzPts val="1800"/>
              <a:buChar char="●"/>
            </a:pPr>
            <a:r>
              <a:rPr lang="zh-TW" dirty="0"/>
              <a:t>Watershed algorithm was useful for edge detection but struggled to differentiate between water and non-water areas.</a:t>
            </a:r>
            <a:endParaRPr dirty="0"/>
          </a:p>
          <a:p>
            <a:pPr marL="457200" lvl="0" indent="-342900" algn="just" rtl="0">
              <a:spcBef>
                <a:spcPts val="0"/>
              </a:spcBef>
              <a:spcAft>
                <a:spcPts val="0"/>
              </a:spcAft>
              <a:buSzPts val="1800"/>
              <a:buChar char="●"/>
            </a:pPr>
            <a:r>
              <a:rPr lang="zh-TW" dirty="0"/>
              <a:t>Morphological gradient algorithm added smoothness for segmenting water but were too simplistic and error-prone in complex situations.</a:t>
            </a:r>
            <a:endParaRPr dirty="0"/>
          </a:p>
          <a:p>
            <a:pPr marL="457200" lvl="0" indent="-342900" algn="just" rtl="0">
              <a:spcBef>
                <a:spcPts val="0"/>
              </a:spcBef>
              <a:spcAft>
                <a:spcPts val="0"/>
              </a:spcAft>
              <a:buSzPts val="1800"/>
              <a:buChar char="●"/>
            </a:pPr>
            <a:r>
              <a:rPr lang="zh-TW" dirty="0"/>
              <a:t>The MAP model improved classification accuracy by using statistical features like color and texture, along with prior probabilities and likelihood estimation. Although the MAP model achieved higher IoU scores, its reliance on Gaussian assumptions and manually selected features limited its performance.</a:t>
            </a:r>
            <a:endParaRPr dirty="0"/>
          </a:p>
          <a:p>
            <a:pPr marL="457200" lvl="0" indent="-342900" algn="just" rtl="0">
              <a:spcBef>
                <a:spcPts val="0"/>
              </a:spcBef>
              <a:spcAft>
                <a:spcPts val="0"/>
              </a:spcAft>
              <a:buSzPts val="1800"/>
              <a:buChar char="●"/>
            </a:pPr>
            <a:r>
              <a:rPr lang="zh-TW" dirty="0"/>
              <a:t>The final approach combined edge detection with the MAP model to address some limitations.</a:t>
            </a:r>
            <a:endParaRPr dirty="0"/>
          </a:p>
          <a:p>
            <a:pPr marL="457200" lvl="0" indent="-342900" algn="just" rtl="0">
              <a:spcBef>
                <a:spcPts val="0"/>
              </a:spcBef>
              <a:spcAft>
                <a:spcPts val="0"/>
              </a:spcAft>
              <a:buSzPts val="1800"/>
              <a:buChar char="●"/>
            </a:pPr>
            <a:r>
              <a:rPr lang="zh-TW" dirty="0"/>
              <a:t>Challenges remained in distinguishing visually similar regions (e.g., water vs. sky) and managing brightness variations.</a:t>
            </a:r>
            <a:endParaRPr dirty="0"/>
          </a:p>
        </p:txBody>
      </p:sp>
    </p:spTree>
  </p:cSld>
  <p:clrMapOvr>
    <a:masterClrMapping/>
  </p:clrMapOvr>
</p:sld>
</file>

<file path=ppt/theme/theme1.xml><?xml version="1.0" encoding="utf-8"?>
<a:theme xmlns:a="http://schemas.openxmlformats.org/drawingml/2006/main"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104</TotalTime>
  <Words>1261</Words>
  <Application>Microsoft Office PowerPoint</Application>
  <PresentationFormat>如螢幕大小 (16:9)</PresentationFormat>
  <Paragraphs>175</Paragraphs>
  <Slides>30</Slides>
  <Notes>30</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30</vt:i4>
      </vt:variant>
    </vt:vector>
  </HeadingPairs>
  <TitlesOfParts>
    <vt:vector size="34" baseType="lpstr">
      <vt:lpstr>PT Sans Narrow</vt:lpstr>
      <vt:lpstr>Arial</vt:lpstr>
      <vt:lpstr>Open Sans</vt:lpstr>
      <vt:lpstr>Tropic</vt:lpstr>
      <vt:lpstr>Water Segmentation </vt:lpstr>
      <vt:lpstr>Outline</vt:lpstr>
      <vt:lpstr>Introduction</vt:lpstr>
      <vt:lpstr>Method -- Watershed  </vt:lpstr>
      <vt:lpstr>Method -- Watershed  </vt:lpstr>
      <vt:lpstr>Method -- Watershed  </vt:lpstr>
      <vt:lpstr>Experimental Results -- Watershed</vt:lpstr>
      <vt:lpstr>Experimental Results -- Watershed</vt:lpstr>
      <vt:lpstr>Experimental Results -- Watershed</vt:lpstr>
      <vt:lpstr>Analysis -- Watershed</vt:lpstr>
      <vt:lpstr>Experimental Results -- Watershed with MAP</vt:lpstr>
      <vt:lpstr>Experimental Results -- Watershed with MAP</vt:lpstr>
      <vt:lpstr>Experimental Results -- Watershed with MAP</vt:lpstr>
      <vt:lpstr>Analysis -- Watershed with MAP</vt:lpstr>
      <vt:lpstr>Method -- Morphological Gradient  </vt:lpstr>
      <vt:lpstr>Method -- Morphological Gradient  </vt:lpstr>
      <vt:lpstr>Method -- Morphological Gradient  </vt:lpstr>
      <vt:lpstr>Method -- Morphological Gradient  </vt:lpstr>
      <vt:lpstr>Method -- Morphological Gradient  </vt:lpstr>
      <vt:lpstr>Method -- Morphological Gradient  </vt:lpstr>
      <vt:lpstr>MAP Model  </vt:lpstr>
      <vt:lpstr>Feature Distribution</vt:lpstr>
      <vt:lpstr>Feature Distribution</vt:lpstr>
      <vt:lpstr>MAP model</vt:lpstr>
      <vt:lpstr>Final Algorithm </vt:lpstr>
      <vt:lpstr>Improvement </vt:lpstr>
      <vt:lpstr>Final result:</vt:lpstr>
      <vt:lpstr>Comparison </vt:lpstr>
      <vt:lpstr>Possible reasons that cause poor accuracy </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綉惠 徐</cp:lastModifiedBy>
  <cp:revision>14</cp:revision>
  <dcterms:modified xsi:type="dcterms:W3CDTF">2024-12-30T10:23:42Z</dcterms:modified>
</cp:coreProperties>
</file>