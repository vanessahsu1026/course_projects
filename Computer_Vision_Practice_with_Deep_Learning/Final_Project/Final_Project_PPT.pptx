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i1cv6Lq9xYUn1nx10tox6bseVv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FF60E9-CF4B-499D-AE53-C9DC378B44A5}">
  <a:tblStyle styleId="{28FF60E9-CF4B-499D-AE53-C9DC378B44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d0331f3c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ad0331f3c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0331f3c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ad0331f3c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d0331f3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ad0331f3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For the task of full-range 360-degree novel view synthesis, DiffPortrait360 employs a frozen pre-trained Latent Diffusion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(LDM) as a rendering backbone and incorporates three auxiliary trainable modules for disentangled control of dual appearance R, camera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control C, and U-Nets with view consistency V. Specifically, R extracts appearance information from Iref and Iback, and C derives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camera pose, which is rendered using an off-the-shelf 3D GAN. During training, we utilize a continuous sampling training strategy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better preserve the continuity of the camera trajectory. We enhance attention to continuity between frames to maintain the appearance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information without changes due to turning angles. For inference, we employ our tailored back-view image generation network F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generate a back-view image, enabling us to generate a 360-degree full range of camera trajectories using a single image portrait. Note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z stands for latent space noise rather than image.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0331f3c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ad0331f3c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d0331f3c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ad0331f3c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>
                <a:solidFill>
                  <a:schemeClr val="dk1"/>
                </a:solidFill>
              </a:rPr>
              <a:t>為了實現不同視角的高品質圖像生成與精準幾何結構操控，使用了Stable Diffusion， 一種基於 Latent Diffusion Model, LDM 的生成架構作為核心 backbone。其運算過程發生在由 VAE 壓縮後的latent space z 中，而非直接處理原始圖像像素，如此可大幅降低計算複雜度並提升生成效率。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d0331f3c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ad0331f3c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我們加入了tile跟depth controlnet並對兩個</a:t>
            </a:r>
            <a:r>
              <a:rPr lang="zh-TW">
                <a:solidFill>
                  <a:schemeClr val="dk1"/>
                </a:solidFill>
              </a:rPr>
              <a:t>controlnet作微調，depth control 使模型著重於學習從預測depth map到latent space幾何特徵的非線性映射、Tile Control則是讓模型在視角轉換時能敏銳地辨識並保留原始影像的紋理細節。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d0331f3c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ad0331f3c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d0331f3c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ad0331f3c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d0331f3c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ad0331f3c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630eae58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a630eae58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d0331f3c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ad0331f3c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035aea9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b035aea9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035aea9f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b035aea9f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035aea9f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b035aea9f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035aea9f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b035aea9f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035aea9f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b035aea9f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d0331f3c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ad0331f3c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d0331f3c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ad0331f3c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d0331f3c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ad0331f3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d0331f3c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ad0331f3c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5" Type="http://schemas.openxmlformats.org/officeDocument/2006/relationships/image" Target="../media/image1.jpg"/><Relationship Id="rId6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Relationship Id="rId4" Type="http://schemas.openxmlformats.org/officeDocument/2006/relationships/image" Target="../media/image5.jpg"/><Relationship Id="rId11" Type="http://schemas.openxmlformats.org/officeDocument/2006/relationships/image" Target="../media/image29.jpg"/><Relationship Id="rId10" Type="http://schemas.openxmlformats.org/officeDocument/2006/relationships/image" Target="../media/image32.jpg"/><Relationship Id="rId12" Type="http://schemas.openxmlformats.org/officeDocument/2006/relationships/image" Target="../media/image31.jpg"/><Relationship Id="rId9" Type="http://schemas.openxmlformats.org/officeDocument/2006/relationships/image" Target="../media/image30.jpg"/><Relationship Id="rId5" Type="http://schemas.openxmlformats.org/officeDocument/2006/relationships/image" Target="../media/image1.jpg"/><Relationship Id="rId6" Type="http://schemas.openxmlformats.org/officeDocument/2006/relationships/image" Target="../media/image9.jpg"/><Relationship Id="rId7" Type="http://schemas.openxmlformats.org/officeDocument/2006/relationships/image" Target="../media/image6.jpg"/><Relationship Id="rId8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1.jpg"/><Relationship Id="rId5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Relationship Id="rId4" Type="http://schemas.openxmlformats.org/officeDocument/2006/relationships/image" Target="../media/image14.jpg"/><Relationship Id="rId5" Type="http://schemas.openxmlformats.org/officeDocument/2006/relationships/image" Target="../media/image20.jpg"/><Relationship Id="rId6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22.jpg"/><Relationship Id="rId6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35.jpg"/><Relationship Id="rId5" Type="http://schemas.openxmlformats.org/officeDocument/2006/relationships/image" Target="../media/image26.jpg"/><Relationship Id="rId6" Type="http://schemas.openxmlformats.org/officeDocument/2006/relationships/image" Target="../media/image3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Relationship Id="rId4" Type="http://schemas.openxmlformats.org/officeDocument/2006/relationships/image" Target="../media/image21.jpg"/><Relationship Id="rId5" Type="http://schemas.openxmlformats.org/officeDocument/2006/relationships/image" Target="../media/image25.jpg"/><Relationship Id="rId6" Type="http://schemas.openxmlformats.org/officeDocument/2006/relationships/image" Target="../media/image3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jpg"/><Relationship Id="rId4" Type="http://schemas.openxmlformats.org/officeDocument/2006/relationships/image" Target="../media/image23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Save Your Photo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zh-TW"/>
              <a:t>CVPDL Final Project Group 8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1845"/>
              <a:buNone/>
            </a:pPr>
            <a:r>
              <a:rPr lang="zh-TW" sz="1632"/>
              <a:t>NTHU </a:t>
            </a:r>
            <a:r>
              <a:rPr lang="zh-TW" sz="1632"/>
              <a:t>廖邦宸、林鈺承、張愛翎、洪渝喬、徐綉惠</a:t>
            </a:r>
            <a:endParaRPr sz="163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Introduction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Related Work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Proposed Dataset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Experiment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Discussion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Conclusion</a:t>
            </a:r>
            <a:endParaRPr/>
          </a:p>
        </p:txBody>
      </p:sp>
      <p:sp>
        <p:nvSpPr>
          <p:cNvPr id="62" name="Google Shape;6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d0331f3cf_0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8" name="Google Shape;68;g3ad0331f3cf_0_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Introduction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Related Work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Proposed Dataset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Experiment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Discussion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69" name="Google Shape;69;g3ad0331f3cf_0_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Introduction</a:t>
            </a:r>
            <a:endParaRPr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Turn bad camera angles into good angles!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High-angle: legs shorten, face bigger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Low-angle: legs lengthen, face smaller, looks taller</a:t>
            </a:r>
            <a:endParaRPr/>
          </a:p>
        </p:txBody>
      </p:sp>
      <p:pic>
        <p:nvPicPr>
          <p:cNvPr id="76" name="Google Shape;76;p3" title="16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3225" y="2771850"/>
            <a:ext cx="1685215" cy="224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 title="161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463" y="2771850"/>
            <a:ext cx="1685215" cy="224696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4538973" y="3655641"/>
            <a:ext cx="690000" cy="479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0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00" lIns="102700" spcFirstLastPara="1" rIns="102700" wrap="square" tIns="10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3"/>
              <a:buFont typeface="Arial"/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2945788" y="237165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looks short…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802777" y="2371650"/>
            <a:ext cx="131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looks tall!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d0331f3cf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87" name="Google Shape;87;g3ad0331f3cf_0_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Introduction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Related Work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Proposed Dataset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Experiment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Discussion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8" name="Google Shape;88;g3ad0331f3cf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d0331f3c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DiffPortrait360 (CVPR2025)</a:t>
            </a:r>
            <a:endParaRPr/>
          </a:p>
        </p:txBody>
      </p:sp>
      <p:sp>
        <p:nvSpPr>
          <p:cNvPr id="94" name="Google Shape;94;g3ad0331f3cf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From a single frontal image, the model synthesizes a full 360° horizontal rotation of the face, covering front, side, and back views only.</a:t>
            </a:r>
            <a:endParaRPr/>
          </a:p>
        </p:txBody>
      </p:sp>
      <p:sp>
        <p:nvSpPr>
          <p:cNvPr id="95" name="Google Shape;95;g3ad0331f3c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96" name="Google Shape;96;g3ad0331f3c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362" y="1893175"/>
            <a:ext cx="5921275" cy="29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d0331f3cf_0_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02" name="Google Shape;102;g3ad0331f3cf_0_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Introduction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Related Work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zh-TW">
                <a:solidFill>
                  <a:srgbClr val="666666"/>
                </a:solidFill>
              </a:rPr>
              <a:t>Method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Proposed Dataset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Experiment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Discussion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3" name="Google Shape;103;g3ad0331f3cf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d0331f3cf_0_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Stable Diffusion 1.5</a:t>
            </a:r>
            <a:endParaRPr/>
          </a:p>
        </p:txBody>
      </p:sp>
      <p:sp>
        <p:nvSpPr>
          <p:cNvPr id="109" name="Google Shape;109;g3ad0331f3cf_0_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t/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0" name="Google Shape;110;g3ad0331f3cf_0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1" name="Google Shape;111;g3ad0331f3cf_0_41" title="截圖 2025-12-11 下午9.47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437" y="1262538"/>
            <a:ext cx="6281125" cy="319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0331f3cf_0_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ControlNet</a:t>
            </a:r>
            <a:endParaRPr/>
          </a:p>
        </p:txBody>
      </p:sp>
      <p:sp>
        <p:nvSpPr>
          <p:cNvPr id="117" name="Google Shape;117;g3ad0331f3cf_0_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Use 2 trainable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ControlNet as input.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1. Bad angle RGB input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2. Pose/depth map condition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18" name="Google Shape;118;g3ad0331f3cf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9" name="Google Shape;119;g3ad0331f3cf_0_47" title="s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5825" y="343925"/>
            <a:ext cx="5177875" cy="45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0331f3cf_0_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25" name="Google Shape;125;g3ad0331f3cf_0_1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Introduction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Related Work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zh-TW">
                <a:solidFill>
                  <a:srgbClr val="666666"/>
                </a:solidFill>
              </a:rPr>
              <a:t>Proposed Dataset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Experiment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Discussion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6" name="Google Shape;126;g3ad0331f3cf_0_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0331f3cf_0_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Proposed Dataset</a:t>
            </a:r>
            <a:endParaRPr/>
          </a:p>
        </p:txBody>
      </p:sp>
      <p:sp>
        <p:nvSpPr>
          <p:cNvPr id="132" name="Google Shape;132;g3ad0331f3cf_0_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Total of 698 good/bad angle paired images (600 synthetic, 98 real)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Synthetic (600 pairs):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Different walls/floor/lighting/pose with 40 different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characters.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Created with blender.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Real (98 pairs):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Different poses with 9 different people.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Taken with iPhones.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d0331f3cf_0_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4" name="Google Shape;134;g3ad0331f3cf_0_53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9758" y="3177096"/>
            <a:ext cx="1041386" cy="1388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ad0331f3cf_0_53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9758" y="1715577"/>
            <a:ext cx="1041386" cy="138853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ad0331f3cf_0_53"/>
          <p:cNvSpPr txBox="1"/>
          <p:nvPr/>
        </p:nvSpPr>
        <p:spPr>
          <a:xfrm>
            <a:off x="5960200" y="3582720"/>
            <a:ext cx="7218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25" lIns="103525" spcFirstLastPara="1" rIns="103525" wrap="square" tIns="103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72">
                <a:solidFill>
                  <a:schemeClr val="dk2"/>
                </a:solidFill>
              </a:rPr>
              <a:t>good </a:t>
            </a:r>
            <a:endParaRPr sz="1472">
              <a:solidFill>
                <a:schemeClr val="dk2"/>
              </a:solidFill>
            </a:endParaRPr>
          </a:p>
        </p:txBody>
      </p:sp>
      <p:sp>
        <p:nvSpPr>
          <p:cNvPr id="137" name="Google Shape;137;g3ad0331f3cf_0_53"/>
          <p:cNvSpPr txBox="1"/>
          <p:nvPr/>
        </p:nvSpPr>
        <p:spPr>
          <a:xfrm>
            <a:off x="6039697" y="2200738"/>
            <a:ext cx="562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25" lIns="103525" spcFirstLastPara="1" rIns="103525" wrap="square" tIns="103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8">
                <a:solidFill>
                  <a:schemeClr val="dk2"/>
                </a:solidFill>
              </a:rPr>
              <a:t>bad</a:t>
            </a:r>
            <a:endParaRPr sz="1358">
              <a:solidFill>
                <a:schemeClr val="dk2"/>
              </a:solidFill>
            </a:endParaRPr>
          </a:p>
        </p:txBody>
      </p:sp>
      <p:sp>
        <p:nvSpPr>
          <p:cNvPr id="138" name="Google Shape;138;g3ad0331f3cf_0_53"/>
          <p:cNvSpPr txBox="1"/>
          <p:nvPr/>
        </p:nvSpPr>
        <p:spPr>
          <a:xfrm>
            <a:off x="7313008" y="4638617"/>
            <a:ext cx="894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25" lIns="103525" spcFirstLastPara="1" rIns="103525" wrap="square" tIns="103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8">
                <a:solidFill>
                  <a:schemeClr val="dk2"/>
                </a:solidFill>
              </a:rPr>
              <a:t>synthetic</a:t>
            </a:r>
            <a:endParaRPr sz="1358">
              <a:solidFill>
                <a:schemeClr val="dk2"/>
              </a:solidFill>
            </a:endParaRPr>
          </a:p>
        </p:txBody>
      </p:sp>
      <p:pic>
        <p:nvPicPr>
          <p:cNvPr id="139" name="Google Shape;139;g3ad0331f3cf_0_53" title="9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8621" y="1715575"/>
            <a:ext cx="1041386" cy="138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d0331f3cf_0_53" title="9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28617" y="3177110"/>
            <a:ext cx="1041386" cy="1388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0331f3cf_0_1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Proposed Dataset</a:t>
            </a:r>
            <a:endParaRPr/>
          </a:p>
        </p:txBody>
      </p:sp>
      <p:sp>
        <p:nvSpPr>
          <p:cNvPr id="146" name="Google Shape;146;g3ad0331f3cf_0_1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ad0331f3cf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8" name="Google Shape;148;g3ad0331f3cf_0_115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5399" y="2896050"/>
            <a:ext cx="1233886" cy="164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ad0331f3cf_0_115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5400" y="1075500"/>
            <a:ext cx="1233875" cy="164520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ad0331f3cf_0_115"/>
          <p:cNvSpPr txBox="1"/>
          <p:nvPr/>
        </p:nvSpPr>
        <p:spPr>
          <a:xfrm>
            <a:off x="-64200" y="3410850"/>
            <a:ext cx="147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good angle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(ground truth)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g3ad0331f3cf_0_115"/>
          <p:cNvSpPr txBox="1"/>
          <p:nvPr/>
        </p:nvSpPr>
        <p:spPr>
          <a:xfrm>
            <a:off x="135025" y="1590300"/>
            <a:ext cx="10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bad angle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(input)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2" name="Google Shape;152;g3ad0331f3cf_0_115"/>
          <p:cNvSpPr txBox="1"/>
          <p:nvPr/>
        </p:nvSpPr>
        <p:spPr>
          <a:xfrm>
            <a:off x="2876279" y="4656625"/>
            <a:ext cx="97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synthetic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3" name="Google Shape;153;g3ad0331f3cf_0_115" title="9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5267" y="1077712"/>
            <a:ext cx="1233887" cy="1645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ad0331f3cf_0_115" title="9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6625" y="2900442"/>
            <a:ext cx="1233886" cy="1645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ad0331f3cf_0_115" title="577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4175" y="2900425"/>
            <a:ext cx="1233902" cy="164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ad0331f3cf_0_115" title="577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84160" y="1077700"/>
            <a:ext cx="1233875" cy="1645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ad0331f3cf_0_115" title="鈺承_20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91775" y="1067238"/>
            <a:ext cx="1249586" cy="16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ad0331f3cf_0_115" title="鈺承_20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07475" y="2900450"/>
            <a:ext cx="1233876" cy="1645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ad0331f3cf_0_115" title="邦宸_1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10500" y="2900450"/>
            <a:ext cx="1233876" cy="1645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ad0331f3cf_0_115" title="邦宸_1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94800" y="1067250"/>
            <a:ext cx="1249574" cy="1666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ad0331f3cf_0_115"/>
          <p:cNvSpPr txBox="1"/>
          <p:nvPr/>
        </p:nvSpPr>
        <p:spPr>
          <a:xfrm>
            <a:off x="7047652" y="46566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real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30eae588_0_2"/>
          <p:cNvSpPr txBox="1"/>
          <p:nvPr>
            <p:ph type="title"/>
          </p:nvPr>
        </p:nvSpPr>
        <p:spPr>
          <a:xfrm>
            <a:off x="311700" y="4672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Create ControlNet Inputs</a:t>
            </a:r>
            <a:endParaRPr/>
          </a:p>
        </p:txBody>
      </p:sp>
      <p:sp>
        <p:nvSpPr>
          <p:cNvPr id="167" name="Google Shape;167;g3a630eae588_0_2"/>
          <p:cNvSpPr txBox="1"/>
          <p:nvPr>
            <p:ph idx="1" type="body"/>
          </p:nvPr>
        </p:nvSpPr>
        <p:spPr>
          <a:xfrm>
            <a:off x="818981" y="1039963"/>
            <a:ext cx="15627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Input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68" name="Google Shape;168;g3a630eae588_0_2"/>
          <p:cNvSpPr txBox="1"/>
          <p:nvPr>
            <p:ph idx="12" type="sldNum"/>
          </p:nvPr>
        </p:nvSpPr>
        <p:spPr>
          <a:xfrm>
            <a:off x="8482858" y="428263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9" name="Google Shape;169;g3a630eae588_0_2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64" y="1551474"/>
            <a:ext cx="2048344" cy="273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630eae588_0_2"/>
          <p:cNvSpPr/>
          <p:nvPr/>
        </p:nvSpPr>
        <p:spPr>
          <a:xfrm rot="2550">
            <a:off x="3026667" y="2622383"/>
            <a:ext cx="808800" cy="39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0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700" lIns="102700" spcFirstLastPara="1" rIns="102700" wrap="square" tIns="10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3"/>
              <a:buFont typeface="Arial"/>
              <a:buNone/>
            </a:pPr>
            <a:r>
              <a:t/>
            </a:r>
            <a:endParaRPr b="0" i="0" sz="15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a630eae588_0_2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1691" y="1547035"/>
            <a:ext cx="1986282" cy="273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a630eae588_0_2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604" y="1547038"/>
            <a:ext cx="2048352" cy="273112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a630eae588_0_2"/>
          <p:cNvSpPr txBox="1"/>
          <p:nvPr>
            <p:ph idx="1" type="body"/>
          </p:nvPr>
        </p:nvSpPr>
        <p:spPr>
          <a:xfrm>
            <a:off x="4412040" y="1039963"/>
            <a:ext cx="1485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 Pose map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4" name="Google Shape;174;g3a630eae588_0_2"/>
          <p:cNvSpPr txBox="1"/>
          <p:nvPr>
            <p:ph idx="1" type="body"/>
          </p:nvPr>
        </p:nvSpPr>
        <p:spPr>
          <a:xfrm>
            <a:off x="6848965" y="1039963"/>
            <a:ext cx="1485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Depth</a:t>
            </a:r>
            <a:r>
              <a:rPr lang="zh-TW">
                <a:solidFill>
                  <a:srgbClr val="434343"/>
                </a:solidFill>
              </a:rPr>
              <a:t> map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5" name="Google Shape;175;g3a630eae588_0_2"/>
          <p:cNvSpPr txBox="1"/>
          <p:nvPr>
            <p:ph idx="1" type="body"/>
          </p:nvPr>
        </p:nvSpPr>
        <p:spPr>
          <a:xfrm>
            <a:off x="2965775" y="2110575"/>
            <a:ext cx="930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zh-TW" sz="1000">
                <a:solidFill>
                  <a:srgbClr val="434343"/>
                </a:solidFill>
              </a:rPr>
              <a:t>OpenPose</a:t>
            </a:r>
            <a:endParaRPr sz="1000">
              <a:solidFill>
                <a:srgbClr val="434343"/>
              </a:solidFill>
            </a:endParaRPr>
          </a:p>
        </p:txBody>
      </p:sp>
      <p:sp>
        <p:nvSpPr>
          <p:cNvPr id="176" name="Google Shape;176;g3a630eae588_0_2"/>
          <p:cNvSpPr txBox="1"/>
          <p:nvPr>
            <p:ph idx="1" type="body"/>
          </p:nvPr>
        </p:nvSpPr>
        <p:spPr>
          <a:xfrm>
            <a:off x="2816725" y="3172125"/>
            <a:ext cx="1485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zh-TW" sz="1025">
                <a:solidFill>
                  <a:srgbClr val="434343"/>
                </a:solidFill>
              </a:rPr>
              <a:t>Depth Anything V2</a:t>
            </a:r>
            <a:endParaRPr sz="1025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d0331f3cf_0_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182" name="Google Shape;182;g3ad0331f3cf_0_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Introduction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Related Work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Proposed Dataset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zh-TW">
                <a:solidFill>
                  <a:srgbClr val="666666"/>
                </a:solidFill>
              </a:rPr>
              <a:t>Experiment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Discussion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3" name="Google Shape;183;g3ad0331f3cf_0_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035aea9f2_0_0"/>
          <p:cNvSpPr txBox="1"/>
          <p:nvPr>
            <p:ph type="title"/>
          </p:nvPr>
        </p:nvSpPr>
        <p:spPr>
          <a:xfrm>
            <a:off x="500550" y="470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Stable Diffusion with RGB/Pose Map</a:t>
            </a:r>
            <a:endParaRPr/>
          </a:p>
        </p:txBody>
      </p:sp>
      <p:sp>
        <p:nvSpPr>
          <p:cNvPr id="189" name="Google Shape;189;g3b035aea9f2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0" name="Google Shape;190;g3b035aea9f2_0_0"/>
          <p:cNvSpPr txBox="1"/>
          <p:nvPr>
            <p:ph idx="1" type="body"/>
          </p:nvPr>
        </p:nvSpPr>
        <p:spPr>
          <a:xfrm>
            <a:off x="420071" y="1146571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191" name="Google Shape;191;g3b035aea9f2_0_0"/>
          <p:cNvSpPr txBox="1"/>
          <p:nvPr>
            <p:ph idx="1" type="body"/>
          </p:nvPr>
        </p:nvSpPr>
        <p:spPr>
          <a:xfrm>
            <a:off x="2365703" y="114658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192" name="Google Shape;192;g3b035aea9f2_0_0"/>
          <p:cNvSpPr txBox="1"/>
          <p:nvPr>
            <p:ph idx="1" type="body"/>
          </p:nvPr>
        </p:nvSpPr>
        <p:spPr>
          <a:xfrm>
            <a:off x="4870583" y="1094702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193" name="Google Shape;193;g3b035aea9f2_0_0"/>
          <p:cNvSpPr txBox="1"/>
          <p:nvPr>
            <p:ph idx="1" type="body"/>
          </p:nvPr>
        </p:nvSpPr>
        <p:spPr>
          <a:xfrm>
            <a:off x="7020583" y="109471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pic>
        <p:nvPicPr>
          <p:cNvPr id="194" name="Google Shape;194;g3b035aea9f2_0_0" title="2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750" y="1730638"/>
            <a:ext cx="2001151" cy="2668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b035aea9f2_0_0" title="2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12" y="1730654"/>
            <a:ext cx="2001132" cy="2668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b035aea9f2_0_0" title="489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2200" y="1730654"/>
            <a:ext cx="2001132" cy="266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b035aea9f2_0_0" title="489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63420" y="1730702"/>
            <a:ext cx="2009713" cy="2679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035aea9f2_0_26"/>
          <p:cNvSpPr txBox="1"/>
          <p:nvPr>
            <p:ph type="title"/>
          </p:nvPr>
        </p:nvSpPr>
        <p:spPr>
          <a:xfrm>
            <a:off x="420075" y="470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Main Result - </a:t>
            </a:r>
            <a:r>
              <a:rPr lang="zh-TW"/>
              <a:t>Stable Diffusion with RGB/Depth Map</a:t>
            </a:r>
            <a:endParaRPr/>
          </a:p>
        </p:txBody>
      </p:sp>
      <p:sp>
        <p:nvSpPr>
          <p:cNvPr id="203" name="Google Shape;203;g3b035aea9f2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4" name="Google Shape;204;g3b035aea9f2_0_26" title="warped_2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0629" y="1735866"/>
            <a:ext cx="2001134" cy="2657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b035aea9f2_0_26" title="20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30654"/>
            <a:ext cx="2001132" cy="266816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b035aea9f2_0_26"/>
          <p:cNvSpPr txBox="1"/>
          <p:nvPr>
            <p:ph idx="1" type="body"/>
          </p:nvPr>
        </p:nvSpPr>
        <p:spPr>
          <a:xfrm>
            <a:off x="420071" y="1146571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07" name="Google Shape;207;g3b035aea9f2_0_26"/>
          <p:cNvSpPr txBox="1"/>
          <p:nvPr>
            <p:ph idx="1" type="body"/>
          </p:nvPr>
        </p:nvSpPr>
        <p:spPr>
          <a:xfrm>
            <a:off x="2365703" y="114658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pic>
        <p:nvPicPr>
          <p:cNvPr id="208" name="Google Shape;208;g3b035aea9f2_0_26" title="warped_489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7715" y="1735849"/>
            <a:ext cx="2001134" cy="2657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b035aea9f2_0_26" title="489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213" y="1730654"/>
            <a:ext cx="2001132" cy="26681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b035aea9f2_0_26"/>
          <p:cNvSpPr txBox="1"/>
          <p:nvPr>
            <p:ph idx="1" type="body"/>
          </p:nvPr>
        </p:nvSpPr>
        <p:spPr>
          <a:xfrm>
            <a:off x="4870596" y="1146577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11" name="Google Shape;211;g3b035aea9f2_0_26"/>
          <p:cNvSpPr txBox="1"/>
          <p:nvPr>
            <p:ph idx="1" type="body"/>
          </p:nvPr>
        </p:nvSpPr>
        <p:spPr>
          <a:xfrm>
            <a:off x="6906033" y="114656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035aea9f2_0_43"/>
          <p:cNvSpPr txBox="1"/>
          <p:nvPr>
            <p:ph type="title"/>
          </p:nvPr>
        </p:nvSpPr>
        <p:spPr>
          <a:xfrm>
            <a:off x="420075" y="470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Main Result - </a:t>
            </a:r>
            <a:r>
              <a:rPr lang="zh-TW"/>
              <a:t>Stable Diffusion with RGB/Depth Map</a:t>
            </a:r>
            <a:endParaRPr/>
          </a:p>
        </p:txBody>
      </p:sp>
      <p:sp>
        <p:nvSpPr>
          <p:cNvPr id="217" name="Google Shape;217;g3b035aea9f2_0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18" name="Google Shape;218;g3b035aea9f2_0_43"/>
          <p:cNvSpPr txBox="1"/>
          <p:nvPr>
            <p:ph idx="1" type="body"/>
          </p:nvPr>
        </p:nvSpPr>
        <p:spPr>
          <a:xfrm>
            <a:off x="420071" y="1146571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19" name="Google Shape;219;g3b035aea9f2_0_43"/>
          <p:cNvSpPr txBox="1"/>
          <p:nvPr>
            <p:ph idx="1" type="body"/>
          </p:nvPr>
        </p:nvSpPr>
        <p:spPr>
          <a:xfrm>
            <a:off x="2365703" y="114658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20" name="Google Shape;220;g3b035aea9f2_0_43"/>
          <p:cNvSpPr txBox="1"/>
          <p:nvPr>
            <p:ph idx="1" type="body"/>
          </p:nvPr>
        </p:nvSpPr>
        <p:spPr>
          <a:xfrm>
            <a:off x="4962921" y="1146577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21" name="Google Shape;221;g3b035aea9f2_0_43"/>
          <p:cNvSpPr txBox="1"/>
          <p:nvPr>
            <p:ph idx="1" type="body"/>
          </p:nvPr>
        </p:nvSpPr>
        <p:spPr>
          <a:xfrm>
            <a:off x="6906033" y="114656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pic>
        <p:nvPicPr>
          <p:cNvPr id="222" name="Google Shape;222;g3b035aea9f2_0_43" title="warped_邦宸_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200" y="1736150"/>
            <a:ext cx="2101800" cy="279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b035aea9f2_0_43" title="邦宸_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550" y="1730675"/>
            <a:ext cx="2101801" cy="2802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b035aea9f2_0_43" title="warped_助理_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5875" y="1736150"/>
            <a:ext cx="2101800" cy="2791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b035aea9f2_0_43" title="助理_5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4224" y="1730675"/>
            <a:ext cx="2101801" cy="2802391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b035aea9f2_0_43"/>
          <p:cNvSpPr/>
          <p:nvPr/>
        </p:nvSpPr>
        <p:spPr>
          <a:xfrm>
            <a:off x="5514625" y="2132450"/>
            <a:ext cx="681000" cy="135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b035aea9f2_0_43"/>
          <p:cNvSpPr/>
          <p:nvPr/>
        </p:nvSpPr>
        <p:spPr>
          <a:xfrm>
            <a:off x="7736275" y="2087025"/>
            <a:ext cx="681000" cy="135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035aea9f2_0_63"/>
          <p:cNvSpPr txBox="1"/>
          <p:nvPr>
            <p:ph type="title"/>
          </p:nvPr>
        </p:nvSpPr>
        <p:spPr>
          <a:xfrm>
            <a:off x="420075" y="470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Ablation - Remove Pose/Depth Map ControlNet</a:t>
            </a:r>
            <a:endParaRPr/>
          </a:p>
        </p:txBody>
      </p:sp>
      <p:sp>
        <p:nvSpPr>
          <p:cNvPr id="233" name="Google Shape;233;g3b035aea9f2_0_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4" name="Google Shape;234;g3b035aea9f2_0_63"/>
          <p:cNvSpPr txBox="1"/>
          <p:nvPr>
            <p:ph idx="1" type="body"/>
          </p:nvPr>
        </p:nvSpPr>
        <p:spPr>
          <a:xfrm>
            <a:off x="420071" y="1146571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35" name="Google Shape;235;g3b035aea9f2_0_63"/>
          <p:cNvSpPr txBox="1"/>
          <p:nvPr>
            <p:ph idx="1" type="body"/>
          </p:nvPr>
        </p:nvSpPr>
        <p:spPr>
          <a:xfrm>
            <a:off x="2365703" y="114658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36" name="Google Shape;236;g3b035aea9f2_0_63"/>
          <p:cNvSpPr txBox="1"/>
          <p:nvPr>
            <p:ph idx="1" type="body"/>
          </p:nvPr>
        </p:nvSpPr>
        <p:spPr>
          <a:xfrm>
            <a:off x="4962921" y="1146577"/>
            <a:ext cx="1784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Input</a:t>
            </a:r>
            <a:endParaRPr sz="2055">
              <a:solidFill>
                <a:srgbClr val="434343"/>
              </a:solidFill>
            </a:endParaRPr>
          </a:p>
        </p:txBody>
      </p:sp>
      <p:sp>
        <p:nvSpPr>
          <p:cNvPr id="237" name="Google Shape;237;g3b035aea9f2_0_63"/>
          <p:cNvSpPr txBox="1"/>
          <p:nvPr>
            <p:ph idx="1" type="body"/>
          </p:nvPr>
        </p:nvSpPr>
        <p:spPr>
          <a:xfrm>
            <a:off x="6906033" y="1146566"/>
            <a:ext cx="18954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400" lIns="104400" spcFirstLastPara="1" rIns="104400" wrap="square" tIns="104400">
            <a:normAutofit/>
          </a:bodyPr>
          <a:lstStyle/>
          <a:p>
            <a:pPr indent="0" lvl="0" marL="522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55">
                <a:solidFill>
                  <a:srgbClr val="434343"/>
                </a:solidFill>
              </a:rPr>
              <a:t>Output</a:t>
            </a:r>
            <a:endParaRPr sz="2055">
              <a:solidFill>
                <a:srgbClr val="434343"/>
              </a:solidFill>
            </a:endParaRPr>
          </a:p>
        </p:txBody>
      </p:sp>
      <p:pic>
        <p:nvPicPr>
          <p:cNvPr id="238" name="Google Shape;238;g3b035aea9f2_0_63" title="1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175" y="1730675"/>
            <a:ext cx="2057726" cy="27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b035aea9f2_0_63" title="12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976" y="1730675"/>
            <a:ext cx="2057726" cy="27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b035aea9f2_0_63" title="邦宸_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3400" y="1730675"/>
            <a:ext cx="2057748" cy="274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b035aea9f2_0_63" title="邦宸_2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6250" y="1730663"/>
            <a:ext cx="2057748" cy="2743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035aea9f2_0_82"/>
          <p:cNvSpPr txBox="1"/>
          <p:nvPr>
            <p:ph type="title"/>
          </p:nvPr>
        </p:nvSpPr>
        <p:spPr>
          <a:xfrm>
            <a:off x="420075" y="470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FID Results</a:t>
            </a:r>
            <a:endParaRPr/>
          </a:p>
        </p:txBody>
      </p:sp>
      <p:sp>
        <p:nvSpPr>
          <p:cNvPr id="247" name="Google Shape;247;g3b035aea9f2_0_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48" name="Google Shape;248;g3b035aea9f2_0_82"/>
          <p:cNvGraphicFramePr/>
          <p:nvPr/>
        </p:nvGraphicFramePr>
        <p:xfrm>
          <a:off x="2464075" y="184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{28FF60E9-CF4B-499D-AE53-C9DC378B44A5}</a:tableStyleId>
              </a:tblPr>
              <a:tblGrid>
                <a:gridCol w="1477525"/>
                <a:gridCol w="1477525"/>
                <a:gridCol w="147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ControlNet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img2img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FID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RGB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113.3175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4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RGB +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Pose Map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108.9777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RGB +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Pose Map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O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105.1208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RGB +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Depth Map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rgbClr val="FF0000"/>
                          </a:solidFill>
                        </a:rPr>
                        <a:t>102.88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9" name="Google Shape;249;g3b035aea9f2_0_82"/>
          <p:cNvSpPr txBox="1"/>
          <p:nvPr>
            <p:ph idx="1" type="body"/>
          </p:nvPr>
        </p:nvSpPr>
        <p:spPr>
          <a:xfrm>
            <a:off x="311700" y="1152475"/>
            <a:ext cx="85206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Calculate FID between predictions and ground truths.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d0331f3cf_0_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255" name="Google Shape;255;g3ad0331f3cf_0_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Introduction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Related Work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Proposed Dataset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Experiment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zh-TW">
                <a:solidFill>
                  <a:srgbClr val="666666"/>
                </a:solidFill>
              </a:rPr>
              <a:t>Discussion</a:t>
            </a:r>
            <a:endParaRPr>
              <a:solidFill>
                <a:srgbClr val="666666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Conclusion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56" name="Google Shape;256;g3ad0331f3cf_0_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d0331f3cf_0_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Limitation</a:t>
            </a:r>
            <a:endParaRPr/>
          </a:p>
        </p:txBody>
      </p:sp>
      <p:sp>
        <p:nvSpPr>
          <p:cNvPr id="262" name="Google Shape;262;g3ad0331f3cf_0_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AutoNum type="arabicPeriod"/>
            </a:pPr>
            <a:r>
              <a:rPr lang="zh-TW">
                <a:solidFill>
                  <a:srgbClr val="434343"/>
                </a:solidFill>
              </a:rPr>
              <a:t>Appearance</a:t>
            </a:r>
            <a:r>
              <a:rPr lang="zh-TW">
                <a:solidFill>
                  <a:srgbClr val="434343"/>
                </a:solidFill>
              </a:rPr>
              <a:t> difference				2. Stretching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63" name="Google Shape;263;g3ad0331f3cf_0_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64" name="Google Shape;264;g3ad0331f3cf_0_77" title="鈺承_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88" y="1924950"/>
            <a:ext cx="1925253" cy="256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ad0331f3cf_0_77" title="warped_鈺承_1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6350" y="1929953"/>
            <a:ext cx="1925254" cy="2556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ad0331f3cf_0_77" title="warped_56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5176" y="1934980"/>
            <a:ext cx="1917733" cy="2546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ad0331f3cf_0_77" title="565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7437" y="1929963"/>
            <a:ext cx="1917734" cy="255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d0331f3cf_0_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273" name="Google Shape;273;g3ad0331f3cf_0_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Introduction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Related Work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Method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Proposed Dataset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Experiment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zh-TW">
                <a:solidFill>
                  <a:srgbClr val="B7B7B7"/>
                </a:solidFill>
              </a:rPr>
              <a:t>Discussion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zh-TW">
                <a:solidFill>
                  <a:srgbClr val="666666"/>
                </a:solidFill>
              </a:rPr>
              <a:t>Conclusion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274" name="Google Shape;274;g3ad0331f3cf_0_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d0331f3cf_0_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Conclusion</a:t>
            </a:r>
            <a:endParaRPr/>
          </a:p>
        </p:txBody>
      </p:sp>
      <p:sp>
        <p:nvSpPr>
          <p:cNvPr id="280" name="Google Shape;280;g3ad0331f3cf_0_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zh-TW">
                <a:solidFill>
                  <a:srgbClr val="434343"/>
                </a:solidFill>
              </a:rPr>
              <a:t>Proposed a paired dataset with bad/good angles.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zh-TW">
                <a:solidFill>
                  <a:srgbClr val="434343"/>
                </a:solidFill>
              </a:rPr>
              <a:t>Using Stable Diffusion and ControlNet to perform camera angle enhancement.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434343"/>
                </a:solidFill>
              </a:rPr>
              <a:t>Future Work: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zh-TW">
                <a:solidFill>
                  <a:srgbClr val="434343"/>
                </a:solidFill>
              </a:rPr>
              <a:t>Add both pose and depth maps as control.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zh-TW">
                <a:solidFill>
                  <a:srgbClr val="434343"/>
                </a:solidFill>
              </a:rPr>
              <a:t>Create larger and more diverse dataset to help generalization.</a:t>
            </a:r>
            <a:endParaRPr>
              <a:solidFill>
                <a:srgbClr val="434343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</a:pPr>
            <a:r>
              <a:rPr lang="zh-TW">
                <a:solidFill>
                  <a:srgbClr val="434343"/>
                </a:solidFill>
              </a:rPr>
              <a:t>Give more facial information to fix </a:t>
            </a:r>
            <a:r>
              <a:rPr lang="zh-TW">
                <a:solidFill>
                  <a:srgbClr val="434343"/>
                </a:solidFill>
              </a:rPr>
              <a:t>blurry </a:t>
            </a:r>
            <a:r>
              <a:rPr lang="zh-TW">
                <a:solidFill>
                  <a:srgbClr val="434343"/>
                </a:solidFill>
              </a:rPr>
              <a:t>face issues.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81" name="Google Shape;281;g3ad0331f3cf_0_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