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71" r:id="rId12"/>
    <p:sldId id="266" r:id="rId13"/>
    <p:sldId id="267" r:id="rId14"/>
    <p:sldId id="268" r:id="rId15"/>
    <p:sldId id="269" r:id="rId16"/>
    <p:sldId id="270"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70E975-41CA-4F53-96CA-81EBAB75F501}">
  <a:tblStyle styleId="{B770E975-41CA-4F53-96CA-81EBAB75F501}" styleName="Table_0">
    <a:wholeTbl>
      <a:tcTxStyle b="off" i="off">
        <a:font>
          <a:latin typeface="Rockwell"/>
          <a:ea typeface="Rockwell"/>
          <a:cs typeface="Rockwel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EECED"/>
          </a:solidFill>
        </a:fill>
      </a:tcStyle>
    </a:wholeTbl>
    <a:band1H>
      <a:tcTxStyle/>
      <a:tcStyle>
        <a:tcBdr/>
        <a:fill>
          <a:solidFill>
            <a:srgbClr val="DBD8D8"/>
          </a:solidFill>
        </a:fill>
      </a:tcStyle>
    </a:band1H>
    <a:band2H>
      <a:tcTxStyle/>
      <a:tcStyle>
        <a:tcBdr/>
      </a:tcStyle>
    </a:band2H>
    <a:band1V>
      <a:tcTxStyle/>
      <a:tcStyle>
        <a:tcBdr/>
        <a:fill>
          <a:solidFill>
            <a:srgbClr val="DBD8D8"/>
          </a:solidFill>
        </a:fill>
      </a:tcStyle>
    </a:band1V>
    <a:band2V>
      <a:tcTxStyle/>
      <a:tcStyle>
        <a:tcBdr/>
      </a:tcStyle>
    </a:band2V>
    <a:lastCol>
      <a:tcTxStyle b="on" i="off">
        <a:font>
          <a:latin typeface="Rockwell"/>
          <a:ea typeface="Rockwell"/>
          <a:cs typeface="Rockwell"/>
        </a:font>
        <a:schemeClr val="lt1"/>
      </a:tcTxStyle>
      <a:tcStyle>
        <a:tcBdr/>
        <a:fill>
          <a:solidFill>
            <a:schemeClr val="accent5"/>
          </a:solidFill>
        </a:fill>
      </a:tcStyle>
    </a:lastCol>
    <a:firstCol>
      <a:tcTxStyle b="on" i="off">
        <a:font>
          <a:latin typeface="Rockwell"/>
          <a:ea typeface="Rockwell"/>
          <a:cs typeface="Rockwell"/>
        </a:font>
        <a:schemeClr val="lt1"/>
      </a:tcTxStyle>
      <a:tcStyle>
        <a:tcBdr/>
        <a:fill>
          <a:solidFill>
            <a:schemeClr val="accent5"/>
          </a:solidFill>
        </a:fill>
      </a:tcStyle>
    </a:firstCol>
    <a:lastRow>
      <a:tcTxStyle b="on" i="off">
        <a:font>
          <a:latin typeface="Rockwell"/>
          <a:ea typeface="Rockwell"/>
          <a:cs typeface="Rockwell"/>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Rockwell"/>
          <a:ea typeface="Rockwell"/>
          <a:cs typeface="Rockwell"/>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40B961F7-57B1-4752-A267-737E56559FA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19c26c5e15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19c26c5e15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g319c26c5e15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19f62203c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19f62203c9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g319f62203c9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19e9d9a734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g319e9d9a734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19f62203c9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19f62203c9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g319f62203c9_0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9c26c5e15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19c26c5e15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g319c26c5e15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be5f3d77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1be5f3d779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g31be5f3d779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1be5f3d779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1be5f3d779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g31be5f3d779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bf5a339b5_0_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g31bf5a339b5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19c26c5e15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319c26c5e15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g319c26c5e15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9e9d9a734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g319e9d9a734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1bf5a339b5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1bf5a339b5_0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g31bf5a339b5_0_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19e9d9a734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g319e9d9a734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1bf5a339b5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1bf5a339b5_0_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g31bf5a339b5_0_4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19e9d9a734_0_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g319e9d9a734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1bf5a339b5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1bf5a339b5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g31bf5a339b5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19e9d9a734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g319e9d9a734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1bf5a339b5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1bf5a339b5_0_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g31bf5a339b5_0_6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標題投影片" type="title">
  <p:cSld name="TITLE">
    <p:spTree>
      <p:nvGrpSpPr>
        <p:cNvPr id="1" name="Shape 18"/>
        <p:cNvGrpSpPr/>
        <p:nvPr/>
      </p:nvGrpSpPr>
      <p:grpSpPr>
        <a:xfrm>
          <a:off x="0" y="0"/>
          <a:ext cx="0" cy="0"/>
          <a:chOff x="0" y="0"/>
          <a:chExt cx="0" cy="0"/>
        </a:xfrm>
      </p:grpSpPr>
      <p:sp>
        <p:nvSpPr>
          <p:cNvPr id="19" name="Google Shape;19;p2"/>
          <p:cNvSpPr/>
          <p:nvPr/>
        </p:nvSpPr>
        <p:spPr>
          <a:xfrm>
            <a:off x="920834" y="1346946"/>
            <a:ext cx="10222992" cy="80683"/>
          </a:xfrm>
          <a:prstGeom prst="rect">
            <a:avLst/>
          </a:prstGeom>
          <a:blipFill rotWithShape="1">
            <a:blip r:embed="rId2">
              <a:alphaModFix amt="85000"/>
            </a:blip>
            <a:tile tx="0" ty="-76200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920834" y="4299696"/>
            <a:ext cx="10222992" cy="80683"/>
          </a:xfrm>
          <a:prstGeom prst="rect">
            <a:avLst/>
          </a:prstGeom>
          <a:blipFill rotWithShape="1">
            <a:blip r:embed="rId2">
              <a:alphaModFix amt="85000"/>
            </a:blip>
            <a:tile tx="0" ty="-71755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20834" y="1484779"/>
            <a:ext cx="10222992" cy="2743200"/>
          </a:xfrm>
          <a:prstGeom prst="rect">
            <a:avLst/>
          </a:prstGeom>
          <a:blipFill rotWithShape="1">
            <a:blip r:embed="rId2">
              <a:alphaModFix amt="85000"/>
            </a:blip>
            <a:tile tx="0" ty="-70485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a:off x="9649215" y="4068923"/>
            <a:ext cx="1080904" cy="1080902"/>
            <a:chOff x="9685338" y="4460675"/>
            <a:chExt cx="1080904" cy="1080902"/>
          </a:xfrm>
        </p:grpSpPr>
        <p:sp>
          <p:nvSpPr>
            <p:cNvPr id="23" name="Google Shape;23;p2"/>
            <p:cNvSpPr/>
            <p:nvPr/>
          </p:nvSpPr>
          <p:spPr>
            <a:xfrm>
              <a:off x="9685338" y="4460675"/>
              <a:ext cx="1080904" cy="1080902"/>
            </a:xfrm>
            <a:prstGeom prst="ellipse">
              <a:avLst/>
            </a:prstGeom>
            <a:blipFill rotWithShape="1">
              <a:blip r:embed="rId3">
                <a:alphaModFix/>
              </a:blip>
              <a:tile tx="0" ty="0" sx="85000" sy="8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9793429" y="4568765"/>
              <a:ext cx="864723" cy="864722"/>
            </a:xfrm>
            <a:prstGeom prst="ellipse">
              <a:avLst/>
            </a:prstGeom>
            <a:noFill/>
            <a:ln w="254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SzPts val="9600"/>
              <a:buFont typeface="Rockwell"/>
              <a:buNone/>
              <a:defRPr sz="9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2"/>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1870"/>
              <a:buNone/>
              <a:defRPr sz="2200">
                <a:solidFill>
                  <a:schemeClr val="dk1"/>
                </a:solidFill>
              </a:defRPr>
            </a:lvl1pPr>
            <a:lvl2pPr lvl="1" algn="ctr">
              <a:lnSpc>
                <a:spcPct val="90000"/>
              </a:lnSpc>
              <a:spcBef>
                <a:spcPts val="400"/>
              </a:spcBef>
              <a:spcAft>
                <a:spcPts val="0"/>
              </a:spcAft>
              <a:buSzPts val="1870"/>
              <a:buNone/>
              <a:defRPr sz="2200"/>
            </a:lvl2pPr>
            <a:lvl3pPr lvl="2" algn="ctr">
              <a:lnSpc>
                <a:spcPct val="90000"/>
              </a:lnSpc>
              <a:spcBef>
                <a:spcPts val="400"/>
              </a:spcBef>
              <a:spcAft>
                <a:spcPts val="0"/>
              </a:spcAft>
              <a:buSzPts val="1870"/>
              <a:buNone/>
              <a:defRPr sz="2200"/>
            </a:lvl3pPr>
            <a:lvl4pPr lvl="3" algn="ctr">
              <a:lnSpc>
                <a:spcPct val="90000"/>
              </a:lnSpc>
              <a:spcBef>
                <a:spcPts val="400"/>
              </a:spcBef>
              <a:spcAft>
                <a:spcPts val="0"/>
              </a:spcAft>
              <a:buSzPts val="1700"/>
              <a:buNone/>
              <a:defRPr sz="2000"/>
            </a:lvl4pPr>
            <a:lvl5pPr lvl="4" algn="ctr">
              <a:lnSpc>
                <a:spcPct val="90000"/>
              </a:lnSpc>
              <a:spcBef>
                <a:spcPts val="400"/>
              </a:spcBef>
              <a:spcAft>
                <a:spcPts val="0"/>
              </a:spcAft>
              <a:buSzPts val="1700"/>
              <a:buNone/>
              <a:defRPr sz="2000"/>
            </a:lvl5pPr>
            <a:lvl6pPr lvl="5" algn="ctr">
              <a:lnSpc>
                <a:spcPct val="90000"/>
              </a:lnSpc>
              <a:spcBef>
                <a:spcPts val="400"/>
              </a:spcBef>
              <a:spcAft>
                <a:spcPts val="0"/>
              </a:spcAft>
              <a:buSzPts val="1700"/>
              <a:buNone/>
              <a:defRPr sz="2000"/>
            </a:lvl6pPr>
            <a:lvl7pPr lvl="6" algn="ctr">
              <a:lnSpc>
                <a:spcPct val="90000"/>
              </a:lnSpc>
              <a:spcBef>
                <a:spcPts val="400"/>
              </a:spcBef>
              <a:spcAft>
                <a:spcPts val="0"/>
              </a:spcAft>
              <a:buSzPts val="1700"/>
              <a:buNone/>
              <a:defRPr sz="2000"/>
            </a:lvl7pPr>
            <a:lvl8pPr lvl="7" algn="ctr">
              <a:lnSpc>
                <a:spcPct val="90000"/>
              </a:lnSpc>
              <a:spcBef>
                <a:spcPts val="400"/>
              </a:spcBef>
              <a:spcAft>
                <a:spcPts val="0"/>
              </a:spcAft>
              <a:buSzPts val="1700"/>
              <a:buNone/>
              <a:defRPr sz="2000"/>
            </a:lvl8pPr>
            <a:lvl9pPr lvl="8" algn="ctr">
              <a:lnSpc>
                <a:spcPct val="90000"/>
              </a:lnSpc>
              <a:spcBef>
                <a:spcPts val="400"/>
              </a:spcBef>
              <a:spcAft>
                <a:spcPts val="200"/>
              </a:spcAft>
              <a:buSzPts val="1700"/>
              <a:buNone/>
              <a:defRPr sz="2000"/>
            </a:lvl9pPr>
          </a:lstStyle>
          <a:p>
            <a:endParaRPr/>
          </a:p>
        </p:txBody>
      </p:sp>
      <p:sp>
        <p:nvSpPr>
          <p:cNvPr id="27" name="Google Shape;27;p2"/>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
          <p:cNvSpPr txBox="1">
            <a:spLocks noGrp="1"/>
          </p:cNvSpPr>
          <p:nvPr>
            <p:ph type="sldNum" idx="12"/>
          </p:nvPr>
        </p:nvSpPr>
        <p:spPr>
          <a:xfrm>
            <a:off x="9592733" y="4289334"/>
            <a:ext cx="1193868" cy="64008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800" b="1" i="0" u="none" strike="noStrike" cap="none">
                <a:solidFill>
                  <a:srgbClr val="FFFFFF"/>
                </a:solidFill>
                <a:latin typeface="Rockwell"/>
                <a:ea typeface="Rockwell"/>
                <a:cs typeface="Rockwell"/>
                <a:sym typeface="Rockwell"/>
              </a:defRPr>
            </a:lvl1pPr>
            <a:lvl2pPr marL="0" lvl="1" indent="0" algn="ctr">
              <a:spcBef>
                <a:spcPts val="0"/>
              </a:spcBef>
              <a:buNone/>
              <a:defRPr sz="2800" b="1" i="0" u="none" strike="noStrike" cap="none">
                <a:solidFill>
                  <a:srgbClr val="FFFFFF"/>
                </a:solidFill>
                <a:latin typeface="Rockwell"/>
                <a:ea typeface="Rockwell"/>
                <a:cs typeface="Rockwell"/>
                <a:sym typeface="Rockwell"/>
              </a:defRPr>
            </a:lvl2pPr>
            <a:lvl3pPr marL="0" lvl="2" indent="0" algn="ctr">
              <a:spcBef>
                <a:spcPts val="0"/>
              </a:spcBef>
              <a:buNone/>
              <a:defRPr sz="2800" b="1" i="0" u="none" strike="noStrike" cap="none">
                <a:solidFill>
                  <a:srgbClr val="FFFFFF"/>
                </a:solidFill>
                <a:latin typeface="Rockwell"/>
                <a:ea typeface="Rockwell"/>
                <a:cs typeface="Rockwell"/>
                <a:sym typeface="Rockwell"/>
              </a:defRPr>
            </a:lvl3pPr>
            <a:lvl4pPr marL="0" lvl="3" indent="0" algn="ctr">
              <a:spcBef>
                <a:spcPts val="0"/>
              </a:spcBef>
              <a:buNone/>
              <a:defRPr sz="2800" b="1" i="0" u="none" strike="noStrike" cap="none">
                <a:solidFill>
                  <a:srgbClr val="FFFFFF"/>
                </a:solidFill>
                <a:latin typeface="Rockwell"/>
                <a:ea typeface="Rockwell"/>
                <a:cs typeface="Rockwell"/>
                <a:sym typeface="Rockwell"/>
              </a:defRPr>
            </a:lvl4pPr>
            <a:lvl5pPr marL="0" lvl="4" indent="0" algn="ctr">
              <a:spcBef>
                <a:spcPts val="0"/>
              </a:spcBef>
              <a:buNone/>
              <a:defRPr sz="2800" b="1" i="0" u="none" strike="noStrike" cap="none">
                <a:solidFill>
                  <a:srgbClr val="FFFFFF"/>
                </a:solidFill>
                <a:latin typeface="Rockwell"/>
                <a:ea typeface="Rockwell"/>
                <a:cs typeface="Rockwell"/>
                <a:sym typeface="Rockwell"/>
              </a:defRPr>
            </a:lvl5pPr>
            <a:lvl6pPr marL="0" lvl="5" indent="0" algn="ctr">
              <a:spcBef>
                <a:spcPts val="0"/>
              </a:spcBef>
              <a:buNone/>
              <a:defRPr sz="2800" b="1" i="0" u="none" strike="noStrike" cap="none">
                <a:solidFill>
                  <a:srgbClr val="FFFFFF"/>
                </a:solidFill>
                <a:latin typeface="Rockwell"/>
                <a:ea typeface="Rockwell"/>
                <a:cs typeface="Rockwell"/>
                <a:sym typeface="Rockwell"/>
              </a:defRPr>
            </a:lvl6pPr>
            <a:lvl7pPr marL="0" lvl="6" indent="0" algn="ctr">
              <a:spcBef>
                <a:spcPts val="0"/>
              </a:spcBef>
              <a:buNone/>
              <a:defRPr sz="2800" b="1" i="0" u="none" strike="noStrike" cap="none">
                <a:solidFill>
                  <a:srgbClr val="FFFFFF"/>
                </a:solidFill>
                <a:latin typeface="Rockwell"/>
                <a:ea typeface="Rockwell"/>
                <a:cs typeface="Rockwell"/>
                <a:sym typeface="Rockwell"/>
              </a:defRPr>
            </a:lvl7pPr>
            <a:lvl8pPr marL="0" lvl="7" indent="0" algn="ctr">
              <a:spcBef>
                <a:spcPts val="0"/>
              </a:spcBef>
              <a:buNone/>
              <a:defRPr sz="2800" b="1" i="0" u="none" strike="noStrike" cap="none">
                <a:solidFill>
                  <a:srgbClr val="FFFFFF"/>
                </a:solidFill>
                <a:latin typeface="Rockwell"/>
                <a:ea typeface="Rockwell"/>
                <a:cs typeface="Rockwell"/>
                <a:sym typeface="Rockwell"/>
              </a:defRPr>
            </a:lvl8pPr>
            <a:lvl9pPr marL="0" lvl="8" indent="0" algn="ctr">
              <a:spcBef>
                <a:spcPts val="0"/>
              </a:spcBef>
              <a:buNone/>
              <a:defRPr sz="2800" b="1" i="0" u="none" strike="noStrike" cap="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及內容" type="obj">
  <p:cSld name="OBJECT">
    <p:spTree>
      <p:nvGrpSpPr>
        <p:cNvPr id="1" name="Shape 30"/>
        <p:cNvGrpSpPr/>
        <p:nvPr/>
      </p:nvGrpSpPr>
      <p:grpSpPr>
        <a:xfrm>
          <a:off x="0" y="0"/>
          <a:ext cx="0" cy="0"/>
          <a:chOff x="0" y="0"/>
          <a:chExt cx="0" cy="0"/>
        </a:xfrm>
      </p:grpSpPr>
      <p:sp>
        <p:nvSpPr>
          <p:cNvPr id="31" name="Google Shape;31;p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3"/>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33" name="Google Shape;33;p3"/>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章節標題" type="secHead">
  <p:cSld name="SECTION_HEADER">
    <p:spTree>
      <p:nvGrpSpPr>
        <p:cNvPr id="1" name="Shape 36"/>
        <p:cNvGrpSpPr/>
        <p:nvPr/>
      </p:nvGrpSpPr>
      <p:grpSpPr>
        <a:xfrm>
          <a:off x="0" y="0"/>
          <a:ext cx="0" cy="0"/>
          <a:chOff x="0" y="0"/>
          <a:chExt cx="0" cy="0"/>
        </a:xfrm>
      </p:grpSpPr>
      <p:sp>
        <p:nvSpPr>
          <p:cNvPr id="37" name="Google Shape;37;p4"/>
          <p:cNvSpPr/>
          <p:nvPr/>
        </p:nvSpPr>
        <p:spPr>
          <a:xfrm>
            <a:off x="0" y="4917989"/>
            <a:ext cx="12192000" cy="1940010"/>
          </a:xfrm>
          <a:prstGeom prst="rect">
            <a:avLst/>
          </a:prstGeom>
          <a:blipFill rotWithShape="1">
            <a:blip r:embed="rId2">
              <a:alphaModFix amt="85000"/>
            </a:blip>
            <a:tile tx="0" ty="-70485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txBox="1">
            <a:spLocks noGrp="1"/>
          </p:cNvSpPr>
          <p:nvPr>
            <p:ph type="title"/>
          </p:nvPr>
        </p:nvSpPr>
        <p:spPr>
          <a:xfrm>
            <a:off x="2167128" y="1225296"/>
            <a:ext cx="9281160" cy="3520440"/>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SzPts val="8000"/>
              <a:buFont typeface="Rockwell"/>
              <a:buNone/>
              <a:defRPr sz="8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4"/>
          <p:cNvSpPr txBox="1">
            <a:spLocks noGrp="1"/>
          </p:cNvSpPr>
          <p:nvPr>
            <p:ph type="body" idx="1"/>
          </p:nvPr>
        </p:nvSpPr>
        <p:spPr>
          <a:xfrm>
            <a:off x="2165774" y="5020056"/>
            <a:ext cx="9052560" cy="10668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700"/>
              <a:buNone/>
              <a:defRPr sz="2000">
                <a:solidFill>
                  <a:schemeClr val="dk1"/>
                </a:solidFill>
              </a:defRPr>
            </a:lvl1pPr>
            <a:lvl2pPr marL="914400" lvl="1" indent="-228600" algn="l">
              <a:lnSpc>
                <a:spcPct val="90000"/>
              </a:lnSpc>
              <a:spcBef>
                <a:spcPts val="400"/>
              </a:spcBef>
              <a:spcAft>
                <a:spcPts val="0"/>
              </a:spcAft>
              <a:buSzPts val="1530"/>
              <a:buNone/>
              <a:defRPr sz="1800">
                <a:solidFill>
                  <a:srgbClr val="888888"/>
                </a:solidFill>
              </a:defRPr>
            </a:lvl2pPr>
            <a:lvl3pPr marL="1371600" lvl="2" indent="-228600" algn="l">
              <a:lnSpc>
                <a:spcPct val="90000"/>
              </a:lnSpc>
              <a:spcBef>
                <a:spcPts val="400"/>
              </a:spcBef>
              <a:spcAft>
                <a:spcPts val="0"/>
              </a:spcAft>
              <a:buSzPts val="1360"/>
              <a:buNone/>
              <a:defRPr sz="1600">
                <a:solidFill>
                  <a:srgbClr val="888888"/>
                </a:solidFill>
              </a:defRPr>
            </a:lvl3pPr>
            <a:lvl4pPr marL="1828800" lvl="3" indent="-228600" algn="l">
              <a:lnSpc>
                <a:spcPct val="90000"/>
              </a:lnSpc>
              <a:spcBef>
                <a:spcPts val="400"/>
              </a:spcBef>
              <a:spcAft>
                <a:spcPts val="0"/>
              </a:spcAft>
              <a:buSzPts val="1190"/>
              <a:buNone/>
              <a:defRPr sz="1400">
                <a:solidFill>
                  <a:srgbClr val="888888"/>
                </a:solidFill>
              </a:defRPr>
            </a:lvl4pPr>
            <a:lvl5pPr marL="2286000" lvl="4" indent="-228600" algn="l">
              <a:lnSpc>
                <a:spcPct val="90000"/>
              </a:lnSpc>
              <a:spcBef>
                <a:spcPts val="400"/>
              </a:spcBef>
              <a:spcAft>
                <a:spcPts val="0"/>
              </a:spcAft>
              <a:buSzPts val="1190"/>
              <a:buNone/>
              <a:defRPr sz="1400">
                <a:solidFill>
                  <a:srgbClr val="888888"/>
                </a:solidFill>
              </a:defRPr>
            </a:lvl5pPr>
            <a:lvl6pPr marL="2743200" lvl="5" indent="-228600" algn="l">
              <a:lnSpc>
                <a:spcPct val="90000"/>
              </a:lnSpc>
              <a:spcBef>
                <a:spcPts val="400"/>
              </a:spcBef>
              <a:spcAft>
                <a:spcPts val="0"/>
              </a:spcAft>
              <a:buSzPts val="1190"/>
              <a:buNone/>
              <a:defRPr sz="1400">
                <a:solidFill>
                  <a:srgbClr val="888888"/>
                </a:solidFill>
              </a:defRPr>
            </a:lvl6pPr>
            <a:lvl7pPr marL="3200400" lvl="6" indent="-228600" algn="l">
              <a:lnSpc>
                <a:spcPct val="90000"/>
              </a:lnSpc>
              <a:spcBef>
                <a:spcPts val="400"/>
              </a:spcBef>
              <a:spcAft>
                <a:spcPts val="0"/>
              </a:spcAft>
              <a:buSzPts val="1190"/>
              <a:buNone/>
              <a:defRPr sz="1400">
                <a:solidFill>
                  <a:srgbClr val="888888"/>
                </a:solidFill>
              </a:defRPr>
            </a:lvl7pPr>
            <a:lvl8pPr marL="3657600" lvl="7" indent="-228600" algn="l">
              <a:lnSpc>
                <a:spcPct val="90000"/>
              </a:lnSpc>
              <a:spcBef>
                <a:spcPts val="400"/>
              </a:spcBef>
              <a:spcAft>
                <a:spcPts val="0"/>
              </a:spcAft>
              <a:buSzPts val="1190"/>
              <a:buNone/>
              <a:defRPr sz="1400">
                <a:solidFill>
                  <a:srgbClr val="888888"/>
                </a:solidFill>
              </a:defRPr>
            </a:lvl8pPr>
            <a:lvl9pPr marL="4114800" lvl="8" indent="-228600" algn="l">
              <a:lnSpc>
                <a:spcPct val="90000"/>
              </a:lnSpc>
              <a:spcBef>
                <a:spcPts val="400"/>
              </a:spcBef>
              <a:spcAft>
                <a:spcPts val="200"/>
              </a:spcAft>
              <a:buSzPts val="1190"/>
              <a:buNone/>
              <a:defRPr sz="1400">
                <a:solidFill>
                  <a:srgbClr val="888888"/>
                </a:solidFill>
              </a:defRPr>
            </a:lvl9pPr>
          </a:lstStyle>
          <a:p>
            <a:endParaRPr/>
          </a:p>
        </p:txBody>
      </p:sp>
      <p:sp>
        <p:nvSpPr>
          <p:cNvPr id="40" name="Google Shape;40;p4"/>
          <p:cNvSpPr txBox="1">
            <a:spLocks noGrp="1"/>
          </p:cNvSpPr>
          <p:nvPr>
            <p:ph type="dt" idx="10"/>
          </p:nvPr>
        </p:nvSpPr>
        <p:spPr>
          <a:xfrm>
            <a:off x="8593667" y="6272784"/>
            <a:ext cx="264430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
          <p:cNvSpPr txBox="1">
            <a:spLocks noGrp="1"/>
          </p:cNvSpPr>
          <p:nvPr>
            <p:ph type="ftr" idx="11"/>
          </p:nvPr>
        </p:nvSpPr>
        <p:spPr>
          <a:xfrm>
            <a:off x="2182708"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42" name="Google Shape;42;p4"/>
          <p:cNvGrpSpPr/>
          <p:nvPr/>
        </p:nvGrpSpPr>
        <p:grpSpPr>
          <a:xfrm>
            <a:off x="897399" y="2325848"/>
            <a:ext cx="1080904" cy="1080902"/>
            <a:chOff x="9685338" y="4460675"/>
            <a:chExt cx="1080904" cy="1080902"/>
          </a:xfrm>
        </p:grpSpPr>
        <p:sp>
          <p:nvSpPr>
            <p:cNvPr id="43" name="Google Shape;43;p4"/>
            <p:cNvSpPr/>
            <p:nvPr/>
          </p:nvSpPr>
          <p:spPr>
            <a:xfrm>
              <a:off x="9685338" y="4460675"/>
              <a:ext cx="1080904" cy="1080902"/>
            </a:xfrm>
            <a:prstGeom prst="ellipse">
              <a:avLst/>
            </a:prstGeom>
            <a:blipFill rotWithShape="1">
              <a:blip r:embed="rId3">
                <a:alphaModFix/>
              </a:blip>
              <a:tile tx="0" ty="0" sx="85000" sy="8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9793429" y="4568765"/>
              <a:ext cx="864723" cy="864722"/>
            </a:xfrm>
            <a:prstGeom prst="ellipse">
              <a:avLst/>
            </a:prstGeom>
            <a:noFill/>
            <a:ln w="254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sldNum" idx="12"/>
          </p:nvPr>
        </p:nvSpPr>
        <p:spPr>
          <a:xfrm>
            <a:off x="843702" y="2506133"/>
            <a:ext cx="1188298" cy="72033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800" b="1" i="0" u="none" strike="noStrike" cap="none">
                <a:solidFill>
                  <a:srgbClr val="FFFFFF"/>
                </a:solidFill>
                <a:latin typeface="Rockwell"/>
                <a:ea typeface="Rockwell"/>
                <a:cs typeface="Rockwell"/>
                <a:sym typeface="Rockwell"/>
              </a:defRPr>
            </a:lvl1pPr>
            <a:lvl2pPr marL="0" lvl="1" indent="0" algn="ctr">
              <a:spcBef>
                <a:spcPts val="0"/>
              </a:spcBef>
              <a:buNone/>
              <a:defRPr sz="2800" b="1" i="0" u="none" strike="noStrike" cap="none">
                <a:solidFill>
                  <a:srgbClr val="FFFFFF"/>
                </a:solidFill>
                <a:latin typeface="Rockwell"/>
                <a:ea typeface="Rockwell"/>
                <a:cs typeface="Rockwell"/>
                <a:sym typeface="Rockwell"/>
              </a:defRPr>
            </a:lvl2pPr>
            <a:lvl3pPr marL="0" lvl="2" indent="0" algn="ctr">
              <a:spcBef>
                <a:spcPts val="0"/>
              </a:spcBef>
              <a:buNone/>
              <a:defRPr sz="2800" b="1" i="0" u="none" strike="noStrike" cap="none">
                <a:solidFill>
                  <a:srgbClr val="FFFFFF"/>
                </a:solidFill>
                <a:latin typeface="Rockwell"/>
                <a:ea typeface="Rockwell"/>
                <a:cs typeface="Rockwell"/>
                <a:sym typeface="Rockwell"/>
              </a:defRPr>
            </a:lvl3pPr>
            <a:lvl4pPr marL="0" lvl="3" indent="0" algn="ctr">
              <a:spcBef>
                <a:spcPts val="0"/>
              </a:spcBef>
              <a:buNone/>
              <a:defRPr sz="2800" b="1" i="0" u="none" strike="noStrike" cap="none">
                <a:solidFill>
                  <a:srgbClr val="FFFFFF"/>
                </a:solidFill>
                <a:latin typeface="Rockwell"/>
                <a:ea typeface="Rockwell"/>
                <a:cs typeface="Rockwell"/>
                <a:sym typeface="Rockwell"/>
              </a:defRPr>
            </a:lvl4pPr>
            <a:lvl5pPr marL="0" lvl="4" indent="0" algn="ctr">
              <a:spcBef>
                <a:spcPts val="0"/>
              </a:spcBef>
              <a:buNone/>
              <a:defRPr sz="2800" b="1" i="0" u="none" strike="noStrike" cap="none">
                <a:solidFill>
                  <a:srgbClr val="FFFFFF"/>
                </a:solidFill>
                <a:latin typeface="Rockwell"/>
                <a:ea typeface="Rockwell"/>
                <a:cs typeface="Rockwell"/>
                <a:sym typeface="Rockwell"/>
              </a:defRPr>
            </a:lvl5pPr>
            <a:lvl6pPr marL="0" lvl="5" indent="0" algn="ctr">
              <a:spcBef>
                <a:spcPts val="0"/>
              </a:spcBef>
              <a:buNone/>
              <a:defRPr sz="2800" b="1" i="0" u="none" strike="noStrike" cap="none">
                <a:solidFill>
                  <a:srgbClr val="FFFFFF"/>
                </a:solidFill>
                <a:latin typeface="Rockwell"/>
                <a:ea typeface="Rockwell"/>
                <a:cs typeface="Rockwell"/>
                <a:sym typeface="Rockwell"/>
              </a:defRPr>
            </a:lvl6pPr>
            <a:lvl7pPr marL="0" lvl="6" indent="0" algn="ctr">
              <a:spcBef>
                <a:spcPts val="0"/>
              </a:spcBef>
              <a:buNone/>
              <a:defRPr sz="2800" b="1" i="0" u="none" strike="noStrike" cap="none">
                <a:solidFill>
                  <a:srgbClr val="FFFFFF"/>
                </a:solidFill>
                <a:latin typeface="Rockwell"/>
                <a:ea typeface="Rockwell"/>
                <a:cs typeface="Rockwell"/>
                <a:sym typeface="Rockwell"/>
              </a:defRPr>
            </a:lvl7pPr>
            <a:lvl8pPr marL="0" lvl="7" indent="0" algn="ctr">
              <a:spcBef>
                <a:spcPts val="0"/>
              </a:spcBef>
              <a:buNone/>
              <a:defRPr sz="2800" b="1" i="0" u="none" strike="noStrike" cap="none">
                <a:solidFill>
                  <a:srgbClr val="FFFFFF"/>
                </a:solidFill>
                <a:latin typeface="Rockwell"/>
                <a:ea typeface="Rockwell"/>
                <a:cs typeface="Rockwell"/>
                <a:sym typeface="Rockwell"/>
              </a:defRPr>
            </a:lvl8pPr>
            <a:lvl9pPr marL="0" lvl="8" indent="0" algn="ctr">
              <a:spcBef>
                <a:spcPts val="0"/>
              </a:spcBef>
              <a:buNone/>
              <a:defRPr sz="2800" b="1" i="0" u="none" strike="noStrike" cap="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兩個內容" type="twoObj">
  <p:cSld name="TWO_OBJECTS">
    <p:spTree>
      <p:nvGrpSpPr>
        <p:cNvPr id="1" name="Shape 46"/>
        <p:cNvGrpSpPr/>
        <p:nvPr/>
      </p:nvGrpSpPr>
      <p:grpSpPr>
        <a:xfrm>
          <a:off x="0" y="0"/>
          <a:ext cx="0" cy="0"/>
          <a:chOff x="0" y="0"/>
          <a:chExt cx="0" cy="0"/>
        </a:xfrm>
      </p:grpSpPr>
      <p:sp>
        <p:nvSpPr>
          <p:cNvPr id="47" name="Google Shape;47;p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5"/>
          <p:cNvSpPr txBox="1">
            <a:spLocks noGrp="1"/>
          </p:cNvSpPr>
          <p:nvPr>
            <p:ph type="body" idx="1"/>
          </p:nvPr>
        </p:nvSpPr>
        <p:spPr>
          <a:xfrm>
            <a:off x="1069848" y="2194560"/>
            <a:ext cx="4754880" cy="39776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49" name="Google Shape;49;p5"/>
          <p:cNvSpPr txBox="1">
            <a:spLocks noGrp="1"/>
          </p:cNvSpPr>
          <p:nvPr>
            <p:ph type="body" idx="2"/>
          </p:nvPr>
        </p:nvSpPr>
        <p:spPr>
          <a:xfrm>
            <a:off x="6364224" y="2194560"/>
            <a:ext cx="4754880" cy="39776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0" name="Google Shape;50;p5"/>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5"/>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53"/>
        <p:cNvGrpSpPr/>
        <p:nvPr/>
      </p:nvGrpSpPr>
      <p:grpSpPr>
        <a:xfrm>
          <a:off x="0" y="0"/>
          <a:ext cx="0" cy="0"/>
          <a:chOff x="0" y="0"/>
          <a:chExt cx="0" cy="0"/>
        </a:xfrm>
      </p:grpSpPr>
      <p:sp>
        <p:nvSpPr>
          <p:cNvPr id="54" name="Google Shape;54;p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6"/>
          <p:cNvSpPr txBox="1">
            <a:spLocks noGrp="1"/>
          </p:cNvSpPr>
          <p:nvPr>
            <p:ph type="body" idx="1"/>
          </p:nvPr>
        </p:nvSpPr>
        <p:spPr>
          <a:xfrm>
            <a:off x="1066800" y="2048256"/>
            <a:ext cx="4754880" cy="64008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1700"/>
              <a:buNone/>
              <a:defRPr sz="2000" b="1">
                <a:solidFill>
                  <a:srgbClr val="9E3611"/>
                </a:solidFill>
              </a:defRPr>
            </a:lvl1pPr>
            <a:lvl2pPr marL="914400" lvl="1" indent="-228600" algn="l">
              <a:lnSpc>
                <a:spcPct val="90000"/>
              </a:lnSpc>
              <a:spcBef>
                <a:spcPts val="400"/>
              </a:spcBef>
              <a:spcAft>
                <a:spcPts val="0"/>
              </a:spcAft>
              <a:buSzPts val="1700"/>
              <a:buNone/>
              <a:defRPr sz="2000" b="1"/>
            </a:lvl2pPr>
            <a:lvl3pPr marL="1371600" lvl="2" indent="-228600" algn="l">
              <a:lnSpc>
                <a:spcPct val="90000"/>
              </a:lnSpc>
              <a:spcBef>
                <a:spcPts val="400"/>
              </a:spcBef>
              <a:spcAft>
                <a:spcPts val="0"/>
              </a:spcAft>
              <a:buSzPts val="1530"/>
              <a:buNone/>
              <a:defRPr sz="1800" b="1"/>
            </a:lvl3pPr>
            <a:lvl4pPr marL="1828800" lvl="3" indent="-228600" algn="l">
              <a:lnSpc>
                <a:spcPct val="90000"/>
              </a:lnSpc>
              <a:spcBef>
                <a:spcPts val="400"/>
              </a:spcBef>
              <a:spcAft>
                <a:spcPts val="0"/>
              </a:spcAft>
              <a:buSzPts val="1360"/>
              <a:buNone/>
              <a:defRPr sz="1600" b="1"/>
            </a:lvl4pPr>
            <a:lvl5pPr marL="2286000" lvl="4" indent="-228600" algn="l">
              <a:lnSpc>
                <a:spcPct val="90000"/>
              </a:lnSpc>
              <a:spcBef>
                <a:spcPts val="400"/>
              </a:spcBef>
              <a:spcAft>
                <a:spcPts val="0"/>
              </a:spcAft>
              <a:buSzPts val="1360"/>
              <a:buNone/>
              <a:defRPr sz="1600" b="1"/>
            </a:lvl5pPr>
            <a:lvl6pPr marL="2743200" lvl="5" indent="-228600" algn="l">
              <a:lnSpc>
                <a:spcPct val="90000"/>
              </a:lnSpc>
              <a:spcBef>
                <a:spcPts val="400"/>
              </a:spcBef>
              <a:spcAft>
                <a:spcPts val="0"/>
              </a:spcAft>
              <a:buSzPts val="1360"/>
              <a:buNone/>
              <a:defRPr sz="1600" b="1"/>
            </a:lvl6pPr>
            <a:lvl7pPr marL="3200400" lvl="6" indent="-228600" algn="l">
              <a:lnSpc>
                <a:spcPct val="90000"/>
              </a:lnSpc>
              <a:spcBef>
                <a:spcPts val="400"/>
              </a:spcBef>
              <a:spcAft>
                <a:spcPts val="0"/>
              </a:spcAft>
              <a:buSzPts val="1360"/>
              <a:buNone/>
              <a:defRPr sz="1600" b="1"/>
            </a:lvl7pPr>
            <a:lvl8pPr marL="3657600" lvl="7" indent="-228600" algn="l">
              <a:lnSpc>
                <a:spcPct val="90000"/>
              </a:lnSpc>
              <a:spcBef>
                <a:spcPts val="400"/>
              </a:spcBef>
              <a:spcAft>
                <a:spcPts val="0"/>
              </a:spcAft>
              <a:buSzPts val="1360"/>
              <a:buNone/>
              <a:defRPr sz="1600" b="1"/>
            </a:lvl8pPr>
            <a:lvl9pPr marL="4114800" lvl="8" indent="-228600" algn="l">
              <a:lnSpc>
                <a:spcPct val="90000"/>
              </a:lnSpc>
              <a:spcBef>
                <a:spcPts val="400"/>
              </a:spcBef>
              <a:spcAft>
                <a:spcPts val="200"/>
              </a:spcAft>
              <a:buSzPts val="1360"/>
              <a:buNone/>
              <a:defRPr sz="1600" b="1"/>
            </a:lvl9pPr>
          </a:lstStyle>
          <a:p>
            <a:endParaRPr/>
          </a:p>
        </p:txBody>
      </p:sp>
      <p:sp>
        <p:nvSpPr>
          <p:cNvPr id="56" name="Google Shape;56;p6"/>
          <p:cNvSpPr txBox="1">
            <a:spLocks noGrp="1"/>
          </p:cNvSpPr>
          <p:nvPr>
            <p:ph type="body" idx="2"/>
          </p:nvPr>
        </p:nvSpPr>
        <p:spPr>
          <a:xfrm>
            <a:off x="1069848" y="2743200"/>
            <a:ext cx="4754880" cy="32918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7" name="Google Shape;57;p6"/>
          <p:cNvSpPr txBox="1">
            <a:spLocks noGrp="1"/>
          </p:cNvSpPr>
          <p:nvPr>
            <p:ph type="body" idx="3"/>
          </p:nvPr>
        </p:nvSpPr>
        <p:spPr>
          <a:xfrm>
            <a:off x="6364224" y="2048256"/>
            <a:ext cx="4754880" cy="64008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1700"/>
              <a:buNone/>
              <a:defRPr sz="2000" b="1">
                <a:solidFill>
                  <a:srgbClr val="9E3611"/>
                </a:solidFill>
              </a:defRPr>
            </a:lvl1pPr>
            <a:lvl2pPr marL="914400" lvl="1" indent="-228600" algn="l">
              <a:lnSpc>
                <a:spcPct val="90000"/>
              </a:lnSpc>
              <a:spcBef>
                <a:spcPts val="400"/>
              </a:spcBef>
              <a:spcAft>
                <a:spcPts val="0"/>
              </a:spcAft>
              <a:buSzPts val="1700"/>
              <a:buNone/>
              <a:defRPr sz="2000" b="1"/>
            </a:lvl2pPr>
            <a:lvl3pPr marL="1371600" lvl="2" indent="-228600" algn="l">
              <a:lnSpc>
                <a:spcPct val="90000"/>
              </a:lnSpc>
              <a:spcBef>
                <a:spcPts val="400"/>
              </a:spcBef>
              <a:spcAft>
                <a:spcPts val="0"/>
              </a:spcAft>
              <a:buSzPts val="1530"/>
              <a:buNone/>
              <a:defRPr sz="1800" b="1"/>
            </a:lvl3pPr>
            <a:lvl4pPr marL="1828800" lvl="3" indent="-228600" algn="l">
              <a:lnSpc>
                <a:spcPct val="90000"/>
              </a:lnSpc>
              <a:spcBef>
                <a:spcPts val="400"/>
              </a:spcBef>
              <a:spcAft>
                <a:spcPts val="0"/>
              </a:spcAft>
              <a:buSzPts val="1360"/>
              <a:buNone/>
              <a:defRPr sz="1600" b="1"/>
            </a:lvl4pPr>
            <a:lvl5pPr marL="2286000" lvl="4" indent="-228600" algn="l">
              <a:lnSpc>
                <a:spcPct val="90000"/>
              </a:lnSpc>
              <a:spcBef>
                <a:spcPts val="400"/>
              </a:spcBef>
              <a:spcAft>
                <a:spcPts val="0"/>
              </a:spcAft>
              <a:buSzPts val="1360"/>
              <a:buNone/>
              <a:defRPr sz="1600" b="1"/>
            </a:lvl5pPr>
            <a:lvl6pPr marL="2743200" lvl="5" indent="-228600" algn="l">
              <a:lnSpc>
                <a:spcPct val="90000"/>
              </a:lnSpc>
              <a:spcBef>
                <a:spcPts val="400"/>
              </a:spcBef>
              <a:spcAft>
                <a:spcPts val="0"/>
              </a:spcAft>
              <a:buSzPts val="1360"/>
              <a:buNone/>
              <a:defRPr sz="1600" b="1"/>
            </a:lvl6pPr>
            <a:lvl7pPr marL="3200400" lvl="6" indent="-228600" algn="l">
              <a:lnSpc>
                <a:spcPct val="90000"/>
              </a:lnSpc>
              <a:spcBef>
                <a:spcPts val="400"/>
              </a:spcBef>
              <a:spcAft>
                <a:spcPts val="0"/>
              </a:spcAft>
              <a:buSzPts val="1360"/>
              <a:buNone/>
              <a:defRPr sz="1600" b="1"/>
            </a:lvl7pPr>
            <a:lvl8pPr marL="3657600" lvl="7" indent="-228600" algn="l">
              <a:lnSpc>
                <a:spcPct val="90000"/>
              </a:lnSpc>
              <a:spcBef>
                <a:spcPts val="400"/>
              </a:spcBef>
              <a:spcAft>
                <a:spcPts val="0"/>
              </a:spcAft>
              <a:buSzPts val="1360"/>
              <a:buNone/>
              <a:defRPr sz="1600" b="1"/>
            </a:lvl8pPr>
            <a:lvl9pPr marL="4114800" lvl="8" indent="-228600" algn="l">
              <a:lnSpc>
                <a:spcPct val="90000"/>
              </a:lnSpc>
              <a:spcBef>
                <a:spcPts val="400"/>
              </a:spcBef>
              <a:spcAft>
                <a:spcPts val="200"/>
              </a:spcAft>
              <a:buSzPts val="1360"/>
              <a:buNone/>
              <a:defRPr sz="1600" b="1"/>
            </a:lvl9pPr>
          </a:lstStyle>
          <a:p>
            <a:endParaRPr/>
          </a:p>
        </p:txBody>
      </p:sp>
      <p:sp>
        <p:nvSpPr>
          <p:cNvPr id="58" name="Google Shape;58;p6"/>
          <p:cNvSpPr txBox="1">
            <a:spLocks noGrp="1"/>
          </p:cNvSpPr>
          <p:nvPr>
            <p:ph type="body" idx="4"/>
          </p:nvPr>
        </p:nvSpPr>
        <p:spPr>
          <a:xfrm>
            <a:off x="6364224" y="2743200"/>
            <a:ext cx="4754880" cy="32918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9" name="Google Shape;59;p6"/>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6"/>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6"/>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62"/>
        <p:cNvGrpSpPr/>
        <p:nvPr/>
      </p:nvGrpSpPr>
      <p:grpSpPr>
        <a:xfrm>
          <a:off x="0" y="0"/>
          <a:ext cx="0" cy="0"/>
          <a:chOff x="0" y="0"/>
          <a:chExt cx="0" cy="0"/>
        </a:xfrm>
      </p:grpSpPr>
      <p:sp>
        <p:nvSpPr>
          <p:cNvPr id="63" name="Google Shape;63;p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7"/>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7"/>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67"/>
        <p:cNvGrpSpPr/>
        <p:nvPr/>
      </p:nvGrpSpPr>
      <p:grpSpPr>
        <a:xfrm>
          <a:off x="0" y="0"/>
          <a:ext cx="0" cy="0"/>
          <a:chOff x="0" y="0"/>
          <a:chExt cx="0" cy="0"/>
        </a:xfrm>
      </p:grpSpPr>
      <p:sp>
        <p:nvSpPr>
          <p:cNvPr id="68" name="Google Shape;68;p8"/>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8"/>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8"/>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含輔助字幕的內容" type="objTx">
  <p:cSld name="OBJECT_WITH_CAPTION_TEXT">
    <p:spTree>
      <p:nvGrpSpPr>
        <p:cNvPr id="1" name="Shape 71"/>
        <p:cNvGrpSpPr/>
        <p:nvPr/>
      </p:nvGrpSpPr>
      <p:grpSpPr>
        <a:xfrm>
          <a:off x="0" y="0"/>
          <a:ext cx="0" cy="0"/>
          <a:chOff x="0" y="0"/>
          <a:chExt cx="0" cy="0"/>
        </a:xfrm>
      </p:grpSpPr>
      <p:sp>
        <p:nvSpPr>
          <p:cNvPr id="72" name="Google Shape;72;p9"/>
          <p:cNvSpPr/>
          <p:nvPr/>
        </p:nvSpPr>
        <p:spPr>
          <a:xfrm>
            <a:off x="8303740" y="0"/>
            <a:ext cx="3888259" cy="6857999"/>
          </a:xfrm>
          <a:prstGeom prst="rect">
            <a:avLst/>
          </a:prstGeom>
          <a:blipFill rotWithShape="1">
            <a:blip r:embed="rId2">
              <a:alphaModFix amt="60000"/>
            </a:blip>
            <a:tile tx="0" ty="-70485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9"/>
          <p:cNvSpPr txBox="1">
            <a:spLocks noGrp="1"/>
          </p:cNvSpPr>
          <p:nvPr>
            <p:ph type="title"/>
          </p:nvPr>
        </p:nvSpPr>
        <p:spPr>
          <a:xfrm>
            <a:off x="8549640" y="685800"/>
            <a:ext cx="3200400" cy="17373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3200"/>
              <a:buFont typeface="Rockwell"/>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9"/>
          <p:cNvSpPr txBox="1">
            <a:spLocks noGrp="1"/>
          </p:cNvSpPr>
          <p:nvPr>
            <p:ph type="body" idx="1"/>
          </p:nvPr>
        </p:nvSpPr>
        <p:spPr>
          <a:xfrm>
            <a:off x="838200" y="685800"/>
            <a:ext cx="6711696" cy="5020056"/>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75" name="Google Shape;75;p9"/>
          <p:cNvSpPr txBox="1">
            <a:spLocks noGrp="1"/>
          </p:cNvSpPr>
          <p:nvPr>
            <p:ph type="body" idx="2"/>
          </p:nvPr>
        </p:nvSpPr>
        <p:spPr>
          <a:xfrm>
            <a:off x="8549640" y="2423160"/>
            <a:ext cx="3200400" cy="329184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190"/>
              <a:buNone/>
              <a:defRPr sz="1400">
                <a:solidFill>
                  <a:srgbClr val="9E3611"/>
                </a:solidFill>
              </a:defRPr>
            </a:lvl1pPr>
            <a:lvl2pPr marL="914400" lvl="1" indent="-228600" algn="l">
              <a:lnSpc>
                <a:spcPct val="90000"/>
              </a:lnSpc>
              <a:spcBef>
                <a:spcPts val="400"/>
              </a:spcBef>
              <a:spcAft>
                <a:spcPts val="0"/>
              </a:spcAft>
              <a:buSzPts val="1020"/>
              <a:buNone/>
              <a:defRPr sz="1200"/>
            </a:lvl2pPr>
            <a:lvl3pPr marL="1371600" lvl="2" indent="-228600" algn="l">
              <a:lnSpc>
                <a:spcPct val="90000"/>
              </a:lnSpc>
              <a:spcBef>
                <a:spcPts val="400"/>
              </a:spcBef>
              <a:spcAft>
                <a:spcPts val="0"/>
              </a:spcAft>
              <a:buSzPts val="850"/>
              <a:buNone/>
              <a:defRPr sz="1000"/>
            </a:lvl3pPr>
            <a:lvl4pPr marL="1828800" lvl="3" indent="-228600" algn="l">
              <a:lnSpc>
                <a:spcPct val="90000"/>
              </a:lnSpc>
              <a:spcBef>
                <a:spcPts val="400"/>
              </a:spcBef>
              <a:spcAft>
                <a:spcPts val="0"/>
              </a:spcAft>
              <a:buSzPts val="765"/>
              <a:buNone/>
              <a:defRPr sz="900"/>
            </a:lvl4pPr>
            <a:lvl5pPr marL="2286000" lvl="4" indent="-228600" algn="l">
              <a:lnSpc>
                <a:spcPct val="90000"/>
              </a:lnSpc>
              <a:spcBef>
                <a:spcPts val="400"/>
              </a:spcBef>
              <a:spcAft>
                <a:spcPts val="0"/>
              </a:spcAft>
              <a:buSzPts val="765"/>
              <a:buNone/>
              <a:defRPr sz="900"/>
            </a:lvl5pPr>
            <a:lvl6pPr marL="2743200" lvl="5" indent="-228600" algn="l">
              <a:lnSpc>
                <a:spcPct val="90000"/>
              </a:lnSpc>
              <a:spcBef>
                <a:spcPts val="400"/>
              </a:spcBef>
              <a:spcAft>
                <a:spcPts val="0"/>
              </a:spcAft>
              <a:buSzPts val="765"/>
              <a:buNone/>
              <a:defRPr sz="900"/>
            </a:lvl6pPr>
            <a:lvl7pPr marL="3200400" lvl="6" indent="-228600" algn="l">
              <a:lnSpc>
                <a:spcPct val="90000"/>
              </a:lnSpc>
              <a:spcBef>
                <a:spcPts val="400"/>
              </a:spcBef>
              <a:spcAft>
                <a:spcPts val="0"/>
              </a:spcAft>
              <a:buSzPts val="765"/>
              <a:buNone/>
              <a:defRPr sz="900"/>
            </a:lvl7pPr>
            <a:lvl8pPr marL="3657600" lvl="7" indent="-228600" algn="l">
              <a:lnSpc>
                <a:spcPct val="90000"/>
              </a:lnSpc>
              <a:spcBef>
                <a:spcPts val="400"/>
              </a:spcBef>
              <a:spcAft>
                <a:spcPts val="0"/>
              </a:spcAft>
              <a:buSzPts val="765"/>
              <a:buNone/>
              <a:defRPr sz="900"/>
            </a:lvl8pPr>
            <a:lvl9pPr marL="4114800" lvl="8" indent="-228600" algn="l">
              <a:lnSpc>
                <a:spcPct val="90000"/>
              </a:lnSpc>
              <a:spcBef>
                <a:spcPts val="400"/>
              </a:spcBef>
              <a:spcAft>
                <a:spcPts val="200"/>
              </a:spcAft>
              <a:buSzPts val="765"/>
              <a:buNone/>
              <a:defRPr sz="900"/>
            </a:lvl9pPr>
          </a:lstStyle>
          <a:p>
            <a:endParaRPr/>
          </a:p>
        </p:txBody>
      </p:sp>
      <p:sp>
        <p:nvSpPr>
          <p:cNvPr id="76" name="Google Shape;76;p9"/>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9"/>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78" name="Google Shape;78;p9"/>
          <p:cNvGrpSpPr/>
          <p:nvPr/>
        </p:nvGrpSpPr>
        <p:grpSpPr>
          <a:xfrm>
            <a:off x="11401725" y="6229681"/>
            <a:ext cx="457200" cy="457200"/>
            <a:chOff x="11361456" y="6195813"/>
            <a:chExt cx="548640" cy="548640"/>
          </a:xfrm>
        </p:grpSpPr>
        <p:sp>
          <p:nvSpPr>
            <p:cNvPr id="79" name="Google Shape;79;p9"/>
            <p:cNvSpPr/>
            <p:nvPr/>
          </p:nvSpPr>
          <p:spPr>
            <a:xfrm>
              <a:off x="11361456" y="6195813"/>
              <a:ext cx="548640" cy="548640"/>
            </a:xfrm>
            <a:prstGeom prst="ellipse">
              <a:avLst/>
            </a:prstGeom>
            <a:blipFill rotWithShape="1">
              <a:blip r:embed="rId3">
                <a:alphaModFix/>
              </a:blip>
              <a:tile tx="50800" ty="0" sx="85000" sy="8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9"/>
            <p:cNvSpPr/>
            <p:nvPr/>
          </p:nvSpPr>
          <p:spPr>
            <a:xfrm>
              <a:off x="11396488" y="6230844"/>
              <a:ext cx="478576" cy="478578"/>
            </a:xfrm>
            <a:prstGeom prst="ellipse">
              <a:avLst/>
            </a:prstGeom>
            <a:no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9"/>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含輔助字幕的圖片" type="picTx">
  <p:cSld name="PICTURE_WITH_CAPTION_TEXT">
    <p:spTree>
      <p:nvGrpSpPr>
        <p:cNvPr id="1" name="Shape 82"/>
        <p:cNvGrpSpPr/>
        <p:nvPr/>
      </p:nvGrpSpPr>
      <p:grpSpPr>
        <a:xfrm>
          <a:off x="0" y="0"/>
          <a:ext cx="0" cy="0"/>
          <a:chOff x="0" y="0"/>
          <a:chExt cx="0" cy="0"/>
        </a:xfrm>
      </p:grpSpPr>
      <p:sp>
        <p:nvSpPr>
          <p:cNvPr id="83" name="Google Shape;83;p10"/>
          <p:cNvSpPr/>
          <p:nvPr/>
        </p:nvSpPr>
        <p:spPr>
          <a:xfrm>
            <a:off x="8303740" y="0"/>
            <a:ext cx="3888259" cy="6857999"/>
          </a:xfrm>
          <a:prstGeom prst="rect">
            <a:avLst/>
          </a:prstGeom>
          <a:blipFill rotWithShape="1">
            <a:blip r:embed="rId2">
              <a:alphaModFix amt="60000"/>
            </a:blip>
            <a:tile tx="0" ty="-70485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0"/>
          <p:cNvSpPr txBox="1">
            <a:spLocks noGrp="1"/>
          </p:cNvSpPr>
          <p:nvPr>
            <p:ph type="title"/>
          </p:nvPr>
        </p:nvSpPr>
        <p:spPr>
          <a:xfrm>
            <a:off x="8549640" y="685800"/>
            <a:ext cx="3200400" cy="17373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3200"/>
              <a:buFont typeface="Rockwell"/>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0"/>
          <p:cNvSpPr>
            <a:spLocks noGrp="1"/>
          </p:cNvSpPr>
          <p:nvPr>
            <p:ph type="pic" idx="2"/>
          </p:nvPr>
        </p:nvSpPr>
        <p:spPr>
          <a:xfrm>
            <a:off x="0" y="0"/>
            <a:ext cx="8303740" cy="6858000"/>
          </a:xfrm>
          <a:prstGeom prst="rect">
            <a:avLst/>
          </a:prstGeom>
          <a:solidFill>
            <a:srgbClr val="E1DFDF"/>
          </a:solidFill>
          <a:ln>
            <a:noFill/>
          </a:ln>
        </p:spPr>
      </p:sp>
      <p:sp>
        <p:nvSpPr>
          <p:cNvPr id="86" name="Google Shape;86;p10"/>
          <p:cNvSpPr txBox="1">
            <a:spLocks noGrp="1"/>
          </p:cNvSpPr>
          <p:nvPr>
            <p:ph type="body" idx="1"/>
          </p:nvPr>
        </p:nvSpPr>
        <p:spPr>
          <a:xfrm>
            <a:off x="8549640" y="2423160"/>
            <a:ext cx="3200400" cy="329184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190"/>
              <a:buNone/>
              <a:defRPr sz="1400">
                <a:solidFill>
                  <a:srgbClr val="9E3611"/>
                </a:solidFill>
              </a:defRPr>
            </a:lvl1pPr>
            <a:lvl2pPr marL="914400" lvl="1" indent="-228600" algn="l">
              <a:lnSpc>
                <a:spcPct val="90000"/>
              </a:lnSpc>
              <a:spcBef>
                <a:spcPts val="400"/>
              </a:spcBef>
              <a:spcAft>
                <a:spcPts val="0"/>
              </a:spcAft>
              <a:buSzPts val="1020"/>
              <a:buNone/>
              <a:defRPr sz="1200"/>
            </a:lvl2pPr>
            <a:lvl3pPr marL="1371600" lvl="2" indent="-228600" algn="l">
              <a:lnSpc>
                <a:spcPct val="90000"/>
              </a:lnSpc>
              <a:spcBef>
                <a:spcPts val="400"/>
              </a:spcBef>
              <a:spcAft>
                <a:spcPts val="0"/>
              </a:spcAft>
              <a:buSzPts val="850"/>
              <a:buNone/>
              <a:defRPr sz="1000"/>
            </a:lvl3pPr>
            <a:lvl4pPr marL="1828800" lvl="3" indent="-228600" algn="l">
              <a:lnSpc>
                <a:spcPct val="90000"/>
              </a:lnSpc>
              <a:spcBef>
                <a:spcPts val="400"/>
              </a:spcBef>
              <a:spcAft>
                <a:spcPts val="0"/>
              </a:spcAft>
              <a:buSzPts val="765"/>
              <a:buNone/>
              <a:defRPr sz="900"/>
            </a:lvl4pPr>
            <a:lvl5pPr marL="2286000" lvl="4" indent="-228600" algn="l">
              <a:lnSpc>
                <a:spcPct val="90000"/>
              </a:lnSpc>
              <a:spcBef>
                <a:spcPts val="400"/>
              </a:spcBef>
              <a:spcAft>
                <a:spcPts val="0"/>
              </a:spcAft>
              <a:buSzPts val="765"/>
              <a:buNone/>
              <a:defRPr sz="900"/>
            </a:lvl5pPr>
            <a:lvl6pPr marL="2743200" lvl="5" indent="-228600" algn="l">
              <a:lnSpc>
                <a:spcPct val="90000"/>
              </a:lnSpc>
              <a:spcBef>
                <a:spcPts val="400"/>
              </a:spcBef>
              <a:spcAft>
                <a:spcPts val="0"/>
              </a:spcAft>
              <a:buSzPts val="765"/>
              <a:buNone/>
              <a:defRPr sz="900"/>
            </a:lvl6pPr>
            <a:lvl7pPr marL="3200400" lvl="6" indent="-228600" algn="l">
              <a:lnSpc>
                <a:spcPct val="90000"/>
              </a:lnSpc>
              <a:spcBef>
                <a:spcPts val="400"/>
              </a:spcBef>
              <a:spcAft>
                <a:spcPts val="0"/>
              </a:spcAft>
              <a:buSzPts val="765"/>
              <a:buNone/>
              <a:defRPr sz="900"/>
            </a:lvl7pPr>
            <a:lvl8pPr marL="3657600" lvl="7" indent="-228600" algn="l">
              <a:lnSpc>
                <a:spcPct val="90000"/>
              </a:lnSpc>
              <a:spcBef>
                <a:spcPts val="400"/>
              </a:spcBef>
              <a:spcAft>
                <a:spcPts val="0"/>
              </a:spcAft>
              <a:buSzPts val="765"/>
              <a:buNone/>
              <a:defRPr sz="900"/>
            </a:lvl8pPr>
            <a:lvl9pPr marL="4114800" lvl="8" indent="-228600" algn="l">
              <a:lnSpc>
                <a:spcPct val="90000"/>
              </a:lnSpc>
              <a:spcBef>
                <a:spcPts val="400"/>
              </a:spcBef>
              <a:spcAft>
                <a:spcPts val="200"/>
              </a:spcAft>
              <a:buSzPts val="765"/>
              <a:buNone/>
              <a:defRPr sz="900"/>
            </a:lvl9pPr>
          </a:lstStyle>
          <a:p>
            <a:endParaRPr/>
          </a:p>
        </p:txBody>
      </p:sp>
      <p:sp>
        <p:nvSpPr>
          <p:cNvPr id="87" name="Google Shape;87;p10"/>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88" name="Google Shape;88;p10"/>
          <p:cNvGrpSpPr/>
          <p:nvPr/>
        </p:nvGrpSpPr>
        <p:grpSpPr>
          <a:xfrm>
            <a:off x="11401725" y="6229681"/>
            <a:ext cx="457200" cy="457200"/>
            <a:chOff x="11361456" y="6195813"/>
            <a:chExt cx="548640" cy="548640"/>
          </a:xfrm>
        </p:grpSpPr>
        <p:sp>
          <p:nvSpPr>
            <p:cNvPr id="89" name="Google Shape;89;p10"/>
            <p:cNvSpPr/>
            <p:nvPr/>
          </p:nvSpPr>
          <p:spPr>
            <a:xfrm>
              <a:off x="11361456" y="6195813"/>
              <a:ext cx="548640" cy="548640"/>
            </a:xfrm>
            <a:prstGeom prst="ellipse">
              <a:avLst/>
            </a:prstGeom>
            <a:blipFill rotWithShape="1">
              <a:blip r:embed="rId3">
                <a:alphaModFix/>
              </a:blip>
              <a:tile tx="50800" ty="0" sx="85000" sy="8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0"/>
            <p:cNvSpPr/>
            <p:nvPr/>
          </p:nvSpPr>
          <p:spPr>
            <a:xfrm>
              <a:off x="11396488" y="6230844"/>
              <a:ext cx="478576" cy="478578"/>
            </a:xfrm>
            <a:prstGeom prst="ellipse">
              <a:avLst/>
            </a:prstGeom>
            <a:no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Google Shape;91;p10"/>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92"/>
        <p:cNvGrpSpPr/>
        <p:nvPr/>
      </p:nvGrpSpPr>
      <p:grpSpPr>
        <a:xfrm>
          <a:off x="0" y="0"/>
          <a:ext cx="0" cy="0"/>
          <a:chOff x="0" y="0"/>
          <a:chExt cx="0" cy="0"/>
        </a:xfrm>
      </p:grpSpPr>
      <p:sp>
        <p:nvSpPr>
          <p:cNvPr id="93" name="Google Shape;93;p1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1"/>
          <p:cNvSpPr txBox="1">
            <a:spLocks noGrp="1"/>
          </p:cNvSpPr>
          <p:nvPr>
            <p:ph type="body" idx="1"/>
          </p:nvPr>
        </p:nvSpPr>
        <p:spPr>
          <a:xfrm rot="5400000">
            <a:off x="4073652" y="-882396"/>
            <a:ext cx="4050792" cy="10058400"/>
          </a:xfrm>
          <a:prstGeom prst="rect">
            <a:avLst/>
          </a:prstGeom>
          <a:noFill/>
          <a:ln>
            <a:noFill/>
          </a:ln>
        </p:spPr>
        <p:txBody>
          <a:bodyPr spcFirstLastPara="1" wrap="square" lIns="91425" tIns="45700" rIns="91425" bIns="45700" anchor="t" anchorCtr="0">
            <a:norm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95" name="Google Shape;95;p11"/>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1"/>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1"/>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直排標題及文字" type="vertTitleAndTx">
  <p:cSld name="VERTICAL_TITLE_AND_VERTICAL_TEXT">
    <p:spTree>
      <p:nvGrpSpPr>
        <p:cNvPr id="1" name="Shape 98"/>
        <p:cNvGrpSpPr/>
        <p:nvPr/>
      </p:nvGrpSpPr>
      <p:grpSpPr>
        <a:xfrm>
          <a:off x="0" y="0"/>
          <a:ext cx="0" cy="0"/>
          <a:chOff x="0" y="0"/>
          <a:chExt cx="0" cy="0"/>
        </a:xfrm>
      </p:grpSpPr>
      <p:sp>
        <p:nvSpPr>
          <p:cNvPr id="99" name="Google Shape;99;p12"/>
          <p:cNvSpPr txBox="1">
            <a:spLocks noGrp="1"/>
          </p:cNvSpPr>
          <p:nvPr>
            <p:ph type="title"/>
          </p:nvPr>
        </p:nvSpPr>
        <p:spPr>
          <a:xfrm rot="5400000">
            <a:off x="7181850" y="2076450"/>
            <a:ext cx="5638800" cy="2552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12"/>
          <p:cNvSpPr txBox="1">
            <a:spLocks noGrp="1"/>
          </p:cNvSpPr>
          <p:nvPr>
            <p:ph type="body" idx="1"/>
          </p:nvPr>
        </p:nvSpPr>
        <p:spPr>
          <a:xfrm rot="5400000">
            <a:off x="2000250" y="-400050"/>
            <a:ext cx="5638800" cy="7505700"/>
          </a:xfrm>
          <a:prstGeom prst="rect">
            <a:avLst/>
          </a:prstGeom>
          <a:noFill/>
          <a:ln>
            <a:noFill/>
          </a:ln>
        </p:spPr>
        <p:txBody>
          <a:bodyPr spcFirstLastPara="1" wrap="square" lIns="91425" tIns="45700" rIns="91425" bIns="45700" anchor="t" anchorCtr="0">
            <a:norm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101" name="Google Shape;101;p12"/>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2"/>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2"/>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5400"/>
              <a:buFont typeface="Rockwell"/>
              <a:buNone/>
              <a:defRPr sz="5400" b="0" i="0" u="none" strike="noStrike" cap="none">
                <a:latin typeface="Rockwell"/>
                <a:ea typeface="Rockwell"/>
                <a:cs typeface="Rockwell"/>
                <a:sym typeface="Rockwe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lvl1pPr marL="457200" marR="0" lvl="0" indent="-336550" algn="l" rtl="0">
              <a:lnSpc>
                <a:spcPct val="90000"/>
              </a:lnSpc>
              <a:spcBef>
                <a:spcPts val="1200"/>
              </a:spcBef>
              <a:spcAft>
                <a:spcPts val="0"/>
              </a:spcAft>
              <a:buClr>
                <a:srgbClr val="9E3611"/>
              </a:buClr>
              <a:buSzPts val="1700"/>
              <a:buFont typeface="Noto Sans Symbols"/>
              <a:buChar char="▪"/>
              <a:defRPr sz="2000" b="0" i="0" u="none" strike="noStrike" cap="none">
                <a:solidFill>
                  <a:schemeClr val="dk1"/>
                </a:solidFill>
                <a:latin typeface="Rockwell"/>
                <a:ea typeface="Rockwell"/>
                <a:cs typeface="Rockwell"/>
                <a:sym typeface="Rockwell"/>
              </a:defRPr>
            </a:lvl1pPr>
            <a:lvl2pPr marL="914400" marR="0" lvl="1" indent="-325755" algn="l" rtl="0">
              <a:lnSpc>
                <a:spcPct val="90000"/>
              </a:lnSpc>
              <a:spcBef>
                <a:spcPts val="400"/>
              </a:spcBef>
              <a:spcAft>
                <a:spcPts val="0"/>
              </a:spcAft>
              <a:buClr>
                <a:srgbClr val="9E3611"/>
              </a:buClr>
              <a:buSzPts val="1530"/>
              <a:buFont typeface="Noto Sans Symbols"/>
              <a:buChar char="▪"/>
              <a:defRPr sz="1800" b="0" i="0" u="none" strike="noStrike" cap="none">
                <a:solidFill>
                  <a:schemeClr val="dk1"/>
                </a:solidFill>
                <a:latin typeface="Rockwell"/>
                <a:ea typeface="Rockwell"/>
                <a:cs typeface="Rockwell"/>
                <a:sym typeface="Rockwell"/>
              </a:defRPr>
            </a:lvl2pPr>
            <a:lvl3pPr marL="1371600" marR="0" lvl="2"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3pPr>
            <a:lvl4pPr marL="1828800" marR="0" lvl="3"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4pPr>
            <a:lvl5pPr marL="2286000" marR="0" lvl="4"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5pPr>
            <a:lvl6pPr marL="2743200" marR="0" lvl="5"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6pPr>
            <a:lvl7pPr marL="3200400" marR="0" lvl="6"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7pPr>
            <a:lvl8pPr marL="3657600" marR="0" lvl="7" indent="-314959"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8pPr>
            <a:lvl9pPr marL="4114800" marR="0" lvl="8" indent="-314959" algn="l" rtl="0">
              <a:lnSpc>
                <a:spcPct val="90000"/>
              </a:lnSpc>
              <a:spcBef>
                <a:spcPts val="400"/>
              </a:spcBef>
              <a:spcAft>
                <a:spcPts val="20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9pPr>
          </a:lstStyle>
          <a:p>
            <a:endParaRPr/>
          </a:p>
        </p:txBody>
      </p:sp>
      <p:sp>
        <p:nvSpPr>
          <p:cNvPr id="12" name="Google Shape;12;p1"/>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100" b="0" i="0" u="none" strike="noStrike" cap="none">
                <a:solidFill>
                  <a:schemeClr val="dk2"/>
                </a:solidFill>
                <a:latin typeface="Rockwell"/>
                <a:ea typeface="Rockwell"/>
                <a:cs typeface="Rockwell"/>
                <a:sym typeface="Rockwell"/>
              </a:defRPr>
            </a:lvl1pPr>
            <a:lvl2pPr marR="0" lvl="1"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2pPr>
            <a:lvl3pPr marR="0" lvl="2"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3pPr>
            <a:lvl4pPr marR="0" lvl="3"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4pPr>
            <a:lvl5pPr marR="0" lvl="4"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5pPr>
            <a:lvl6pPr marR="0" lvl="5"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6pPr>
            <a:lvl7pPr marR="0" lvl="6"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7pPr>
            <a:lvl8pPr marR="0" lvl="7"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8pPr>
            <a:lvl9pPr marR="0" lvl="8"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9pPr>
          </a:lstStyle>
          <a:p>
            <a:endParaRPr/>
          </a:p>
        </p:txBody>
      </p:sp>
      <p:sp>
        <p:nvSpPr>
          <p:cNvPr id="13" name="Google Shape;13;p1"/>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100" b="0" i="0" u="none" strike="noStrike" cap="none">
                <a:solidFill>
                  <a:schemeClr val="dk2"/>
                </a:solidFill>
                <a:latin typeface="Rockwell"/>
                <a:ea typeface="Rockwell"/>
                <a:cs typeface="Rockwell"/>
                <a:sym typeface="Rockwell"/>
              </a:defRPr>
            </a:lvl1pPr>
            <a:lvl2pPr marR="0" lvl="1"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2pPr>
            <a:lvl3pPr marR="0" lvl="2"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3pPr>
            <a:lvl4pPr marR="0" lvl="3"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4pPr>
            <a:lvl5pPr marR="0" lvl="4"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5pPr>
            <a:lvl6pPr marR="0" lvl="5"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6pPr>
            <a:lvl7pPr marR="0" lvl="6"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7pPr>
            <a:lvl8pPr marR="0" lvl="7"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8pPr>
            <a:lvl9pPr marR="0" lvl="8"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9pPr>
          </a:lstStyle>
          <a:p>
            <a:endParaRPr/>
          </a:p>
        </p:txBody>
      </p:sp>
      <p:grpSp>
        <p:nvGrpSpPr>
          <p:cNvPr id="14" name="Google Shape;14;p1"/>
          <p:cNvGrpSpPr/>
          <p:nvPr/>
        </p:nvGrpSpPr>
        <p:grpSpPr>
          <a:xfrm>
            <a:off x="11401725" y="6229681"/>
            <a:ext cx="457200" cy="457200"/>
            <a:chOff x="11361456" y="6195813"/>
            <a:chExt cx="548640" cy="548640"/>
          </a:xfrm>
        </p:grpSpPr>
        <p:sp>
          <p:nvSpPr>
            <p:cNvPr id="15" name="Google Shape;15;p1"/>
            <p:cNvSpPr/>
            <p:nvPr/>
          </p:nvSpPr>
          <p:spPr>
            <a:xfrm>
              <a:off x="11361456" y="6195813"/>
              <a:ext cx="548640" cy="548640"/>
            </a:xfrm>
            <a:prstGeom prst="ellipse">
              <a:avLst/>
            </a:prstGeom>
            <a:blipFill rotWithShape="1">
              <a:blip r:embed="rId13">
                <a:alphaModFix/>
              </a:blip>
              <a:tile tx="50800" ty="0" sx="85000" sy="8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p:nvPr/>
          </p:nvSpPr>
          <p:spPr>
            <a:xfrm>
              <a:off x="11396488" y="6230844"/>
              <a:ext cx="478576" cy="478578"/>
            </a:xfrm>
            <a:prstGeom prst="ellipse">
              <a:avLst/>
            </a:prstGeom>
            <a:no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1"/>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400" b="1" i="0" u="none" strike="noStrike" cap="none">
                <a:solidFill>
                  <a:srgbClr val="FFFFFF"/>
                </a:solidFill>
                <a:latin typeface="Rockwell"/>
                <a:ea typeface="Rockwell"/>
                <a:cs typeface="Rockwell"/>
                <a:sym typeface="Rockwell"/>
              </a:defRPr>
            </a:lvl1pPr>
            <a:lvl2pPr marL="0" marR="0" lvl="1" indent="0" algn="ctr" rtl="0">
              <a:spcBef>
                <a:spcPts val="0"/>
              </a:spcBef>
              <a:buNone/>
              <a:defRPr sz="1400" b="1" i="0" u="none" strike="noStrike" cap="none">
                <a:solidFill>
                  <a:srgbClr val="FFFFFF"/>
                </a:solidFill>
                <a:latin typeface="Rockwell"/>
                <a:ea typeface="Rockwell"/>
                <a:cs typeface="Rockwell"/>
                <a:sym typeface="Rockwell"/>
              </a:defRPr>
            </a:lvl2pPr>
            <a:lvl3pPr marL="0" marR="0" lvl="2" indent="0" algn="ctr" rtl="0">
              <a:spcBef>
                <a:spcPts val="0"/>
              </a:spcBef>
              <a:buNone/>
              <a:defRPr sz="1400" b="1" i="0" u="none" strike="noStrike" cap="none">
                <a:solidFill>
                  <a:srgbClr val="FFFFFF"/>
                </a:solidFill>
                <a:latin typeface="Rockwell"/>
                <a:ea typeface="Rockwell"/>
                <a:cs typeface="Rockwell"/>
                <a:sym typeface="Rockwell"/>
              </a:defRPr>
            </a:lvl3pPr>
            <a:lvl4pPr marL="0" marR="0" lvl="3" indent="0" algn="ctr" rtl="0">
              <a:spcBef>
                <a:spcPts val="0"/>
              </a:spcBef>
              <a:buNone/>
              <a:defRPr sz="1400" b="1" i="0" u="none" strike="noStrike" cap="none">
                <a:solidFill>
                  <a:srgbClr val="FFFFFF"/>
                </a:solidFill>
                <a:latin typeface="Rockwell"/>
                <a:ea typeface="Rockwell"/>
                <a:cs typeface="Rockwell"/>
                <a:sym typeface="Rockwell"/>
              </a:defRPr>
            </a:lvl4pPr>
            <a:lvl5pPr marL="0" marR="0" lvl="4" indent="0" algn="ctr" rtl="0">
              <a:spcBef>
                <a:spcPts val="0"/>
              </a:spcBef>
              <a:buNone/>
              <a:defRPr sz="1400" b="1" i="0" u="none" strike="noStrike" cap="none">
                <a:solidFill>
                  <a:srgbClr val="FFFFFF"/>
                </a:solidFill>
                <a:latin typeface="Rockwell"/>
                <a:ea typeface="Rockwell"/>
                <a:cs typeface="Rockwell"/>
                <a:sym typeface="Rockwell"/>
              </a:defRPr>
            </a:lvl5pPr>
            <a:lvl6pPr marL="0" marR="0" lvl="5" indent="0" algn="ctr" rtl="0">
              <a:spcBef>
                <a:spcPts val="0"/>
              </a:spcBef>
              <a:buNone/>
              <a:defRPr sz="1400" b="1" i="0" u="none" strike="noStrike" cap="none">
                <a:solidFill>
                  <a:srgbClr val="FFFFFF"/>
                </a:solidFill>
                <a:latin typeface="Rockwell"/>
                <a:ea typeface="Rockwell"/>
                <a:cs typeface="Rockwell"/>
                <a:sym typeface="Rockwell"/>
              </a:defRPr>
            </a:lvl6pPr>
            <a:lvl7pPr marL="0" marR="0" lvl="6" indent="0" algn="ctr" rtl="0">
              <a:spcBef>
                <a:spcPts val="0"/>
              </a:spcBef>
              <a:buNone/>
              <a:defRPr sz="1400" b="1" i="0" u="none" strike="noStrike" cap="none">
                <a:solidFill>
                  <a:srgbClr val="FFFFFF"/>
                </a:solidFill>
                <a:latin typeface="Rockwell"/>
                <a:ea typeface="Rockwell"/>
                <a:cs typeface="Rockwell"/>
                <a:sym typeface="Rockwell"/>
              </a:defRPr>
            </a:lvl7pPr>
            <a:lvl8pPr marL="0" marR="0" lvl="7" indent="0" algn="ctr" rtl="0">
              <a:spcBef>
                <a:spcPts val="0"/>
              </a:spcBef>
              <a:buNone/>
              <a:defRPr sz="1400" b="1" i="0" u="none" strike="noStrike" cap="none">
                <a:solidFill>
                  <a:srgbClr val="FFFFFF"/>
                </a:solidFill>
                <a:latin typeface="Rockwell"/>
                <a:ea typeface="Rockwell"/>
                <a:cs typeface="Rockwell"/>
                <a:sym typeface="Rockwell"/>
              </a:defRPr>
            </a:lvl8pPr>
            <a:lvl9pPr marL="0" marR="0" lvl="8" indent="0" algn="ctr" rtl="0">
              <a:spcBef>
                <a:spcPts val="0"/>
              </a:spcBef>
              <a:buNone/>
              <a:defRPr sz="1400" b="1" i="0" u="none" strike="noStrike" cap="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kaggle.com/code/addisonhoward/lmsys-kerasnlp-starter"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hyperlink" Target="https://huggingface.co/huawei-noah/TinyBERT_General_4L_312D" TargetMode="External"/><Relationship Id="rId4" Type="http://schemas.openxmlformats.org/officeDocument/2006/relationships/hyperlink" Target="https://www.kaggle.com/code/salmarashwan/predicting-chatbot-response-preferences-with-llms" TargetMode="External"/></Relationships>
</file>

<file path=ppt/slides/_rels/slide26.xml.rels><?xml version="1.0" encoding="UTF-8" standalone="yes"?>
<Relationships xmlns="http://schemas.openxmlformats.org/package/2006/relationships"><Relationship Id="rId2" Type="http://schemas.openxmlformats.org/officeDocument/2006/relationships/hyperlink" Target="https://youtu.be/B9_mr-H1Hb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3"/>
          <p:cNvSpPr txBox="1">
            <a:spLocks noGrp="1"/>
          </p:cNvSpPr>
          <p:nvPr>
            <p:ph type="ctrTitle"/>
          </p:nvPr>
        </p:nvSpPr>
        <p:spPr>
          <a:xfrm>
            <a:off x="748703" y="1122363"/>
            <a:ext cx="10690502" cy="238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80000"/>
              </a:lnSpc>
              <a:spcBef>
                <a:spcPts val="0"/>
              </a:spcBef>
              <a:spcAft>
                <a:spcPts val="0"/>
              </a:spcAft>
              <a:buClr>
                <a:srgbClr val="202124"/>
              </a:buClr>
              <a:buSzPct val="100000"/>
              <a:buFont typeface="Times New Roman"/>
              <a:buNone/>
            </a:pPr>
            <a:r>
              <a:rPr lang="en-US" b="1" i="0">
                <a:solidFill>
                  <a:srgbClr val="202124"/>
                </a:solidFill>
                <a:latin typeface="Times New Roman"/>
                <a:ea typeface="Times New Roman"/>
                <a:cs typeface="Times New Roman"/>
                <a:sym typeface="Times New Roman"/>
              </a:rPr>
              <a:t>LLM </a:t>
            </a:r>
            <a:endParaRPr b="1" i="0">
              <a:solidFill>
                <a:srgbClr val="202124"/>
              </a:solidFill>
              <a:latin typeface="Times New Roman"/>
              <a:ea typeface="Times New Roman"/>
              <a:cs typeface="Times New Roman"/>
              <a:sym typeface="Times New Roman"/>
            </a:endParaRPr>
          </a:p>
          <a:p>
            <a:pPr marL="0" lvl="0" indent="0" algn="l" rtl="0">
              <a:lnSpc>
                <a:spcPct val="80000"/>
              </a:lnSpc>
              <a:spcBef>
                <a:spcPts val="0"/>
              </a:spcBef>
              <a:spcAft>
                <a:spcPts val="0"/>
              </a:spcAft>
              <a:buClr>
                <a:srgbClr val="202124"/>
              </a:buClr>
              <a:buSzPct val="100000"/>
              <a:buFont typeface="Times New Roman"/>
              <a:buNone/>
            </a:pPr>
            <a:r>
              <a:rPr lang="en-US" b="1">
                <a:solidFill>
                  <a:srgbClr val="202124"/>
                </a:solidFill>
                <a:latin typeface="Times New Roman"/>
                <a:ea typeface="Times New Roman"/>
                <a:cs typeface="Times New Roman"/>
                <a:sym typeface="Times New Roman"/>
              </a:rPr>
              <a:t>Classification Finetuning</a:t>
            </a:r>
            <a:endParaRPr>
              <a:latin typeface="Times New Roman"/>
              <a:ea typeface="Times New Roman"/>
              <a:cs typeface="Times New Roman"/>
              <a:sym typeface="Times New Roman"/>
            </a:endParaRPr>
          </a:p>
        </p:txBody>
      </p:sp>
      <p:sp>
        <p:nvSpPr>
          <p:cNvPr id="109" name="Google Shape;109;p13"/>
          <p:cNvSpPr txBox="1">
            <a:spLocks noGrp="1"/>
          </p:cNvSpPr>
          <p:nvPr>
            <p:ph type="subTitle" idx="1"/>
          </p:nvPr>
        </p:nvSpPr>
        <p:spPr>
          <a:xfrm>
            <a:off x="1521954" y="4633040"/>
            <a:ext cx="9144000" cy="165576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040"/>
              <a:buNone/>
            </a:pPr>
            <a:r>
              <a:rPr lang="en-US" sz="2400">
                <a:latin typeface="Times New Roman"/>
                <a:ea typeface="Times New Roman"/>
                <a:cs typeface="Times New Roman"/>
                <a:sym typeface="Times New Roman"/>
              </a:rPr>
              <a:t>Term-Project</a:t>
            </a:r>
            <a:endParaRPr lang="en-US" sz="2400" dirty="0">
              <a:latin typeface="Times New Roman"/>
              <a:ea typeface="Times New Roman"/>
              <a:cs typeface="Times New Roman"/>
              <a:sym typeface="Times New Roman"/>
            </a:endParaRPr>
          </a:p>
          <a:p>
            <a:pPr marL="0" lvl="0" indent="0" algn="l" rtl="0">
              <a:lnSpc>
                <a:spcPct val="90000"/>
              </a:lnSpc>
              <a:spcBef>
                <a:spcPts val="1200"/>
              </a:spcBef>
              <a:spcAft>
                <a:spcPts val="0"/>
              </a:spcAft>
              <a:buSzPts val="2040"/>
              <a:buNone/>
            </a:pPr>
            <a:r>
              <a:rPr lang="en-US" sz="2400" dirty="0">
                <a:latin typeface="Times New Roman"/>
                <a:ea typeface="Times New Roman"/>
                <a:cs typeface="Times New Roman"/>
                <a:sym typeface="Times New Roman"/>
              </a:rPr>
              <a:t>Group: 46</a:t>
            </a:r>
            <a:endParaRPr lang="en-US" dirty="0"/>
          </a:p>
          <a:p>
            <a:pPr marL="0" lvl="0" indent="0" algn="l" rtl="0">
              <a:lnSpc>
                <a:spcPct val="90000"/>
              </a:lnSpc>
              <a:spcBef>
                <a:spcPts val="1200"/>
              </a:spcBef>
              <a:spcAft>
                <a:spcPts val="0"/>
              </a:spcAft>
              <a:buSzPts val="2040"/>
              <a:buNone/>
            </a:pPr>
            <a:r>
              <a:rPr lang="en-US" sz="2400" dirty="0">
                <a:latin typeface="Times New Roman"/>
                <a:ea typeface="Times New Roman"/>
                <a:cs typeface="Times New Roman"/>
                <a:sym typeface="Times New Roman"/>
              </a:rPr>
              <a:t>Members: </a:t>
            </a:r>
            <a:r>
              <a:rPr lang="zh-TW" altLang="en-US" sz="2400" dirty="0">
                <a:latin typeface="DFKai-SB"/>
                <a:ea typeface="DFKai-SB"/>
                <a:cs typeface="DFKai-SB"/>
                <a:sym typeface="DFKai-SB"/>
              </a:rPr>
              <a:t>林俞琛、林鈺承、徐綉惠</a:t>
            </a:r>
            <a:endParaRPr lang="zh-TW" altLang="en-US" dirty="0"/>
          </a:p>
        </p:txBody>
      </p:sp>
      <p:sp>
        <p:nvSpPr>
          <p:cNvPr id="110" name="Google Shape;110;p13"/>
          <p:cNvSpPr txBox="1">
            <a:spLocks noGrp="1"/>
          </p:cNvSpPr>
          <p:nvPr>
            <p:ph type="sldNum" idx="12"/>
          </p:nvPr>
        </p:nvSpPr>
        <p:spPr>
          <a:xfrm>
            <a:off x="9592733" y="4289334"/>
            <a:ext cx="1193868" cy="64008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5400"/>
              <a:buFont typeface="Times New Roman"/>
              <a:buNone/>
            </a:pPr>
            <a:r>
              <a:rPr lang="en-US" dirty="0">
                <a:solidFill>
                  <a:schemeClr val="dk1"/>
                </a:solidFill>
                <a:latin typeface="Times New Roman"/>
                <a:ea typeface="Times New Roman"/>
                <a:cs typeface="Times New Roman"/>
                <a:sym typeface="Times New Roman"/>
              </a:rPr>
              <a:t>Outline</a:t>
            </a:r>
            <a:endParaRPr dirty="0">
              <a:latin typeface="Times New Roman"/>
              <a:ea typeface="Times New Roman"/>
              <a:cs typeface="Times New Roman"/>
              <a:sym typeface="Times New Roman"/>
            </a:endParaRPr>
          </a:p>
        </p:txBody>
      </p:sp>
      <p:sp>
        <p:nvSpPr>
          <p:cNvPr id="116" name="Google Shape;116;p14"/>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205740" algn="l" rtl="0">
              <a:lnSpc>
                <a:spcPct val="100000"/>
              </a:lnSpc>
              <a:spcBef>
                <a:spcPts val="0"/>
              </a:spcBef>
              <a:spcAft>
                <a:spcPts val="0"/>
              </a:spcAft>
              <a:buSzPts val="2400"/>
              <a:buChar char="▪"/>
            </a:pPr>
            <a:r>
              <a:rPr lang="en-US" sz="2400" dirty="0">
                <a:latin typeface="Times New Roman"/>
                <a:ea typeface="Times New Roman"/>
                <a:cs typeface="Times New Roman"/>
                <a:sym typeface="Times New Roman"/>
              </a:rPr>
              <a:t>Introduction</a:t>
            </a:r>
            <a:endParaRPr dirty="0"/>
          </a:p>
          <a:p>
            <a:pPr marL="182880" lvl="0" indent="-205740" algn="l" rtl="0">
              <a:lnSpc>
                <a:spcPct val="100000"/>
              </a:lnSpc>
              <a:spcBef>
                <a:spcPts val="1200"/>
              </a:spcBef>
              <a:spcAft>
                <a:spcPts val="0"/>
              </a:spcAft>
              <a:buSzPts val="2400"/>
              <a:buChar char="▪"/>
            </a:pPr>
            <a:r>
              <a:rPr lang="en-US" sz="2400" dirty="0">
                <a:latin typeface="Times New Roman"/>
                <a:ea typeface="Times New Roman"/>
                <a:cs typeface="Times New Roman"/>
                <a:sym typeface="Times New Roman"/>
              </a:rPr>
              <a:t>Reference Codes</a:t>
            </a:r>
            <a:endParaRPr dirty="0"/>
          </a:p>
          <a:p>
            <a:pPr marL="182880" lvl="0" indent="-205740" algn="l" rtl="0">
              <a:lnSpc>
                <a:spcPct val="100000"/>
              </a:lnSpc>
              <a:spcBef>
                <a:spcPts val="1200"/>
              </a:spcBef>
              <a:spcAft>
                <a:spcPts val="0"/>
              </a:spcAft>
              <a:buSzPts val="2400"/>
              <a:buChar char="▪"/>
            </a:pPr>
            <a:r>
              <a:rPr lang="en-US" sz="2400" dirty="0">
                <a:latin typeface="Times New Roman"/>
                <a:ea typeface="Times New Roman"/>
                <a:cs typeface="Times New Roman"/>
                <a:sym typeface="Times New Roman"/>
              </a:rPr>
              <a:t>Our Proposed Methods</a:t>
            </a:r>
            <a:endParaRPr dirty="0"/>
          </a:p>
          <a:p>
            <a:pPr marL="182880" lvl="0" indent="-205740" algn="l" rtl="0">
              <a:lnSpc>
                <a:spcPct val="100000"/>
              </a:lnSpc>
              <a:spcBef>
                <a:spcPts val="1200"/>
              </a:spcBef>
              <a:spcAft>
                <a:spcPts val="0"/>
              </a:spcAft>
              <a:buSzPts val="2400"/>
              <a:buChar char="▪"/>
            </a:pPr>
            <a:r>
              <a:rPr lang="en-US" sz="2400" dirty="0">
                <a:latin typeface="Times New Roman"/>
                <a:ea typeface="Times New Roman"/>
                <a:cs typeface="Times New Roman"/>
                <a:sym typeface="Times New Roman"/>
              </a:rPr>
              <a:t>Experimental Results</a:t>
            </a:r>
            <a:endParaRPr dirty="0"/>
          </a:p>
          <a:p>
            <a:pPr marL="182880" lvl="0" indent="-205740" algn="l" rtl="0">
              <a:lnSpc>
                <a:spcPct val="100000"/>
              </a:lnSpc>
              <a:spcBef>
                <a:spcPts val="1200"/>
              </a:spcBef>
              <a:spcAft>
                <a:spcPts val="0"/>
              </a:spcAft>
              <a:buSzPts val="2400"/>
              <a:buChar char="▪"/>
            </a:pPr>
            <a:r>
              <a:rPr lang="en-US" sz="2400" dirty="0">
                <a:latin typeface="Times New Roman"/>
                <a:ea typeface="Times New Roman"/>
                <a:cs typeface="Times New Roman"/>
                <a:sym typeface="Times New Roman"/>
              </a:rPr>
              <a:t>Analysis and Comparison</a:t>
            </a:r>
            <a:endParaRPr dirty="0"/>
          </a:p>
          <a:p>
            <a:pPr marL="182880" lvl="0" indent="-205740" algn="l" rtl="0">
              <a:lnSpc>
                <a:spcPct val="100000"/>
              </a:lnSpc>
              <a:spcBef>
                <a:spcPts val="1200"/>
              </a:spcBef>
              <a:spcAft>
                <a:spcPts val="0"/>
              </a:spcAft>
              <a:buSzPts val="2400"/>
              <a:buChar char="▪"/>
            </a:pPr>
            <a:r>
              <a:rPr lang="en-US" sz="2400" dirty="0">
                <a:latin typeface="Times New Roman"/>
                <a:ea typeface="Times New Roman"/>
                <a:cs typeface="Times New Roman"/>
                <a:sym typeface="Times New Roman"/>
              </a:rPr>
              <a:t>Kaggle Competition Ranking</a:t>
            </a:r>
            <a:endParaRPr dirty="0"/>
          </a:p>
          <a:p>
            <a:pPr marL="182880" lvl="0" indent="-205740" algn="l" rtl="0">
              <a:lnSpc>
                <a:spcPct val="100000"/>
              </a:lnSpc>
              <a:spcBef>
                <a:spcPts val="1200"/>
              </a:spcBef>
              <a:spcAft>
                <a:spcPts val="0"/>
              </a:spcAft>
              <a:buSzPts val="2400"/>
              <a:buChar char="▪"/>
            </a:pPr>
            <a:r>
              <a:rPr lang="en-US" sz="2400" dirty="0">
                <a:latin typeface="Times New Roman"/>
                <a:ea typeface="Times New Roman"/>
                <a:cs typeface="Times New Roman"/>
                <a:sym typeface="Times New Roman"/>
              </a:rPr>
              <a:t>Conclusion</a:t>
            </a:r>
            <a:endParaRPr sz="2400" dirty="0">
              <a:latin typeface="Times New Roman"/>
              <a:ea typeface="Times New Roman"/>
              <a:cs typeface="Times New Roman"/>
              <a:sym typeface="Times New Roman"/>
            </a:endParaRPr>
          </a:p>
        </p:txBody>
      </p:sp>
      <p:sp>
        <p:nvSpPr>
          <p:cNvPr id="117" name="Google Shape;117;p14"/>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5400"/>
              <a:buFont typeface="Times New Roman"/>
              <a:buNone/>
            </a:pPr>
            <a:r>
              <a:rPr lang="en-US">
                <a:solidFill>
                  <a:schemeClr val="dk1"/>
                </a:solidFill>
                <a:latin typeface="Times New Roman"/>
                <a:ea typeface="Times New Roman"/>
                <a:cs typeface="Times New Roman"/>
                <a:sym typeface="Times New Roman"/>
              </a:rPr>
              <a:t>Outline</a:t>
            </a:r>
            <a:endParaRPr>
              <a:latin typeface="Times New Roman"/>
              <a:ea typeface="Times New Roman"/>
              <a:cs typeface="Times New Roman"/>
              <a:sym typeface="Times New Roman"/>
            </a:endParaRPr>
          </a:p>
        </p:txBody>
      </p:sp>
      <p:sp>
        <p:nvSpPr>
          <p:cNvPr id="123" name="Google Shape;123;p15"/>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205740" algn="l" rtl="0">
              <a:lnSpc>
                <a:spcPct val="100000"/>
              </a:lnSpc>
              <a:spcBef>
                <a:spcPts val="0"/>
              </a:spcBef>
              <a:spcAft>
                <a:spcPts val="0"/>
              </a:spcAft>
              <a:buSzPts val="2400"/>
              <a:buChar char="▪"/>
            </a:pPr>
            <a:r>
              <a:rPr lang="en-US" sz="2400" dirty="0">
                <a:latin typeface="Times New Roman"/>
                <a:ea typeface="Times New Roman"/>
                <a:cs typeface="Times New Roman"/>
                <a:sym typeface="Times New Roman"/>
              </a:rPr>
              <a:t>Introduction</a:t>
            </a:r>
            <a:endParaRPr dirty="0"/>
          </a:p>
          <a:p>
            <a:pPr marL="182880" lvl="0" indent="-205740" algn="l" rtl="0">
              <a:lnSpc>
                <a:spcPct val="100000"/>
              </a:lnSpc>
              <a:spcBef>
                <a:spcPts val="1200"/>
              </a:spcBef>
              <a:spcAft>
                <a:spcPts val="0"/>
              </a:spcAft>
              <a:buSzPts val="2400"/>
              <a:buChar char="▪"/>
            </a:pPr>
            <a:r>
              <a:rPr lang="en-US" sz="2400" dirty="0">
                <a:solidFill>
                  <a:srgbClr val="C3C0C0"/>
                </a:solidFill>
                <a:latin typeface="Times New Roman"/>
                <a:ea typeface="Times New Roman"/>
                <a:cs typeface="Times New Roman"/>
                <a:sym typeface="Times New Roman"/>
              </a:rPr>
              <a:t>Reference Codes</a:t>
            </a:r>
            <a:endParaRPr dirty="0"/>
          </a:p>
          <a:p>
            <a:pPr marL="182880" lvl="0" indent="-205740" algn="l" rtl="0">
              <a:lnSpc>
                <a:spcPct val="100000"/>
              </a:lnSpc>
              <a:spcBef>
                <a:spcPts val="1200"/>
              </a:spcBef>
              <a:spcAft>
                <a:spcPts val="0"/>
              </a:spcAft>
              <a:buSzPts val="2400"/>
              <a:buChar char="▪"/>
            </a:pPr>
            <a:r>
              <a:rPr lang="en-US" sz="2400" dirty="0">
                <a:solidFill>
                  <a:srgbClr val="C3C0C0"/>
                </a:solidFill>
                <a:latin typeface="Times New Roman"/>
                <a:ea typeface="Times New Roman"/>
                <a:cs typeface="Times New Roman"/>
                <a:sym typeface="Times New Roman"/>
              </a:rPr>
              <a:t>Our Proposed Methods</a:t>
            </a:r>
            <a:endParaRPr dirty="0"/>
          </a:p>
          <a:p>
            <a:pPr marL="182880" lvl="0" indent="-205740" algn="l" rtl="0">
              <a:lnSpc>
                <a:spcPct val="100000"/>
              </a:lnSpc>
              <a:spcBef>
                <a:spcPts val="1200"/>
              </a:spcBef>
              <a:spcAft>
                <a:spcPts val="0"/>
              </a:spcAft>
              <a:buSzPts val="2400"/>
              <a:buChar char="▪"/>
            </a:pPr>
            <a:r>
              <a:rPr lang="en-US" sz="2400" dirty="0">
                <a:solidFill>
                  <a:srgbClr val="C3C0C0"/>
                </a:solidFill>
                <a:latin typeface="Times New Roman"/>
                <a:ea typeface="Times New Roman"/>
                <a:cs typeface="Times New Roman"/>
                <a:sym typeface="Times New Roman"/>
              </a:rPr>
              <a:t>Experimental Results</a:t>
            </a:r>
            <a:endParaRPr dirty="0"/>
          </a:p>
          <a:p>
            <a:pPr marL="182880" lvl="0" indent="-205740" algn="l" rtl="0">
              <a:lnSpc>
                <a:spcPct val="100000"/>
              </a:lnSpc>
              <a:spcBef>
                <a:spcPts val="1200"/>
              </a:spcBef>
              <a:spcAft>
                <a:spcPts val="0"/>
              </a:spcAft>
              <a:buSzPts val="2400"/>
              <a:buChar char="▪"/>
            </a:pPr>
            <a:r>
              <a:rPr lang="en-US" sz="2400" dirty="0">
                <a:solidFill>
                  <a:srgbClr val="C3C0C0"/>
                </a:solidFill>
                <a:latin typeface="Times New Roman"/>
                <a:ea typeface="Times New Roman"/>
                <a:cs typeface="Times New Roman"/>
                <a:sym typeface="Times New Roman"/>
              </a:rPr>
              <a:t>Analysis and Comparison</a:t>
            </a:r>
            <a:endParaRPr dirty="0"/>
          </a:p>
          <a:p>
            <a:pPr marL="182880" lvl="0" indent="-205740" algn="l" rtl="0">
              <a:lnSpc>
                <a:spcPct val="100000"/>
              </a:lnSpc>
              <a:spcBef>
                <a:spcPts val="1200"/>
              </a:spcBef>
              <a:spcAft>
                <a:spcPts val="0"/>
              </a:spcAft>
              <a:buSzPts val="2400"/>
              <a:buChar char="▪"/>
            </a:pPr>
            <a:r>
              <a:rPr lang="en-US" sz="2400" dirty="0">
                <a:solidFill>
                  <a:srgbClr val="C3C0C0"/>
                </a:solidFill>
                <a:latin typeface="Times New Roman"/>
                <a:ea typeface="Times New Roman"/>
                <a:cs typeface="Times New Roman"/>
                <a:sym typeface="Times New Roman"/>
              </a:rPr>
              <a:t>Kaggle Competition Ranking</a:t>
            </a:r>
            <a:endParaRPr dirty="0"/>
          </a:p>
          <a:p>
            <a:pPr marL="182880" lvl="0" indent="-205740" algn="l" rtl="0">
              <a:lnSpc>
                <a:spcPct val="100000"/>
              </a:lnSpc>
              <a:spcBef>
                <a:spcPts val="1200"/>
              </a:spcBef>
              <a:spcAft>
                <a:spcPts val="0"/>
              </a:spcAft>
              <a:buSzPts val="2400"/>
              <a:buChar char="▪"/>
            </a:pPr>
            <a:r>
              <a:rPr lang="en-US" sz="2400" dirty="0">
                <a:solidFill>
                  <a:srgbClr val="C3C0C0"/>
                </a:solidFill>
                <a:latin typeface="Times New Roman"/>
                <a:ea typeface="Times New Roman"/>
                <a:cs typeface="Times New Roman"/>
                <a:sym typeface="Times New Roman"/>
              </a:rPr>
              <a:t>Conclusion</a:t>
            </a:r>
            <a:endParaRPr sz="2400" dirty="0">
              <a:latin typeface="Times New Roman"/>
              <a:ea typeface="Times New Roman"/>
              <a:cs typeface="Times New Roman"/>
              <a:sym typeface="Times New Roman"/>
            </a:endParaRPr>
          </a:p>
        </p:txBody>
      </p:sp>
      <p:sp>
        <p:nvSpPr>
          <p:cNvPr id="124" name="Google Shape;124;p15"/>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Times New Roman"/>
              <a:buNone/>
            </a:pPr>
            <a:r>
              <a:rPr lang="en-US">
                <a:latin typeface="Times New Roman"/>
                <a:ea typeface="Times New Roman"/>
                <a:cs typeface="Times New Roman"/>
                <a:sym typeface="Times New Roman"/>
              </a:rPr>
              <a:t>Introduction</a:t>
            </a:r>
            <a:endParaRPr/>
          </a:p>
        </p:txBody>
      </p:sp>
      <p:sp>
        <p:nvSpPr>
          <p:cNvPr id="130" name="Google Shape;130;p16"/>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208280" algn="just" rtl="0">
              <a:lnSpc>
                <a:spcPct val="90000"/>
              </a:lnSpc>
              <a:spcBef>
                <a:spcPts val="0"/>
              </a:spcBef>
              <a:spcAft>
                <a:spcPts val="0"/>
              </a:spcAft>
              <a:buSzPts val="2440"/>
              <a:buChar char="▪"/>
            </a:pPr>
            <a:r>
              <a:rPr lang="en-US" sz="2400" dirty="0">
                <a:latin typeface="Times New Roman"/>
                <a:ea typeface="Times New Roman"/>
                <a:cs typeface="Times New Roman"/>
                <a:sym typeface="Times New Roman"/>
              </a:rPr>
              <a:t> This task focuses on predicting user preferences in head-to-head comparisons of chatbot responses.</a:t>
            </a:r>
            <a:endParaRPr dirty="0"/>
          </a:p>
          <a:p>
            <a:pPr marL="182880" lvl="0" indent="-208280" algn="just" rtl="0">
              <a:lnSpc>
                <a:spcPct val="90000"/>
              </a:lnSpc>
              <a:spcBef>
                <a:spcPts val="1200"/>
              </a:spcBef>
              <a:spcAft>
                <a:spcPts val="0"/>
              </a:spcAft>
              <a:buSzPts val="2440"/>
              <a:buChar char="▪"/>
            </a:pPr>
            <a:r>
              <a:rPr lang="en-US" sz="2400" dirty="0">
                <a:latin typeface="Times New Roman"/>
                <a:ea typeface="Times New Roman"/>
                <a:cs typeface="Times New Roman"/>
                <a:sym typeface="Times New Roman"/>
              </a:rPr>
              <a:t> Using a dataset from the Chatbot Arena, featuring conversations generated by various large language models (LLMs).</a:t>
            </a:r>
            <a:endParaRPr dirty="0"/>
          </a:p>
          <a:p>
            <a:pPr marL="182880" lvl="0" indent="-208280" algn="just" rtl="0">
              <a:lnSpc>
                <a:spcPct val="90000"/>
              </a:lnSpc>
              <a:spcBef>
                <a:spcPts val="1200"/>
              </a:spcBef>
              <a:spcAft>
                <a:spcPts val="0"/>
              </a:spcAft>
              <a:buSzPts val="2440"/>
              <a:buChar char="▪"/>
            </a:pPr>
            <a:r>
              <a:rPr lang="en-US" sz="2400" dirty="0">
                <a:latin typeface="Times New Roman"/>
                <a:ea typeface="Times New Roman"/>
                <a:cs typeface="Times New Roman"/>
                <a:sym typeface="Times New Roman"/>
              </a:rPr>
              <a:t> The goal is to create an effective machine learning model to enhance chatbot interactions with users.</a:t>
            </a:r>
            <a:endParaRPr dirty="0"/>
          </a:p>
          <a:p>
            <a:pPr marL="182880" lvl="0" indent="-208280" algn="just" rtl="0">
              <a:lnSpc>
                <a:spcPct val="90000"/>
              </a:lnSpc>
              <a:spcBef>
                <a:spcPts val="1200"/>
              </a:spcBef>
              <a:spcAft>
                <a:spcPts val="0"/>
              </a:spcAft>
              <a:buSzPts val="2440"/>
              <a:buChar char="▪"/>
            </a:pPr>
            <a:r>
              <a:rPr lang="en-US" sz="2400" dirty="0">
                <a:latin typeface="Times New Roman"/>
                <a:ea typeface="Times New Roman"/>
                <a:cs typeface="Times New Roman"/>
                <a:sym typeface="Times New Roman"/>
              </a:rPr>
              <a:t> The outcome aims to ensure chatbots align more closely with human preferences.</a:t>
            </a:r>
            <a:endParaRPr sz="2400" dirty="0">
              <a:latin typeface="Times New Roman"/>
              <a:ea typeface="Times New Roman"/>
              <a:cs typeface="Times New Roman"/>
              <a:sym typeface="Times New Roman"/>
            </a:endParaRPr>
          </a:p>
        </p:txBody>
      </p:sp>
      <p:sp>
        <p:nvSpPr>
          <p:cNvPr id="131" name="Google Shape;131;p16"/>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7"/>
          <p:cNvSpPr txBox="1">
            <a:spLocks noGrp="1"/>
          </p:cNvSpPr>
          <p:nvPr>
            <p:ph type="body" idx="1"/>
          </p:nvPr>
        </p:nvSpPr>
        <p:spPr>
          <a:xfrm>
            <a:off x="510008" y="1630452"/>
            <a:ext cx="11512204" cy="4696702"/>
          </a:xfrm>
          <a:prstGeom prst="rect">
            <a:avLst/>
          </a:prstGeom>
          <a:noFill/>
          <a:ln>
            <a:noFill/>
          </a:ln>
        </p:spPr>
        <p:txBody>
          <a:bodyPr spcFirstLastPara="1" wrap="square" lIns="91425" tIns="45700" rIns="91425" bIns="45700" anchor="t" anchorCtr="0">
            <a:normAutofit/>
          </a:bodyPr>
          <a:lstStyle/>
          <a:p>
            <a:pPr marL="182880" lvl="0" indent="-205740" algn="l" rtl="0">
              <a:lnSpc>
                <a:spcPct val="90000"/>
              </a:lnSpc>
              <a:spcBef>
                <a:spcPts val="0"/>
              </a:spcBef>
              <a:spcAft>
                <a:spcPts val="0"/>
              </a:spcAft>
              <a:buSzPts val="2400"/>
              <a:buChar char="▪"/>
            </a:pPr>
            <a:r>
              <a:rPr lang="en-US" sz="2400" dirty="0" err="1">
                <a:latin typeface="Times New Roman"/>
                <a:ea typeface="Times New Roman"/>
                <a:cs typeface="Times New Roman"/>
                <a:sym typeface="Times New Roman"/>
              </a:rPr>
              <a:t>ChatBot</a:t>
            </a:r>
            <a:r>
              <a:rPr lang="en-US" sz="2400" dirty="0">
                <a:latin typeface="Times New Roman"/>
                <a:ea typeface="Times New Roman"/>
                <a:cs typeface="Times New Roman"/>
                <a:sym typeface="Times New Roman"/>
              </a:rPr>
              <a:t> Arena</a:t>
            </a:r>
          </a:p>
          <a:p>
            <a:pPr marL="0" lvl="0" indent="0" algn="l" rtl="0">
              <a:lnSpc>
                <a:spcPct val="90000"/>
              </a:lnSpc>
              <a:spcBef>
                <a:spcPts val="0"/>
              </a:spcBef>
              <a:spcAft>
                <a:spcPts val="0"/>
              </a:spcAft>
              <a:buSzPts val="2400"/>
              <a:buNone/>
            </a:pPr>
            <a:endParaRPr dirty="0"/>
          </a:p>
          <a:p>
            <a:pPr marL="0" lvl="0" indent="0" algn="l" rtl="0">
              <a:lnSpc>
                <a:spcPct val="90000"/>
              </a:lnSpc>
              <a:spcBef>
                <a:spcPts val="1200"/>
              </a:spcBef>
              <a:spcAft>
                <a:spcPts val="0"/>
              </a:spcAft>
              <a:buSzPts val="2040"/>
              <a:buNone/>
            </a:pPr>
            <a:r>
              <a:rPr lang="en-US" sz="2400" dirty="0">
                <a:latin typeface="Times New Roman"/>
                <a:ea typeface="Times New Roman"/>
                <a:cs typeface="Times New Roman"/>
                <a:sym typeface="Times New Roman"/>
              </a:rPr>
              <a:t>   </a:t>
            </a:r>
            <a:endParaRPr dirty="0"/>
          </a:p>
          <a:p>
            <a:pPr marL="0" lvl="0" indent="0" algn="l" rtl="0">
              <a:lnSpc>
                <a:spcPct val="90000"/>
              </a:lnSpc>
              <a:spcBef>
                <a:spcPts val="1200"/>
              </a:spcBef>
              <a:spcAft>
                <a:spcPts val="0"/>
              </a:spcAft>
              <a:buSzPts val="2040"/>
              <a:buNone/>
            </a:pPr>
            <a:endParaRPr sz="2400" dirty="0">
              <a:latin typeface="Times New Roman"/>
              <a:ea typeface="Times New Roman"/>
              <a:cs typeface="Times New Roman"/>
              <a:sym typeface="Times New Roman"/>
            </a:endParaRPr>
          </a:p>
          <a:p>
            <a:pPr marL="0" lvl="0" indent="0" algn="l" rtl="0">
              <a:lnSpc>
                <a:spcPct val="90000"/>
              </a:lnSpc>
              <a:spcBef>
                <a:spcPts val="1200"/>
              </a:spcBef>
              <a:spcAft>
                <a:spcPts val="0"/>
              </a:spcAft>
              <a:buSzPts val="1700"/>
              <a:buNone/>
            </a:pPr>
            <a:endParaRPr dirty="0">
              <a:latin typeface="Times New Roman"/>
              <a:ea typeface="Times New Roman"/>
              <a:cs typeface="Times New Roman"/>
              <a:sym typeface="Times New Roman"/>
            </a:endParaRPr>
          </a:p>
          <a:p>
            <a:pPr marL="0" lvl="0" indent="0" algn="l" rtl="0">
              <a:lnSpc>
                <a:spcPct val="90000"/>
              </a:lnSpc>
              <a:spcBef>
                <a:spcPts val="1200"/>
              </a:spcBef>
              <a:spcAft>
                <a:spcPts val="0"/>
              </a:spcAft>
              <a:buSzPts val="1700"/>
              <a:buNone/>
            </a:pPr>
            <a:endParaRPr dirty="0">
              <a:latin typeface="Times New Roman"/>
              <a:ea typeface="Times New Roman"/>
              <a:cs typeface="Times New Roman"/>
              <a:sym typeface="Times New Roman"/>
            </a:endParaRPr>
          </a:p>
          <a:p>
            <a:pPr marL="0" lvl="0" indent="0" algn="l" rtl="0">
              <a:lnSpc>
                <a:spcPct val="90000"/>
              </a:lnSpc>
              <a:spcBef>
                <a:spcPts val="1200"/>
              </a:spcBef>
              <a:spcAft>
                <a:spcPts val="0"/>
              </a:spcAft>
              <a:buSzPts val="1700"/>
              <a:buNone/>
            </a:pPr>
            <a:endParaRPr dirty="0">
              <a:latin typeface="Times New Roman"/>
              <a:ea typeface="Times New Roman"/>
              <a:cs typeface="Times New Roman"/>
              <a:sym typeface="Times New Roman"/>
            </a:endParaRPr>
          </a:p>
          <a:p>
            <a:pPr marL="0" lvl="0" indent="0" algn="l" rtl="0">
              <a:lnSpc>
                <a:spcPct val="90000"/>
              </a:lnSpc>
              <a:spcBef>
                <a:spcPts val="1200"/>
              </a:spcBef>
              <a:spcAft>
                <a:spcPts val="0"/>
              </a:spcAft>
              <a:buSzPts val="1700"/>
              <a:buNone/>
            </a:pPr>
            <a:r>
              <a:rPr lang="en-US" dirty="0">
                <a:latin typeface="Times New Roman"/>
                <a:ea typeface="Times New Roman"/>
                <a:cs typeface="Times New Roman"/>
                <a:sym typeface="Times New Roman"/>
              </a:rPr>
              <a:t>Training set (train.csv) : 55,000 rows, which include </a:t>
            </a:r>
            <a:r>
              <a:rPr lang="en-US" b="1" dirty="0">
                <a:latin typeface="Times New Roman"/>
                <a:ea typeface="Times New Roman"/>
                <a:cs typeface="Times New Roman"/>
                <a:sym typeface="Times New Roman"/>
              </a:rPr>
              <a:t>id, model_[a/b], prompt, response_[a/b], </a:t>
            </a:r>
            <a:r>
              <a:rPr lang="en-US" b="1" dirty="0" err="1">
                <a:latin typeface="Times New Roman"/>
                <a:ea typeface="Times New Roman"/>
                <a:cs typeface="Times New Roman"/>
                <a:sym typeface="Times New Roman"/>
              </a:rPr>
              <a:t>winner_model</a:t>
            </a:r>
            <a:r>
              <a:rPr lang="en-US" b="1" dirty="0">
                <a:latin typeface="Times New Roman"/>
                <a:ea typeface="Times New Roman"/>
                <a:cs typeface="Times New Roman"/>
                <a:sym typeface="Times New Roman"/>
              </a:rPr>
              <a:t>_[a/b/tie]</a:t>
            </a:r>
            <a:r>
              <a:rPr lang="en-US" dirty="0">
                <a:latin typeface="Times New Roman"/>
                <a:ea typeface="Times New Roman"/>
                <a:cs typeface="Times New Roman"/>
                <a:sym typeface="Times New Roman"/>
              </a:rPr>
              <a:t>.</a:t>
            </a:r>
            <a:endParaRPr dirty="0"/>
          </a:p>
          <a:p>
            <a:pPr marL="0" lvl="0" indent="0" algn="l" rtl="0">
              <a:lnSpc>
                <a:spcPct val="90000"/>
              </a:lnSpc>
              <a:spcBef>
                <a:spcPts val="1200"/>
              </a:spcBef>
              <a:spcAft>
                <a:spcPts val="0"/>
              </a:spcAft>
              <a:buSzPts val="1700"/>
              <a:buNone/>
            </a:pPr>
            <a:r>
              <a:rPr lang="en-US" dirty="0">
                <a:latin typeface="Times New Roman"/>
                <a:ea typeface="Times New Roman"/>
                <a:cs typeface="Times New Roman"/>
                <a:sym typeface="Times New Roman"/>
              </a:rPr>
              <a:t>Testing set (test.csv) : 25,000 rows , which include </a:t>
            </a:r>
            <a:r>
              <a:rPr lang="en-US" b="1" dirty="0">
                <a:latin typeface="Times New Roman"/>
                <a:ea typeface="Times New Roman"/>
                <a:cs typeface="Times New Roman"/>
                <a:sym typeface="Times New Roman"/>
              </a:rPr>
              <a:t>id, prompt, response_[a/b]</a:t>
            </a:r>
            <a:r>
              <a:rPr lang="en-US" dirty="0">
                <a:latin typeface="Times New Roman"/>
                <a:ea typeface="Times New Roman"/>
                <a:cs typeface="Times New Roman"/>
                <a:sym typeface="Times New Roman"/>
              </a:rPr>
              <a:t>.</a:t>
            </a:r>
            <a:endParaRPr dirty="0"/>
          </a:p>
          <a:p>
            <a:pPr marL="0" lvl="0" indent="0" algn="l" rtl="0">
              <a:lnSpc>
                <a:spcPct val="90000"/>
              </a:lnSpc>
              <a:spcBef>
                <a:spcPts val="1200"/>
              </a:spcBef>
              <a:spcAft>
                <a:spcPts val="0"/>
              </a:spcAft>
              <a:buSzPts val="1700"/>
              <a:buNone/>
            </a:pPr>
            <a:r>
              <a:rPr lang="en-US" dirty="0">
                <a:latin typeface="Times New Roman"/>
                <a:ea typeface="Times New Roman"/>
                <a:cs typeface="Times New Roman"/>
                <a:sym typeface="Times New Roman"/>
              </a:rPr>
              <a:t>Submission file (submission.csv) : Predictions from the testing set, which include </a:t>
            </a:r>
            <a:r>
              <a:rPr lang="en-US" b="1" dirty="0">
                <a:latin typeface="Times New Roman"/>
                <a:ea typeface="Times New Roman"/>
                <a:cs typeface="Times New Roman"/>
                <a:sym typeface="Times New Roman"/>
              </a:rPr>
              <a:t>id, </a:t>
            </a:r>
            <a:r>
              <a:rPr lang="en-US" b="1" dirty="0" err="1">
                <a:latin typeface="Times New Roman"/>
                <a:ea typeface="Times New Roman"/>
                <a:cs typeface="Times New Roman"/>
                <a:sym typeface="Times New Roman"/>
              </a:rPr>
              <a:t>winner_model</a:t>
            </a:r>
            <a:r>
              <a:rPr lang="en-US" b="1" dirty="0">
                <a:latin typeface="Times New Roman"/>
                <a:ea typeface="Times New Roman"/>
                <a:cs typeface="Times New Roman"/>
                <a:sym typeface="Times New Roman"/>
              </a:rPr>
              <a:t>_[a/b/tie]</a:t>
            </a:r>
            <a:r>
              <a:rPr lang="en-US" dirty="0">
                <a:latin typeface="Times New Roman"/>
                <a:ea typeface="Times New Roman"/>
                <a:cs typeface="Times New Roman"/>
                <a:sym typeface="Times New Roman"/>
              </a:rPr>
              <a:t>.</a:t>
            </a:r>
            <a:endParaRPr dirty="0"/>
          </a:p>
          <a:p>
            <a:pPr marL="0" lvl="0" indent="0" algn="l" rtl="0">
              <a:lnSpc>
                <a:spcPct val="90000"/>
              </a:lnSpc>
              <a:spcBef>
                <a:spcPts val="1200"/>
              </a:spcBef>
              <a:spcAft>
                <a:spcPts val="0"/>
              </a:spcAft>
              <a:buSzPts val="1700"/>
              <a:buNone/>
            </a:pPr>
            <a:endParaRPr dirty="0">
              <a:latin typeface="Times New Roman"/>
              <a:ea typeface="Times New Roman"/>
              <a:cs typeface="Times New Roman"/>
              <a:sym typeface="Times New Roman"/>
            </a:endParaRPr>
          </a:p>
        </p:txBody>
      </p:sp>
      <p:sp>
        <p:nvSpPr>
          <p:cNvPr id="137" name="Google Shape;137;p17"/>
          <p:cNvSpPr txBox="1">
            <a:spLocks noGrp="1"/>
          </p:cNvSpPr>
          <p:nvPr>
            <p:ph type="title"/>
          </p:nvPr>
        </p:nvSpPr>
        <p:spPr>
          <a:xfrm>
            <a:off x="510008" y="128687"/>
            <a:ext cx="1061824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Times New Roman"/>
              <a:buNone/>
            </a:pPr>
            <a:r>
              <a:rPr lang="en-US" sz="5400" dirty="0">
                <a:latin typeface="Times New Roman"/>
                <a:ea typeface="Times New Roman"/>
                <a:cs typeface="Times New Roman"/>
                <a:sym typeface="Times New Roman"/>
              </a:rPr>
              <a:t>D</a:t>
            </a:r>
            <a:r>
              <a:rPr lang="en-US" dirty="0">
                <a:latin typeface="Times New Roman"/>
                <a:ea typeface="Times New Roman"/>
                <a:cs typeface="Times New Roman"/>
                <a:sym typeface="Times New Roman"/>
              </a:rPr>
              <a:t>ataset</a:t>
            </a:r>
            <a:endParaRPr dirty="0"/>
          </a:p>
        </p:txBody>
      </p:sp>
      <p:sp>
        <p:nvSpPr>
          <p:cNvPr id="138" name="Google Shape;138;p17"/>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a:p>
        </p:txBody>
      </p:sp>
      <p:graphicFrame>
        <p:nvGraphicFramePr>
          <p:cNvPr id="139" name="Google Shape;139;p17"/>
          <p:cNvGraphicFramePr/>
          <p:nvPr>
            <p:extLst>
              <p:ext uri="{D42A27DB-BD31-4B8C-83A1-F6EECF244321}">
                <p14:modId xmlns:p14="http://schemas.microsoft.com/office/powerpoint/2010/main" val="440886697"/>
              </p:ext>
            </p:extLst>
          </p:nvPr>
        </p:nvGraphicFramePr>
        <p:xfrm>
          <a:off x="399221" y="2312671"/>
          <a:ext cx="11393557" cy="1981250"/>
        </p:xfrm>
        <a:graphic>
          <a:graphicData uri="http://schemas.openxmlformats.org/drawingml/2006/table">
            <a:tbl>
              <a:tblPr firstRow="1" bandRow="1">
                <a:noFill/>
                <a:tableStyleId>{B770E975-41CA-4F53-96CA-81EBAB75F501}</a:tableStyleId>
              </a:tblPr>
              <a:tblGrid>
                <a:gridCol w="2754070">
                  <a:extLst>
                    <a:ext uri="{9D8B030D-6E8A-4147-A177-3AD203B41FA5}">
                      <a16:colId xmlns:a16="http://schemas.microsoft.com/office/drawing/2014/main" val="20000"/>
                    </a:ext>
                  </a:extLst>
                </a:gridCol>
                <a:gridCol w="8639487">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2000" b="1" u="none" strike="noStrike" cap="none">
                          <a:solidFill>
                            <a:schemeClr val="dk1"/>
                          </a:solidFill>
                          <a:latin typeface="Times New Roman"/>
                          <a:ea typeface="Times New Roman"/>
                          <a:cs typeface="Times New Roman"/>
                          <a:sym typeface="Times New Roman"/>
                        </a:rPr>
                        <a:t>id</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2000" b="0" u="none" strike="noStrike" cap="none" dirty="0">
                          <a:solidFill>
                            <a:schemeClr val="dk1"/>
                          </a:solidFill>
                          <a:latin typeface="Times New Roman"/>
                          <a:ea typeface="Times New Roman"/>
                          <a:cs typeface="Times New Roman"/>
                          <a:sym typeface="Times New Roman"/>
                        </a:rPr>
                        <a:t>A unique identifier for the row.</a:t>
                      </a:r>
                      <a:endParaRPr sz="2000" b="0" dirty="0">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US" sz="2000" b="1">
                          <a:latin typeface="Times New Roman"/>
                          <a:ea typeface="Times New Roman"/>
                          <a:cs typeface="Times New Roman"/>
                          <a:sym typeface="Times New Roman"/>
                        </a:rPr>
                        <a:t>model_[a/b]</a:t>
                      </a:r>
                      <a:endParaRPr sz="2000" b="1">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a:ea typeface="Times New Roman"/>
                          <a:cs typeface="Times New Roman"/>
                          <a:sym typeface="Times New Roman"/>
                        </a:rPr>
                        <a:t>The identity of model_[a/b].</a:t>
                      </a:r>
                      <a:endParaRPr sz="20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US" sz="2000" b="1">
                          <a:latin typeface="Times New Roman"/>
                          <a:ea typeface="Times New Roman"/>
                          <a:cs typeface="Times New Roman"/>
                          <a:sym typeface="Times New Roman"/>
                        </a:rPr>
                        <a:t>prompt</a:t>
                      </a:r>
                      <a:endParaRPr sz="2000" b="1">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a:ea typeface="Times New Roman"/>
                          <a:cs typeface="Times New Roman"/>
                          <a:sym typeface="Times New Roman"/>
                        </a:rPr>
                        <a:t>The prompt that was given as an input (to both models).</a:t>
                      </a:r>
                      <a:endParaRPr sz="20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US" sz="2000" b="1">
                          <a:latin typeface="Times New Roman"/>
                          <a:ea typeface="Times New Roman"/>
                          <a:cs typeface="Times New Roman"/>
                          <a:sym typeface="Times New Roman"/>
                        </a:rPr>
                        <a:t>response_[a/b]</a:t>
                      </a:r>
                      <a:endParaRPr sz="2000" b="1">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2000">
                          <a:latin typeface="Times New Roman"/>
                          <a:ea typeface="Times New Roman"/>
                          <a:cs typeface="Times New Roman"/>
                          <a:sym typeface="Times New Roman"/>
                        </a:rPr>
                        <a:t>The response from model_[a/b] to the given prompt.</a:t>
                      </a:r>
                      <a:endParaRPr sz="20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US" sz="2000" b="1">
                          <a:latin typeface="Times New Roman"/>
                          <a:ea typeface="Times New Roman"/>
                          <a:cs typeface="Times New Roman"/>
                          <a:sym typeface="Times New Roman"/>
                        </a:rPr>
                        <a:t>winner_model_[a/b/tie]</a:t>
                      </a:r>
                      <a:endParaRPr sz="2000" b="1">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a:ea typeface="Times New Roman"/>
                          <a:cs typeface="Times New Roman"/>
                          <a:sym typeface="Times New Roman"/>
                        </a:rPr>
                        <a:t>Binary columns marking the judge's selection. The ground truth target column.</a:t>
                      </a:r>
                      <a:endParaRPr sz="20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8"/>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Times New Roman"/>
              <a:buNone/>
            </a:pPr>
            <a:r>
              <a:rPr lang="en-US">
                <a:latin typeface="Times New Roman"/>
                <a:ea typeface="Times New Roman"/>
                <a:cs typeface="Times New Roman"/>
                <a:sym typeface="Times New Roman"/>
              </a:rPr>
              <a:t>Outline</a:t>
            </a:r>
            <a:endParaRPr>
              <a:latin typeface="Times New Roman"/>
              <a:ea typeface="Times New Roman"/>
              <a:cs typeface="Times New Roman"/>
              <a:sym typeface="Times New Roman"/>
            </a:endParaRPr>
          </a:p>
        </p:txBody>
      </p:sp>
      <p:sp>
        <p:nvSpPr>
          <p:cNvPr id="145" name="Google Shape;145;p18"/>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205740" algn="l" rtl="0">
              <a:lnSpc>
                <a:spcPct val="100000"/>
              </a:lnSpc>
              <a:spcBef>
                <a:spcPts val="0"/>
              </a:spcBef>
              <a:spcAft>
                <a:spcPts val="0"/>
              </a:spcAft>
              <a:buSzPts val="2400"/>
              <a:buChar char="▪"/>
            </a:pPr>
            <a:r>
              <a:rPr lang="en-US" sz="2400" dirty="0">
                <a:solidFill>
                  <a:srgbClr val="C3C0C0"/>
                </a:solidFill>
                <a:latin typeface="Times New Roman"/>
                <a:ea typeface="Times New Roman"/>
                <a:cs typeface="Times New Roman"/>
                <a:sym typeface="Times New Roman"/>
              </a:rPr>
              <a:t>Introduction</a:t>
            </a:r>
            <a:endParaRPr dirty="0"/>
          </a:p>
          <a:p>
            <a:pPr marL="182880" lvl="0" indent="-205740" algn="l" rtl="0">
              <a:lnSpc>
                <a:spcPct val="100000"/>
              </a:lnSpc>
              <a:spcBef>
                <a:spcPts val="1200"/>
              </a:spcBef>
              <a:spcAft>
                <a:spcPts val="0"/>
              </a:spcAft>
              <a:buSzPts val="2400"/>
              <a:buChar char="▪"/>
            </a:pPr>
            <a:r>
              <a:rPr lang="en-US" sz="2400" dirty="0">
                <a:latin typeface="Times New Roman"/>
                <a:ea typeface="Times New Roman"/>
                <a:cs typeface="Times New Roman"/>
                <a:sym typeface="Times New Roman"/>
              </a:rPr>
              <a:t>Reference Codes</a:t>
            </a:r>
            <a:endParaRPr dirty="0"/>
          </a:p>
          <a:p>
            <a:pPr marL="182880" lvl="0" indent="-205740" algn="l" rtl="0">
              <a:lnSpc>
                <a:spcPct val="100000"/>
              </a:lnSpc>
              <a:spcBef>
                <a:spcPts val="1200"/>
              </a:spcBef>
              <a:spcAft>
                <a:spcPts val="0"/>
              </a:spcAft>
              <a:buSzPts val="2400"/>
              <a:buChar char="▪"/>
            </a:pPr>
            <a:r>
              <a:rPr lang="en-US" sz="2400" dirty="0">
                <a:solidFill>
                  <a:srgbClr val="C3C0C0"/>
                </a:solidFill>
                <a:latin typeface="Times New Roman"/>
                <a:ea typeface="Times New Roman"/>
                <a:cs typeface="Times New Roman"/>
                <a:sym typeface="Times New Roman"/>
              </a:rPr>
              <a:t>Our Proposed Methods</a:t>
            </a:r>
            <a:endParaRPr dirty="0"/>
          </a:p>
          <a:p>
            <a:pPr marL="182880" lvl="0" indent="-205740" algn="l" rtl="0">
              <a:lnSpc>
                <a:spcPct val="100000"/>
              </a:lnSpc>
              <a:spcBef>
                <a:spcPts val="1200"/>
              </a:spcBef>
              <a:spcAft>
                <a:spcPts val="0"/>
              </a:spcAft>
              <a:buSzPts val="2400"/>
              <a:buChar char="▪"/>
            </a:pPr>
            <a:r>
              <a:rPr lang="en-US" sz="2400" dirty="0">
                <a:solidFill>
                  <a:srgbClr val="C3C0C0"/>
                </a:solidFill>
                <a:latin typeface="Times New Roman"/>
                <a:ea typeface="Times New Roman"/>
                <a:cs typeface="Times New Roman"/>
                <a:sym typeface="Times New Roman"/>
              </a:rPr>
              <a:t>Experimental Results</a:t>
            </a:r>
            <a:endParaRPr dirty="0"/>
          </a:p>
          <a:p>
            <a:pPr marL="182880" lvl="0" indent="-205740" algn="l" rtl="0">
              <a:lnSpc>
                <a:spcPct val="100000"/>
              </a:lnSpc>
              <a:spcBef>
                <a:spcPts val="1200"/>
              </a:spcBef>
              <a:spcAft>
                <a:spcPts val="0"/>
              </a:spcAft>
              <a:buSzPts val="2400"/>
              <a:buChar char="▪"/>
            </a:pPr>
            <a:r>
              <a:rPr lang="en-US" sz="2400" dirty="0">
                <a:solidFill>
                  <a:srgbClr val="C3C0C0"/>
                </a:solidFill>
                <a:latin typeface="Times New Roman"/>
                <a:ea typeface="Times New Roman"/>
                <a:cs typeface="Times New Roman"/>
                <a:sym typeface="Times New Roman"/>
              </a:rPr>
              <a:t>Analysis and Comparison</a:t>
            </a:r>
            <a:endParaRPr dirty="0"/>
          </a:p>
          <a:p>
            <a:pPr marL="182880" lvl="0" indent="-205740" algn="l" rtl="0">
              <a:lnSpc>
                <a:spcPct val="100000"/>
              </a:lnSpc>
              <a:spcBef>
                <a:spcPts val="1200"/>
              </a:spcBef>
              <a:spcAft>
                <a:spcPts val="0"/>
              </a:spcAft>
              <a:buSzPts val="2400"/>
              <a:buChar char="▪"/>
            </a:pPr>
            <a:r>
              <a:rPr lang="en-US" sz="2400" dirty="0">
                <a:solidFill>
                  <a:srgbClr val="C3C0C0"/>
                </a:solidFill>
                <a:latin typeface="Times New Roman"/>
                <a:ea typeface="Times New Roman"/>
                <a:cs typeface="Times New Roman"/>
                <a:sym typeface="Times New Roman"/>
              </a:rPr>
              <a:t>Kaggle Competition Ranking</a:t>
            </a:r>
            <a:endParaRPr dirty="0"/>
          </a:p>
          <a:p>
            <a:pPr marL="182880" lvl="0" indent="-205740" algn="l" rtl="0">
              <a:lnSpc>
                <a:spcPct val="100000"/>
              </a:lnSpc>
              <a:spcBef>
                <a:spcPts val="1200"/>
              </a:spcBef>
              <a:spcAft>
                <a:spcPts val="0"/>
              </a:spcAft>
              <a:buSzPts val="2400"/>
              <a:buChar char="▪"/>
            </a:pPr>
            <a:r>
              <a:rPr lang="en-US" sz="2400" dirty="0">
                <a:solidFill>
                  <a:srgbClr val="C3C0C0"/>
                </a:solidFill>
                <a:latin typeface="Times New Roman"/>
                <a:ea typeface="Times New Roman"/>
                <a:cs typeface="Times New Roman"/>
                <a:sym typeface="Times New Roman"/>
              </a:rPr>
              <a:t>Conclusion</a:t>
            </a:r>
            <a:endParaRPr sz="2400" dirty="0">
              <a:latin typeface="Times New Roman"/>
              <a:ea typeface="Times New Roman"/>
              <a:cs typeface="Times New Roman"/>
              <a:sym typeface="Times New Roman"/>
            </a:endParaRPr>
          </a:p>
        </p:txBody>
      </p:sp>
      <p:sp>
        <p:nvSpPr>
          <p:cNvPr id="146" name="Google Shape;146;p18"/>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9"/>
          <p:cNvSpPr txBox="1">
            <a:spLocks noGrp="1"/>
          </p:cNvSpPr>
          <p:nvPr>
            <p:ph type="title"/>
          </p:nvPr>
        </p:nvSpPr>
        <p:spPr>
          <a:xfrm>
            <a:off x="1069848" y="484632"/>
            <a:ext cx="10058400" cy="1609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Times New Roman"/>
                <a:ea typeface="Times New Roman"/>
                <a:cs typeface="Times New Roman"/>
                <a:sym typeface="Times New Roman"/>
              </a:rPr>
              <a:t>LMSYS: KerasNLP Starter</a:t>
            </a:r>
            <a:endParaRPr>
              <a:latin typeface="Times New Roman"/>
              <a:ea typeface="Times New Roman"/>
              <a:cs typeface="Times New Roman"/>
              <a:sym typeface="Times New Roman"/>
            </a:endParaRPr>
          </a:p>
        </p:txBody>
      </p:sp>
      <p:sp>
        <p:nvSpPr>
          <p:cNvPr id="153" name="Google Shape;153;p19"/>
          <p:cNvSpPr txBox="1">
            <a:spLocks noGrp="1"/>
          </p:cNvSpPr>
          <p:nvPr>
            <p:ph type="sldNum" idx="12"/>
          </p:nvPr>
        </p:nvSpPr>
        <p:spPr>
          <a:xfrm>
            <a:off x="11311128" y="6272784"/>
            <a:ext cx="6402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7</a:t>
            </a:fld>
            <a:endParaRPr/>
          </a:p>
        </p:txBody>
      </p:sp>
      <p:sp>
        <p:nvSpPr>
          <p:cNvPr id="154" name="Google Shape;154;p19"/>
          <p:cNvSpPr txBox="1">
            <a:spLocks noGrp="1"/>
          </p:cNvSpPr>
          <p:nvPr>
            <p:ph type="body" idx="1"/>
          </p:nvPr>
        </p:nvSpPr>
        <p:spPr>
          <a:xfrm>
            <a:off x="1069848" y="2121408"/>
            <a:ext cx="10058400" cy="4334624"/>
          </a:xfrm>
          <a:prstGeom prst="rect">
            <a:avLst/>
          </a:prstGeom>
          <a:noFill/>
          <a:ln>
            <a:noFill/>
          </a:ln>
        </p:spPr>
        <p:txBody>
          <a:bodyPr spcFirstLastPara="1" wrap="square" lIns="91425" tIns="45700" rIns="91425" bIns="45700" anchor="t" anchorCtr="0">
            <a:normAutofit fontScale="92500" lnSpcReduction="10000"/>
          </a:bodyPr>
          <a:lstStyle/>
          <a:p>
            <a:pPr marL="182880" lvl="0" indent="-208280" algn="just" rtl="0">
              <a:lnSpc>
                <a:spcPct val="90000"/>
              </a:lnSpc>
              <a:spcBef>
                <a:spcPts val="0"/>
              </a:spcBef>
              <a:spcAft>
                <a:spcPts val="0"/>
              </a:spcAft>
              <a:buSzPts val="2440"/>
              <a:buChar char="▪"/>
            </a:pPr>
            <a:r>
              <a:rPr lang="en-US" sz="2400" dirty="0">
                <a:latin typeface="Times New Roman"/>
                <a:ea typeface="Times New Roman"/>
                <a:cs typeface="Times New Roman"/>
                <a:sym typeface="Times New Roman"/>
              </a:rPr>
              <a:t> </a:t>
            </a:r>
            <a:r>
              <a:rPr lang="en-US" sz="2600" dirty="0">
                <a:latin typeface="Times New Roman"/>
                <a:ea typeface="Times New Roman"/>
                <a:cs typeface="Times New Roman"/>
                <a:sym typeface="Times New Roman"/>
              </a:rPr>
              <a:t>This approach focuses on fine-tuning the DebertaV3 model for the task.</a:t>
            </a:r>
            <a:endParaRPr sz="2600" dirty="0"/>
          </a:p>
          <a:p>
            <a:pPr marL="182880" lvl="0" indent="-208280" algn="just" rtl="0">
              <a:lnSpc>
                <a:spcPct val="100000"/>
              </a:lnSpc>
              <a:spcBef>
                <a:spcPts val="1200"/>
              </a:spcBef>
              <a:spcAft>
                <a:spcPts val="0"/>
              </a:spcAft>
              <a:buSzPts val="2440"/>
              <a:buChar char="▪"/>
            </a:pPr>
            <a:r>
              <a:rPr lang="en-US" sz="2600" dirty="0">
                <a:latin typeface="Times New Roman"/>
                <a:ea typeface="Times New Roman"/>
                <a:cs typeface="Times New Roman"/>
                <a:sym typeface="Times New Roman"/>
              </a:rPr>
              <a:t> It utilizes the Shared Weight strategy, akin to training Multiple Choice Question (MCQ) models.</a:t>
            </a:r>
            <a:endParaRPr sz="2600" dirty="0"/>
          </a:p>
          <a:p>
            <a:pPr marL="182880" lvl="0" indent="-208280" algn="just" rtl="0">
              <a:lnSpc>
                <a:spcPct val="90000"/>
              </a:lnSpc>
              <a:spcBef>
                <a:spcPts val="1200"/>
              </a:spcBef>
              <a:spcAft>
                <a:spcPts val="0"/>
              </a:spcAft>
              <a:buSzPts val="2440"/>
              <a:buChar char="▪"/>
            </a:pPr>
            <a:r>
              <a:rPr lang="en-US" sz="2600" dirty="0">
                <a:latin typeface="Times New Roman"/>
                <a:ea typeface="Times New Roman"/>
                <a:cs typeface="Times New Roman"/>
                <a:sym typeface="Times New Roman"/>
              </a:rPr>
              <a:t> </a:t>
            </a:r>
            <a:r>
              <a:rPr lang="en-US" sz="2600" dirty="0" err="1">
                <a:latin typeface="Times New Roman"/>
                <a:ea typeface="Times New Roman"/>
                <a:cs typeface="Times New Roman"/>
                <a:sym typeface="Times New Roman"/>
              </a:rPr>
              <a:t>KerasNLP</a:t>
            </a:r>
            <a:r>
              <a:rPr lang="en-US" sz="2600" dirty="0">
                <a:latin typeface="Times New Roman"/>
                <a:ea typeface="Times New Roman"/>
                <a:cs typeface="Times New Roman"/>
                <a:sym typeface="Times New Roman"/>
              </a:rPr>
              <a:t> is the framework used for this fine-tuning process.</a:t>
            </a:r>
            <a:endParaRPr sz="2600" dirty="0"/>
          </a:p>
          <a:p>
            <a:pPr marL="182880" lvl="0" indent="-208280" algn="just" rtl="0">
              <a:lnSpc>
                <a:spcPct val="90000"/>
              </a:lnSpc>
              <a:spcBef>
                <a:spcPts val="1200"/>
              </a:spcBef>
              <a:spcAft>
                <a:spcPts val="0"/>
              </a:spcAft>
              <a:buSzPts val="2440"/>
              <a:buChar char="▪"/>
            </a:pPr>
            <a:r>
              <a:rPr lang="en-US" sz="2600" dirty="0">
                <a:latin typeface="Times New Roman"/>
                <a:ea typeface="Times New Roman"/>
                <a:cs typeface="Times New Roman"/>
                <a:sym typeface="Times New Roman"/>
              </a:rPr>
              <a:t> Mixed precision will be employed to enhance training and inference speed.</a:t>
            </a:r>
            <a:endParaRPr sz="2600" dirty="0">
              <a:latin typeface="Times New Roman"/>
              <a:ea typeface="Times New Roman"/>
              <a:cs typeface="Times New Roman"/>
              <a:sym typeface="Times New Roman"/>
            </a:endParaRPr>
          </a:p>
          <a:p>
            <a:pPr marL="0" lvl="0" indent="0" algn="just" rtl="0">
              <a:lnSpc>
                <a:spcPct val="90000"/>
              </a:lnSpc>
              <a:spcBef>
                <a:spcPts val="1200"/>
              </a:spcBef>
              <a:spcAft>
                <a:spcPts val="0"/>
              </a:spcAft>
              <a:buNone/>
            </a:pPr>
            <a:endParaRPr sz="2400" dirty="0">
              <a:latin typeface="Times New Roman"/>
              <a:ea typeface="Times New Roman"/>
              <a:cs typeface="Times New Roman"/>
              <a:sym typeface="Times New Roman"/>
            </a:endParaRPr>
          </a:p>
          <a:p>
            <a:pPr marL="0" lvl="0" indent="0" algn="just" rtl="0">
              <a:lnSpc>
                <a:spcPct val="90000"/>
              </a:lnSpc>
              <a:spcBef>
                <a:spcPts val="1200"/>
              </a:spcBef>
              <a:spcAft>
                <a:spcPts val="0"/>
              </a:spcAft>
              <a:buNone/>
            </a:pPr>
            <a:r>
              <a:rPr lang="en-US" sz="2600" b="1" dirty="0">
                <a:solidFill>
                  <a:srgbClr val="FF0000"/>
                </a:solidFill>
                <a:latin typeface="Times New Roman"/>
                <a:ea typeface="Times New Roman"/>
                <a:cs typeface="Times New Roman"/>
                <a:sym typeface="Times New Roman"/>
              </a:rPr>
              <a:t>Key Point:</a:t>
            </a:r>
            <a:r>
              <a:rPr lang="en-US" sz="2600" dirty="0">
                <a:latin typeface="Times New Roman"/>
                <a:ea typeface="Times New Roman"/>
                <a:cs typeface="Times New Roman"/>
                <a:sym typeface="Times New Roman"/>
              </a:rPr>
              <a:t> </a:t>
            </a:r>
            <a:r>
              <a:rPr lang="en-US" sz="2600" b="1" dirty="0">
                <a:latin typeface="Times New Roman"/>
                <a:ea typeface="Times New Roman"/>
                <a:cs typeface="Times New Roman"/>
                <a:sym typeface="Times New Roman"/>
              </a:rPr>
              <a:t>Contextualize the Response with the Prompt</a:t>
            </a:r>
            <a:endParaRPr sz="2600" b="1" dirty="0">
              <a:latin typeface="Times New Roman"/>
              <a:ea typeface="Times New Roman"/>
              <a:cs typeface="Times New Roman"/>
              <a:sym typeface="Times New Roman"/>
            </a:endParaRPr>
          </a:p>
          <a:p>
            <a:pPr marL="457200" lvl="0" indent="-381000" algn="just" rtl="0">
              <a:lnSpc>
                <a:spcPct val="90000"/>
              </a:lnSpc>
              <a:spcBef>
                <a:spcPts val="1200"/>
              </a:spcBef>
              <a:spcAft>
                <a:spcPts val="0"/>
              </a:spcAft>
              <a:buSzPts val="2400"/>
              <a:buFont typeface="Times New Roman"/>
              <a:buChar char="▪"/>
            </a:pPr>
            <a:r>
              <a:rPr lang="en-US" sz="2600" dirty="0">
                <a:latin typeface="Times New Roman"/>
                <a:ea typeface="Times New Roman"/>
                <a:cs typeface="Times New Roman"/>
                <a:sym typeface="Times New Roman"/>
              </a:rPr>
              <a:t>This means that for each response, the model will be provided with the same set of prompts along with their respective responses.</a:t>
            </a:r>
            <a:endParaRPr sz="2600" dirty="0">
              <a:latin typeface="Times New Roman"/>
              <a:ea typeface="Times New Roman"/>
              <a:cs typeface="Times New Roman"/>
              <a:sym typeface="Times New Roman"/>
            </a:endParaRPr>
          </a:p>
          <a:p>
            <a:pPr marL="457200" lvl="0" indent="0" algn="just" rtl="0">
              <a:lnSpc>
                <a:spcPct val="90000"/>
              </a:lnSpc>
              <a:spcBef>
                <a:spcPts val="1200"/>
              </a:spcBef>
              <a:spcAft>
                <a:spcPts val="0"/>
              </a:spcAft>
              <a:buNone/>
            </a:pPr>
            <a:r>
              <a:rPr lang="en-US" sz="2600" dirty="0">
                <a:latin typeface="Times New Roman"/>
                <a:ea typeface="Times New Roman"/>
                <a:cs typeface="Times New Roman"/>
                <a:sym typeface="Times New Roman"/>
              </a:rPr>
              <a:t>e.g., </a:t>
            </a:r>
            <a:r>
              <a:rPr lang="en-US" sz="2600" b="1" dirty="0">
                <a:solidFill>
                  <a:srgbClr val="1155CC"/>
                </a:solidFill>
                <a:latin typeface="Times New Roman"/>
                <a:ea typeface="Times New Roman"/>
                <a:cs typeface="Times New Roman"/>
                <a:sym typeface="Times New Roman"/>
              </a:rPr>
              <a:t>(P + R_A), (P + R_B)</a:t>
            </a:r>
            <a:r>
              <a:rPr lang="en-US" sz="2600" dirty="0">
                <a:latin typeface="Times New Roman"/>
                <a:ea typeface="Times New Roman"/>
                <a:cs typeface="Times New Roman"/>
                <a:sym typeface="Times New Roman"/>
              </a:rPr>
              <a:t>, etc.</a:t>
            </a:r>
            <a:endParaRPr sz="2600"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1069848" y="484632"/>
            <a:ext cx="10058400" cy="1609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Times New Roman"/>
                <a:ea typeface="Times New Roman"/>
                <a:cs typeface="Times New Roman"/>
                <a:sym typeface="Times New Roman"/>
              </a:rPr>
              <a:t>Predicting Chatbot Response Preferences with LLMs</a:t>
            </a:r>
            <a:endParaRPr>
              <a:latin typeface="Times New Roman"/>
              <a:ea typeface="Times New Roman"/>
              <a:cs typeface="Times New Roman"/>
              <a:sym typeface="Times New Roman"/>
            </a:endParaRPr>
          </a:p>
        </p:txBody>
      </p:sp>
      <p:sp>
        <p:nvSpPr>
          <p:cNvPr id="161" name="Google Shape;161;p20"/>
          <p:cNvSpPr txBox="1">
            <a:spLocks noGrp="1"/>
          </p:cNvSpPr>
          <p:nvPr>
            <p:ph type="sldNum" idx="12"/>
          </p:nvPr>
        </p:nvSpPr>
        <p:spPr>
          <a:xfrm>
            <a:off x="11311128" y="6272784"/>
            <a:ext cx="6402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8</a:t>
            </a:fld>
            <a:endParaRPr/>
          </a:p>
        </p:txBody>
      </p:sp>
      <p:sp>
        <p:nvSpPr>
          <p:cNvPr id="162" name="Google Shape;162;p20"/>
          <p:cNvSpPr txBox="1">
            <a:spLocks noGrp="1"/>
          </p:cNvSpPr>
          <p:nvPr>
            <p:ph type="body" idx="1"/>
          </p:nvPr>
        </p:nvSpPr>
        <p:spPr>
          <a:xfrm>
            <a:off x="1069848" y="2528258"/>
            <a:ext cx="10058400" cy="4050900"/>
          </a:xfrm>
          <a:prstGeom prst="rect">
            <a:avLst/>
          </a:prstGeom>
          <a:noFill/>
          <a:ln>
            <a:noFill/>
          </a:ln>
        </p:spPr>
        <p:txBody>
          <a:bodyPr spcFirstLastPara="1" wrap="square" lIns="91425" tIns="45700" rIns="91425" bIns="45700" anchor="t" anchorCtr="0">
            <a:normAutofit/>
          </a:bodyPr>
          <a:lstStyle/>
          <a:p>
            <a:pPr marL="182880" lvl="0" indent="-208280" algn="just" rtl="0">
              <a:lnSpc>
                <a:spcPct val="115000"/>
              </a:lnSpc>
              <a:spcBef>
                <a:spcPts val="0"/>
              </a:spcBef>
              <a:spcAft>
                <a:spcPts val="0"/>
              </a:spcAft>
              <a:buSzPts val="2440"/>
              <a:buChar char="▪"/>
            </a:pPr>
            <a:r>
              <a:rPr lang="en-US" sz="2400" dirty="0">
                <a:latin typeface="Times New Roman"/>
                <a:ea typeface="Times New Roman"/>
                <a:cs typeface="Times New Roman"/>
                <a:sym typeface="Times New Roman"/>
              </a:rPr>
              <a:t> Apply Term Frequency-Inverse Document Frequency(TF-IDF) transformation to convert text into numerical form for feature extraction.</a:t>
            </a:r>
            <a:endParaRPr sz="2400" dirty="0">
              <a:latin typeface="Times New Roman"/>
              <a:ea typeface="Times New Roman"/>
              <a:cs typeface="Times New Roman"/>
              <a:sym typeface="Times New Roman"/>
            </a:endParaRPr>
          </a:p>
          <a:p>
            <a:pPr marL="182880" lvl="0" indent="-208280" algn="just" rtl="0">
              <a:lnSpc>
                <a:spcPct val="115000"/>
              </a:lnSpc>
              <a:spcBef>
                <a:spcPts val="0"/>
              </a:spcBef>
              <a:spcAft>
                <a:spcPts val="0"/>
              </a:spcAft>
              <a:buSzPts val="2440"/>
              <a:buChar char="▪"/>
            </a:pPr>
            <a:r>
              <a:rPr lang="en-US" sz="2400" dirty="0">
                <a:latin typeface="Times New Roman"/>
                <a:ea typeface="Times New Roman"/>
                <a:cs typeface="Times New Roman"/>
                <a:sym typeface="Times New Roman"/>
              </a:rPr>
              <a:t> Chose Logistic Regression for multiclass classification.</a:t>
            </a:r>
            <a:endParaRPr sz="2400" dirty="0">
              <a:latin typeface="Times New Roman"/>
              <a:ea typeface="Times New Roman"/>
              <a:cs typeface="Times New Roman"/>
              <a:sym typeface="Times New Roman"/>
            </a:endParaRPr>
          </a:p>
          <a:p>
            <a:pPr marL="182880" lvl="0" indent="-208280" algn="just" rtl="0">
              <a:lnSpc>
                <a:spcPct val="115000"/>
              </a:lnSpc>
              <a:spcBef>
                <a:spcPts val="0"/>
              </a:spcBef>
              <a:spcAft>
                <a:spcPts val="0"/>
              </a:spcAft>
              <a:buSzPts val="2440"/>
              <a:buChar char="▪"/>
            </a:pPr>
            <a:r>
              <a:rPr lang="en-US" sz="2400" dirty="0">
                <a:latin typeface="Times New Roman"/>
                <a:ea typeface="Times New Roman"/>
                <a:cs typeface="Times New Roman"/>
                <a:sym typeface="Times New Roman"/>
              </a:rPr>
              <a:t> Use Log Loss to evaluate model performance.</a:t>
            </a:r>
            <a:endParaRPr sz="2400" dirty="0">
              <a:latin typeface="Times New Roman"/>
              <a:ea typeface="Times New Roman"/>
              <a:cs typeface="Times New Roman"/>
              <a:sym typeface="Times New Roman"/>
            </a:endParaRPr>
          </a:p>
          <a:p>
            <a:pPr marL="0" lvl="0" indent="0" algn="just" rtl="0">
              <a:lnSpc>
                <a:spcPct val="90000"/>
              </a:lnSpc>
              <a:spcBef>
                <a:spcPts val="1200"/>
              </a:spcBef>
              <a:spcAft>
                <a:spcPts val="0"/>
              </a:spcAft>
              <a:buNone/>
            </a:pPr>
            <a:endParaRPr sz="2400" dirty="0">
              <a:latin typeface="Times New Roman"/>
              <a:ea typeface="Times New Roman"/>
              <a:cs typeface="Times New Roman"/>
              <a:sym typeface="Times New Roman"/>
            </a:endParaRPr>
          </a:p>
          <a:p>
            <a:pPr marL="0" lvl="0" indent="0" algn="just" rtl="0">
              <a:lnSpc>
                <a:spcPct val="90000"/>
              </a:lnSpc>
              <a:spcBef>
                <a:spcPts val="1200"/>
              </a:spcBef>
              <a:spcAft>
                <a:spcPts val="0"/>
              </a:spcAft>
              <a:buNone/>
            </a:pPr>
            <a:r>
              <a:rPr lang="en-US" sz="2400" b="1" dirty="0">
                <a:solidFill>
                  <a:srgbClr val="FF0000"/>
                </a:solidFill>
                <a:latin typeface="Times New Roman"/>
                <a:ea typeface="Times New Roman"/>
                <a:cs typeface="Times New Roman"/>
                <a:sym typeface="Times New Roman"/>
              </a:rPr>
              <a:t>Key Point:</a:t>
            </a:r>
            <a:r>
              <a:rPr lang="en-US" sz="2400" dirty="0">
                <a:latin typeface="Times New Roman"/>
                <a:ea typeface="Times New Roman"/>
                <a:cs typeface="Times New Roman"/>
                <a:sym typeface="Times New Roman"/>
              </a:rPr>
              <a:t> </a:t>
            </a:r>
            <a:r>
              <a:rPr lang="en-US" sz="2400" b="1" dirty="0">
                <a:latin typeface="Times New Roman"/>
                <a:ea typeface="Times New Roman"/>
                <a:cs typeface="Times New Roman"/>
                <a:sym typeface="Times New Roman"/>
              </a:rPr>
              <a:t>Contextualize the Response with the Prompt</a:t>
            </a:r>
            <a:endParaRPr sz="2400" b="1" dirty="0">
              <a:latin typeface="Times New Roman"/>
              <a:ea typeface="Times New Roman"/>
              <a:cs typeface="Times New Roman"/>
              <a:sym typeface="Times New Roman"/>
            </a:endParaRPr>
          </a:p>
          <a:p>
            <a:pPr marL="457200" lvl="0" indent="-381000" algn="just" rtl="0">
              <a:lnSpc>
                <a:spcPct val="90000"/>
              </a:lnSpc>
              <a:spcBef>
                <a:spcPts val="1200"/>
              </a:spcBef>
              <a:spcAft>
                <a:spcPts val="0"/>
              </a:spcAft>
              <a:buSzPts val="2400"/>
              <a:buFont typeface="Times New Roman"/>
              <a:buChar char="▪"/>
            </a:pPr>
            <a:r>
              <a:rPr lang="en-US" sz="2400" dirty="0">
                <a:latin typeface="Times New Roman"/>
                <a:ea typeface="Times New Roman"/>
                <a:cs typeface="Times New Roman"/>
                <a:sym typeface="Times New Roman"/>
              </a:rPr>
              <a:t>This means that for each response, the model will be provided with the same set of prompts along with their respective responses.</a:t>
            </a:r>
            <a:endParaRPr sz="2400" dirty="0">
              <a:latin typeface="Times New Roman"/>
              <a:ea typeface="Times New Roman"/>
              <a:cs typeface="Times New Roman"/>
              <a:sym typeface="Times New Roman"/>
            </a:endParaRPr>
          </a:p>
          <a:p>
            <a:pPr marL="457200" lvl="0" indent="0" algn="just" rtl="0">
              <a:lnSpc>
                <a:spcPct val="90000"/>
              </a:lnSpc>
              <a:spcBef>
                <a:spcPts val="1200"/>
              </a:spcBef>
              <a:spcAft>
                <a:spcPts val="0"/>
              </a:spcAft>
              <a:buNone/>
            </a:pPr>
            <a:r>
              <a:rPr lang="en-US" sz="2400" dirty="0">
                <a:latin typeface="Times New Roman"/>
                <a:ea typeface="Times New Roman"/>
                <a:cs typeface="Times New Roman"/>
                <a:sym typeface="Times New Roman"/>
              </a:rPr>
              <a:t>e.g., </a:t>
            </a:r>
            <a:r>
              <a:rPr lang="en-US" sz="2400" b="1" dirty="0">
                <a:solidFill>
                  <a:srgbClr val="1155CC"/>
                </a:solidFill>
                <a:latin typeface="Times New Roman"/>
                <a:ea typeface="Times New Roman"/>
                <a:cs typeface="Times New Roman"/>
                <a:sym typeface="Times New Roman"/>
              </a:rPr>
              <a:t>(P + R_A), (P + R_B)</a:t>
            </a:r>
            <a:r>
              <a:rPr lang="en-US" sz="2400" dirty="0">
                <a:latin typeface="Times New Roman"/>
                <a:ea typeface="Times New Roman"/>
                <a:cs typeface="Times New Roman"/>
                <a:sym typeface="Times New Roman"/>
              </a:rPr>
              <a:t>, etc.</a:t>
            </a:r>
            <a:endParaRPr sz="2400"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latin typeface="Times New Roman"/>
                <a:ea typeface="Times New Roman"/>
                <a:cs typeface="Times New Roman"/>
                <a:sym typeface="Times New Roman"/>
              </a:rPr>
              <a:t>Baseline Method Framework</a:t>
            </a:r>
            <a:endParaRPr>
              <a:latin typeface="Times New Roman"/>
              <a:ea typeface="Times New Roman"/>
              <a:cs typeface="Times New Roman"/>
              <a:sym typeface="Times New Roman"/>
            </a:endParaRPr>
          </a:p>
        </p:txBody>
      </p:sp>
      <p:sp>
        <p:nvSpPr>
          <p:cNvPr id="168" name="Google Shape;168;p21"/>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9</a:t>
            </a:fld>
            <a:endParaRPr/>
          </a:p>
        </p:txBody>
      </p:sp>
      <p:pic>
        <p:nvPicPr>
          <p:cNvPr id="169" name="Google Shape;169;p21"/>
          <p:cNvPicPr preferRelativeResize="0"/>
          <p:nvPr/>
        </p:nvPicPr>
        <p:blipFill>
          <a:blip r:embed="rId3">
            <a:alphaModFix/>
          </a:blip>
          <a:stretch>
            <a:fillRect/>
          </a:stretch>
        </p:blipFill>
        <p:spPr>
          <a:xfrm>
            <a:off x="207825" y="2387701"/>
            <a:ext cx="11782425" cy="2286000"/>
          </a:xfrm>
          <a:prstGeom prst="rect">
            <a:avLst/>
          </a:prstGeom>
          <a:noFill/>
          <a:ln>
            <a:noFill/>
          </a:ln>
        </p:spPr>
      </p:pic>
      <p:sp>
        <p:nvSpPr>
          <p:cNvPr id="170" name="Google Shape;170;p21"/>
          <p:cNvSpPr txBox="1">
            <a:spLocks noGrp="1"/>
          </p:cNvSpPr>
          <p:nvPr>
            <p:ph type="body" idx="1"/>
          </p:nvPr>
        </p:nvSpPr>
        <p:spPr>
          <a:xfrm>
            <a:off x="1066800" y="5358674"/>
            <a:ext cx="10058400" cy="914100"/>
          </a:xfrm>
          <a:prstGeom prst="rect">
            <a:avLst/>
          </a:prstGeom>
          <a:noFill/>
          <a:ln>
            <a:noFill/>
          </a:ln>
        </p:spPr>
        <p:txBody>
          <a:bodyPr spcFirstLastPara="1" wrap="square" lIns="91425" tIns="45700" rIns="91425" bIns="45700" anchor="t" anchorCtr="0">
            <a:normAutofit lnSpcReduction="10000"/>
          </a:bodyPr>
          <a:lstStyle/>
          <a:p>
            <a:pPr marL="182880" lvl="0" indent="-208280" algn="l" rtl="0">
              <a:lnSpc>
                <a:spcPct val="100000"/>
              </a:lnSpc>
              <a:spcBef>
                <a:spcPts val="1200"/>
              </a:spcBef>
              <a:spcAft>
                <a:spcPts val="0"/>
              </a:spcAft>
              <a:buSzPts val="2440"/>
              <a:buFont typeface="Times New Roman"/>
              <a:buChar char="▪"/>
            </a:pPr>
            <a:r>
              <a:rPr lang="en-US" sz="2400" dirty="0">
                <a:latin typeface="Times New Roman"/>
                <a:ea typeface="Times New Roman"/>
                <a:cs typeface="Times New Roman"/>
                <a:sym typeface="Times New Roman"/>
              </a:rPr>
              <a:t>Please note that the same model used for all responses employs shared weights, in contrast to the distinct models proposed in the diagram.</a:t>
            </a:r>
            <a:endParaRPr sz="2800" dirty="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5400"/>
              <a:buFont typeface="Times New Roman"/>
              <a:buNone/>
            </a:pPr>
            <a:r>
              <a:rPr lang="en-US">
                <a:solidFill>
                  <a:schemeClr val="dk1"/>
                </a:solidFill>
                <a:latin typeface="Times New Roman"/>
                <a:ea typeface="Times New Roman"/>
                <a:cs typeface="Times New Roman"/>
                <a:sym typeface="Times New Roman"/>
              </a:rPr>
              <a:t>Outline</a:t>
            </a:r>
            <a:endParaRPr>
              <a:latin typeface="Times New Roman"/>
              <a:ea typeface="Times New Roman"/>
              <a:cs typeface="Times New Roman"/>
              <a:sym typeface="Times New Roman"/>
            </a:endParaRPr>
          </a:p>
        </p:txBody>
      </p:sp>
      <p:sp>
        <p:nvSpPr>
          <p:cNvPr id="176" name="Google Shape;176;p22"/>
          <p:cNvSpPr txBox="1">
            <a:spLocks noGrp="1"/>
          </p:cNvSpPr>
          <p:nvPr>
            <p:ph type="body" idx="1"/>
          </p:nvPr>
        </p:nvSpPr>
        <p:spPr>
          <a:xfrm>
            <a:off x="1069848" y="2121408"/>
            <a:ext cx="10058400" cy="4050900"/>
          </a:xfrm>
          <a:prstGeom prst="rect">
            <a:avLst/>
          </a:prstGeom>
          <a:noFill/>
          <a:ln>
            <a:noFill/>
          </a:ln>
        </p:spPr>
        <p:txBody>
          <a:bodyPr spcFirstLastPara="1" wrap="square" lIns="91425" tIns="45700" rIns="91425" bIns="45700" anchor="t" anchorCtr="0">
            <a:normAutofit/>
          </a:bodyPr>
          <a:lstStyle/>
          <a:p>
            <a:pPr marL="182880" lvl="0" indent="-205740" algn="l" rtl="0">
              <a:lnSpc>
                <a:spcPct val="100000"/>
              </a:lnSpc>
              <a:spcBef>
                <a:spcPts val="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Introduction</a:t>
            </a:r>
            <a:endParaRPr dirty="0">
              <a:solidFill>
                <a:srgbClr val="C3C0C0"/>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Reference Codes</a:t>
            </a:r>
            <a:endParaRPr dirty="0"/>
          </a:p>
          <a:p>
            <a:pPr marL="182880" lvl="0" indent="-205740" algn="l" rtl="0">
              <a:lnSpc>
                <a:spcPct val="100000"/>
              </a:lnSpc>
              <a:spcBef>
                <a:spcPts val="1200"/>
              </a:spcBef>
              <a:spcAft>
                <a:spcPts val="0"/>
              </a:spcAft>
              <a:buClr>
                <a:srgbClr val="9E3611"/>
              </a:buClr>
              <a:buSzPts val="2400"/>
              <a:buChar char="▪"/>
            </a:pPr>
            <a:r>
              <a:rPr lang="en-US" sz="2400" dirty="0">
                <a:solidFill>
                  <a:srgbClr val="202124"/>
                </a:solidFill>
                <a:latin typeface="Times New Roman"/>
                <a:ea typeface="Times New Roman"/>
                <a:cs typeface="Times New Roman"/>
                <a:sym typeface="Times New Roman"/>
              </a:rPr>
              <a:t>Our Proposed Methods</a:t>
            </a:r>
            <a:endParaRPr dirty="0">
              <a:solidFill>
                <a:srgbClr val="202124"/>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Experimental Results</a:t>
            </a:r>
            <a:endParaRPr dirty="0"/>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Analysis and Comparison</a:t>
            </a:r>
            <a:endParaRPr dirty="0"/>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Kaggle Competition Ranking</a:t>
            </a:r>
            <a:endParaRPr dirty="0"/>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Conclusion</a:t>
            </a:r>
            <a:endParaRPr sz="2400" dirty="0">
              <a:latin typeface="Times New Roman"/>
              <a:ea typeface="Times New Roman"/>
              <a:cs typeface="Times New Roman"/>
              <a:sym typeface="Times New Roman"/>
            </a:endParaRPr>
          </a:p>
        </p:txBody>
      </p:sp>
      <p:sp>
        <p:nvSpPr>
          <p:cNvPr id="177" name="Google Shape;177;p22"/>
          <p:cNvSpPr txBox="1">
            <a:spLocks noGrp="1"/>
          </p:cNvSpPr>
          <p:nvPr>
            <p:ph type="sldNum" idx="12"/>
          </p:nvPr>
        </p:nvSpPr>
        <p:spPr>
          <a:xfrm>
            <a:off x="11311128" y="6272784"/>
            <a:ext cx="6402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8"/>
          <p:cNvSpPr txBox="1">
            <a:spLocks noGrp="1"/>
          </p:cNvSpPr>
          <p:nvPr>
            <p:ph type="title"/>
          </p:nvPr>
        </p:nvSpPr>
        <p:spPr>
          <a:xfrm>
            <a:off x="1069848" y="484632"/>
            <a:ext cx="10058400" cy="1609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Pre-Trained Model-</a:t>
            </a:r>
            <a:r>
              <a:rPr lang="en-US" dirty="0" err="1">
                <a:solidFill>
                  <a:srgbClr val="1155CC"/>
                </a:solidFill>
                <a:latin typeface="Times New Roman"/>
                <a:ea typeface="Times New Roman"/>
                <a:cs typeface="Times New Roman"/>
                <a:sym typeface="Times New Roman"/>
              </a:rPr>
              <a:t>TinyBERT</a:t>
            </a:r>
            <a:endParaRPr dirty="0">
              <a:solidFill>
                <a:srgbClr val="1155CC"/>
              </a:solidFill>
              <a:latin typeface="Times New Roman"/>
              <a:ea typeface="Times New Roman"/>
              <a:cs typeface="Times New Roman"/>
              <a:sym typeface="Times New Roman"/>
            </a:endParaRPr>
          </a:p>
        </p:txBody>
      </p:sp>
      <p:sp>
        <p:nvSpPr>
          <p:cNvPr id="244" name="Google Shape;244;p28"/>
          <p:cNvSpPr txBox="1">
            <a:spLocks noGrp="1"/>
          </p:cNvSpPr>
          <p:nvPr>
            <p:ph type="body" idx="1"/>
          </p:nvPr>
        </p:nvSpPr>
        <p:spPr>
          <a:xfrm>
            <a:off x="1069848" y="2121408"/>
            <a:ext cx="10058400" cy="4050900"/>
          </a:xfrm>
          <a:prstGeom prst="rect">
            <a:avLst/>
          </a:prstGeom>
        </p:spPr>
        <p:txBody>
          <a:bodyPr spcFirstLastPara="1" wrap="square" lIns="91425" tIns="45700" rIns="91425" bIns="45700" anchor="t" anchorCtr="0">
            <a:normAutofit/>
          </a:bodyPr>
          <a:lstStyle/>
          <a:p>
            <a:pPr marL="457200" lvl="0" indent="-382905" algn="just" rtl="0">
              <a:lnSpc>
                <a:spcPct val="115000"/>
              </a:lnSpc>
              <a:spcBef>
                <a:spcPts val="1200"/>
              </a:spcBef>
              <a:spcAft>
                <a:spcPts val="0"/>
              </a:spcAft>
              <a:buSzPts val="2430"/>
              <a:buFont typeface="Times New Roman"/>
              <a:buChar char="▪"/>
            </a:pPr>
            <a:r>
              <a:rPr lang="en-US" sz="2400" dirty="0" err="1">
                <a:latin typeface="Times New Roman"/>
                <a:ea typeface="Times New Roman"/>
                <a:cs typeface="Times New Roman"/>
                <a:sym typeface="Times New Roman"/>
              </a:rPr>
              <a:t>TinyBERT</a:t>
            </a:r>
            <a:r>
              <a:rPr lang="en-US" sz="2400" dirty="0">
                <a:latin typeface="Times New Roman"/>
                <a:ea typeface="Times New Roman"/>
                <a:cs typeface="Times New Roman"/>
                <a:sym typeface="Times New Roman"/>
              </a:rPr>
              <a:t> is a compact version of BERT, being 7.5 times smaller and </a:t>
            </a:r>
            <a:r>
              <a:rPr lang="en-US" sz="2400" b="1" dirty="0">
                <a:solidFill>
                  <a:srgbClr val="FF0000"/>
                </a:solidFill>
                <a:latin typeface="Times New Roman"/>
                <a:ea typeface="Times New Roman"/>
                <a:cs typeface="Times New Roman"/>
                <a:sym typeface="Times New Roman"/>
              </a:rPr>
              <a:t>9.4 times faster in inference</a:t>
            </a:r>
            <a:r>
              <a:rPr lang="en-US" sz="2400" dirty="0">
                <a:latin typeface="Times New Roman"/>
                <a:ea typeface="Times New Roman"/>
                <a:cs typeface="Times New Roman"/>
                <a:sym typeface="Times New Roman"/>
              </a:rPr>
              <a:t>.</a:t>
            </a:r>
            <a:endParaRPr sz="2400" dirty="0">
              <a:latin typeface="Times New Roman"/>
              <a:ea typeface="Times New Roman"/>
              <a:cs typeface="Times New Roman"/>
              <a:sym typeface="Times New Roman"/>
            </a:endParaRPr>
          </a:p>
          <a:p>
            <a:pPr marL="457200" lvl="0" indent="-382905" algn="just" rtl="0">
              <a:lnSpc>
                <a:spcPct val="115000"/>
              </a:lnSpc>
              <a:spcBef>
                <a:spcPts val="0"/>
              </a:spcBef>
              <a:spcAft>
                <a:spcPts val="0"/>
              </a:spcAft>
              <a:buSzPts val="2430"/>
              <a:buFont typeface="Times New Roman"/>
              <a:buChar char="▪"/>
            </a:pPr>
            <a:r>
              <a:rPr lang="en-US" sz="2400" dirty="0">
                <a:latin typeface="Times New Roman"/>
                <a:ea typeface="Times New Roman"/>
                <a:cs typeface="Times New Roman"/>
                <a:sym typeface="Times New Roman"/>
              </a:rPr>
              <a:t>The model employs a novel transformer distillation process during both pre-training and task-specific learning stages.</a:t>
            </a:r>
            <a:endParaRPr sz="2400" dirty="0">
              <a:latin typeface="Times New Roman"/>
              <a:ea typeface="Times New Roman"/>
              <a:cs typeface="Times New Roman"/>
              <a:sym typeface="Times New Roman"/>
            </a:endParaRPr>
          </a:p>
          <a:p>
            <a:pPr marL="457200" lvl="0" indent="-382905" algn="just" rtl="0">
              <a:lnSpc>
                <a:spcPct val="115000"/>
              </a:lnSpc>
              <a:spcBef>
                <a:spcPts val="0"/>
              </a:spcBef>
              <a:spcAft>
                <a:spcPts val="0"/>
              </a:spcAft>
              <a:buSzPts val="2430"/>
              <a:buFont typeface="Times New Roman"/>
              <a:buChar char="▪"/>
            </a:pPr>
            <a:r>
              <a:rPr lang="en-US" sz="2400" dirty="0">
                <a:latin typeface="Times New Roman"/>
                <a:ea typeface="Times New Roman"/>
                <a:cs typeface="Times New Roman"/>
                <a:sym typeface="Times New Roman"/>
              </a:rPr>
              <a:t>The original BERT-base model is used as the teacher without fine-tuning.</a:t>
            </a:r>
            <a:endParaRPr sz="2400" dirty="0">
              <a:latin typeface="Times New Roman"/>
              <a:ea typeface="Times New Roman"/>
              <a:cs typeface="Times New Roman"/>
              <a:sym typeface="Times New Roman"/>
            </a:endParaRPr>
          </a:p>
          <a:p>
            <a:pPr marL="457200" lvl="0" indent="-382905" algn="just" rtl="0">
              <a:lnSpc>
                <a:spcPct val="115000"/>
              </a:lnSpc>
              <a:spcBef>
                <a:spcPts val="0"/>
              </a:spcBef>
              <a:spcAft>
                <a:spcPts val="0"/>
              </a:spcAft>
              <a:buSzPts val="2430"/>
              <a:buFont typeface="Times New Roman"/>
              <a:buChar char="▪"/>
            </a:pPr>
            <a:r>
              <a:rPr lang="en-US" sz="2400" dirty="0">
                <a:latin typeface="Times New Roman"/>
                <a:ea typeface="Times New Roman"/>
                <a:cs typeface="Times New Roman"/>
                <a:sym typeface="Times New Roman"/>
              </a:rPr>
              <a:t>A large-scale text corpus serves as the learning data for the distillation process.</a:t>
            </a:r>
            <a:endParaRPr sz="2400" dirty="0">
              <a:latin typeface="Times New Roman"/>
              <a:ea typeface="Times New Roman"/>
              <a:cs typeface="Times New Roman"/>
              <a:sym typeface="Times New Roman"/>
            </a:endParaRPr>
          </a:p>
          <a:p>
            <a:pPr marL="457200" lvl="0" indent="-382905" algn="just" rtl="0">
              <a:lnSpc>
                <a:spcPct val="115000"/>
              </a:lnSpc>
              <a:spcBef>
                <a:spcPts val="0"/>
              </a:spcBef>
              <a:spcAft>
                <a:spcPts val="0"/>
              </a:spcAft>
              <a:buSzPts val="2430"/>
              <a:buFont typeface="Times New Roman"/>
              <a:buChar char="▪"/>
            </a:pPr>
            <a:r>
              <a:rPr lang="en-US" sz="2400" dirty="0">
                <a:latin typeface="Times New Roman"/>
                <a:ea typeface="Times New Roman"/>
                <a:cs typeface="Times New Roman"/>
                <a:sym typeface="Times New Roman"/>
              </a:rPr>
              <a:t>General </a:t>
            </a:r>
            <a:r>
              <a:rPr lang="en-US" sz="2400" dirty="0" err="1">
                <a:latin typeface="Times New Roman"/>
                <a:ea typeface="Times New Roman"/>
                <a:cs typeface="Times New Roman"/>
                <a:sym typeface="Times New Roman"/>
              </a:rPr>
              <a:t>TinyBERT</a:t>
            </a:r>
            <a:r>
              <a:rPr lang="en-US" sz="2400" dirty="0">
                <a:latin typeface="Times New Roman"/>
                <a:ea typeface="Times New Roman"/>
                <a:cs typeface="Times New Roman"/>
                <a:sym typeface="Times New Roman"/>
              </a:rPr>
              <a:t> is created through transformer distillation on general domain text, providing a solid foundation for task-specific distillation.</a:t>
            </a:r>
            <a:endParaRPr sz="2400" dirty="0">
              <a:latin typeface="Times New Roman"/>
              <a:ea typeface="Times New Roman"/>
              <a:cs typeface="Times New Roman"/>
              <a:sym typeface="Times New Roman"/>
            </a:endParaRPr>
          </a:p>
        </p:txBody>
      </p:sp>
      <p:sp>
        <p:nvSpPr>
          <p:cNvPr id="245" name="Google Shape;245;p28"/>
          <p:cNvSpPr txBox="1">
            <a:spLocks noGrp="1"/>
          </p:cNvSpPr>
          <p:nvPr>
            <p:ph type="sldNum" idx="12"/>
          </p:nvPr>
        </p:nvSpPr>
        <p:spPr>
          <a:xfrm>
            <a:off x="11311128" y="6272784"/>
            <a:ext cx="6402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3"/>
          <p:cNvSpPr txBox="1">
            <a:spLocks noGrp="1"/>
          </p:cNvSpPr>
          <p:nvPr>
            <p:ph type="title"/>
          </p:nvPr>
        </p:nvSpPr>
        <p:spPr>
          <a:xfrm>
            <a:off x="1069848" y="484632"/>
            <a:ext cx="10058400" cy="1609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Data Preprocessing</a:t>
            </a:r>
            <a:endParaRPr dirty="0">
              <a:latin typeface="Times New Roman"/>
              <a:ea typeface="Times New Roman"/>
              <a:cs typeface="Times New Roman"/>
              <a:sym typeface="Times New Roman"/>
            </a:endParaRPr>
          </a:p>
        </p:txBody>
      </p:sp>
      <p:sp>
        <p:nvSpPr>
          <p:cNvPr id="184" name="Google Shape;184;p23"/>
          <p:cNvSpPr txBox="1">
            <a:spLocks noGrp="1"/>
          </p:cNvSpPr>
          <p:nvPr>
            <p:ph type="body" idx="1"/>
          </p:nvPr>
        </p:nvSpPr>
        <p:spPr>
          <a:xfrm>
            <a:off x="1069850" y="2121399"/>
            <a:ext cx="10058400" cy="4516500"/>
          </a:xfrm>
          <a:prstGeom prst="rect">
            <a:avLst/>
          </a:prstGeom>
        </p:spPr>
        <p:txBody>
          <a:bodyPr spcFirstLastPara="1" wrap="square" lIns="91425" tIns="45700" rIns="91425" bIns="45700" anchor="t" anchorCtr="0">
            <a:normAutofit/>
          </a:bodyPr>
          <a:lstStyle/>
          <a:p>
            <a:pPr marL="457200" lvl="0" indent="-382905" algn="l" rtl="0">
              <a:spcBef>
                <a:spcPts val="1200"/>
              </a:spcBef>
              <a:spcAft>
                <a:spcPts val="0"/>
              </a:spcAft>
              <a:buSzPts val="2430"/>
              <a:buFont typeface="Times New Roman"/>
              <a:buChar char="▪"/>
            </a:pPr>
            <a:r>
              <a:rPr lang="en-US" sz="2400" b="1" dirty="0">
                <a:latin typeface="Times New Roman"/>
                <a:ea typeface="Times New Roman"/>
                <a:cs typeface="Times New Roman"/>
                <a:sym typeface="Times New Roman"/>
              </a:rPr>
              <a:t>Split</a:t>
            </a:r>
            <a:endParaRPr sz="2400" b="1" dirty="0">
              <a:latin typeface="Times New Roman"/>
              <a:ea typeface="Times New Roman"/>
              <a:cs typeface="Times New Roman"/>
              <a:sym typeface="Times New Roman"/>
            </a:endParaRPr>
          </a:p>
          <a:p>
            <a:pPr marL="457200" lvl="0" indent="0" algn="l" rtl="0">
              <a:spcBef>
                <a:spcPts val="1200"/>
              </a:spcBef>
              <a:spcAft>
                <a:spcPts val="0"/>
              </a:spcAft>
              <a:buNone/>
            </a:pPr>
            <a:r>
              <a:rPr lang="en-US" sz="2400" dirty="0">
                <a:latin typeface="Times New Roman"/>
                <a:ea typeface="Times New Roman"/>
                <a:cs typeface="Times New Roman"/>
                <a:sym typeface="Times New Roman"/>
              </a:rPr>
              <a:t>Training Set: </a:t>
            </a:r>
            <a:r>
              <a:rPr lang="en-US" sz="2400" b="1" dirty="0">
                <a:solidFill>
                  <a:srgbClr val="1155CC"/>
                </a:solidFill>
                <a:latin typeface="Times New Roman"/>
                <a:ea typeface="Times New Roman"/>
                <a:cs typeface="Times New Roman"/>
                <a:sym typeface="Times New Roman"/>
              </a:rPr>
              <a:t>90%</a:t>
            </a:r>
            <a:r>
              <a:rPr lang="en-US" sz="2400" dirty="0">
                <a:latin typeface="Times New Roman"/>
                <a:ea typeface="Times New Roman"/>
                <a:cs typeface="Times New Roman"/>
                <a:sym typeface="Times New Roman"/>
              </a:rPr>
              <a:t> rows</a:t>
            </a:r>
            <a:endParaRPr sz="2400" dirty="0">
              <a:latin typeface="Times New Roman"/>
              <a:ea typeface="Times New Roman"/>
              <a:cs typeface="Times New Roman"/>
              <a:sym typeface="Times New Roman"/>
            </a:endParaRPr>
          </a:p>
          <a:p>
            <a:pPr marL="457200" lvl="0" indent="0" algn="l" rtl="0">
              <a:spcBef>
                <a:spcPts val="1200"/>
              </a:spcBef>
              <a:spcAft>
                <a:spcPts val="0"/>
              </a:spcAft>
              <a:buNone/>
            </a:pPr>
            <a:r>
              <a:rPr lang="en-US" sz="2400" dirty="0">
                <a:latin typeface="Times New Roman"/>
                <a:ea typeface="Times New Roman"/>
                <a:cs typeface="Times New Roman"/>
                <a:sym typeface="Times New Roman"/>
              </a:rPr>
              <a:t>Validation Set: </a:t>
            </a:r>
            <a:r>
              <a:rPr lang="en-US" sz="2400" b="1" dirty="0">
                <a:solidFill>
                  <a:srgbClr val="1155CC"/>
                </a:solidFill>
                <a:latin typeface="Times New Roman"/>
                <a:ea typeface="Times New Roman"/>
                <a:cs typeface="Times New Roman"/>
                <a:sym typeface="Times New Roman"/>
              </a:rPr>
              <a:t>10%</a:t>
            </a:r>
            <a:r>
              <a:rPr lang="en-US" sz="2400" dirty="0">
                <a:latin typeface="Times New Roman"/>
                <a:ea typeface="Times New Roman"/>
                <a:cs typeface="Times New Roman"/>
                <a:sym typeface="Times New Roman"/>
              </a:rPr>
              <a:t> rows</a:t>
            </a:r>
            <a:endParaRPr sz="2400" dirty="0">
              <a:latin typeface="Times New Roman"/>
              <a:ea typeface="Times New Roman"/>
              <a:cs typeface="Times New Roman"/>
              <a:sym typeface="Times New Roman"/>
            </a:endParaRPr>
          </a:p>
          <a:p>
            <a:pPr marL="457200" lvl="0" indent="-381000" algn="l" rtl="0">
              <a:spcBef>
                <a:spcPts val="1200"/>
              </a:spcBef>
              <a:spcAft>
                <a:spcPts val="0"/>
              </a:spcAft>
              <a:buSzPts val="2400"/>
              <a:buFont typeface="Times New Roman"/>
              <a:buChar char="▪"/>
            </a:pPr>
            <a:r>
              <a:rPr lang="en-US" sz="2400" b="1" dirty="0">
                <a:latin typeface="Times New Roman"/>
                <a:ea typeface="Times New Roman"/>
                <a:cs typeface="Times New Roman"/>
                <a:sym typeface="Times New Roman"/>
              </a:rPr>
              <a:t>Tokenization (</a:t>
            </a:r>
            <a:r>
              <a:rPr lang="en-US" sz="2400" b="1" dirty="0" err="1">
                <a:latin typeface="Times New Roman"/>
                <a:ea typeface="Times New Roman"/>
                <a:cs typeface="Times New Roman"/>
                <a:sym typeface="Times New Roman"/>
              </a:rPr>
              <a:t>TinyBERT</a:t>
            </a:r>
            <a:r>
              <a:rPr lang="en-US" sz="2400" b="1" dirty="0">
                <a:latin typeface="Times New Roman"/>
                <a:ea typeface="Times New Roman"/>
                <a:cs typeface="Times New Roman"/>
                <a:sym typeface="Times New Roman"/>
              </a:rPr>
              <a:t> Tokenizer)</a:t>
            </a:r>
            <a:endParaRPr sz="2400" b="1" dirty="0">
              <a:latin typeface="Times New Roman"/>
              <a:ea typeface="Times New Roman"/>
              <a:cs typeface="Times New Roman"/>
              <a:sym typeface="Times New Roman"/>
            </a:endParaRPr>
          </a:p>
          <a:p>
            <a:pPr marL="0" lvl="0" indent="0" algn="l" rtl="0">
              <a:spcBef>
                <a:spcPts val="1200"/>
              </a:spcBef>
              <a:spcAft>
                <a:spcPts val="0"/>
              </a:spcAft>
              <a:buNone/>
            </a:pPr>
            <a:r>
              <a:rPr lang="en-US" sz="2400" b="1" dirty="0">
                <a:latin typeface="Times New Roman"/>
                <a:ea typeface="Times New Roman"/>
                <a:cs typeface="Times New Roman"/>
                <a:sym typeface="Times New Roman"/>
              </a:rPr>
              <a:t>      </a:t>
            </a:r>
            <a:r>
              <a:rPr lang="en-US" sz="2400" dirty="0">
                <a:latin typeface="Times New Roman"/>
                <a:ea typeface="Times New Roman"/>
                <a:cs typeface="Times New Roman"/>
                <a:sym typeface="Times New Roman"/>
              </a:rPr>
              <a:t>Transform input strings into a dictionary that contains two components:</a:t>
            </a:r>
            <a:endParaRPr sz="2400" dirty="0">
              <a:latin typeface="Times New Roman"/>
              <a:ea typeface="Times New Roman"/>
              <a:cs typeface="Times New Roman"/>
              <a:sym typeface="Times New Roman"/>
            </a:endParaRPr>
          </a:p>
          <a:p>
            <a:pPr marL="0" lvl="0" indent="0" algn="l" rtl="0">
              <a:spcBef>
                <a:spcPts val="1200"/>
              </a:spcBef>
              <a:spcAft>
                <a:spcPts val="0"/>
              </a:spcAft>
              <a:buNone/>
            </a:pPr>
            <a:r>
              <a:rPr lang="en-US" sz="2400" dirty="0">
                <a:latin typeface="Times New Roman"/>
                <a:ea typeface="Times New Roman"/>
                <a:cs typeface="Times New Roman"/>
                <a:sym typeface="Times New Roman"/>
              </a:rPr>
              <a:t>      </a:t>
            </a:r>
            <a:r>
              <a:rPr lang="en-US" sz="2400" b="1" dirty="0">
                <a:solidFill>
                  <a:srgbClr val="FF0000"/>
                </a:solidFill>
                <a:latin typeface="Times New Roman"/>
                <a:ea typeface="Times New Roman"/>
                <a:cs typeface="Times New Roman"/>
                <a:sym typeface="Times New Roman"/>
              </a:rPr>
              <a:t>`</a:t>
            </a:r>
            <a:r>
              <a:rPr lang="en-US" sz="2400" b="1" dirty="0" err="1">
                <a:solidFill>
                  <a:srgbClr val="FF0000"/>
                </a:solidFill>
                <a:latin typeface="Times New Roman"/>
                <a:ea typeface="Times New Roman"/>
                <a:cs typeface="Times New Roman"/>
                <a:sym typeface="Times New Roman"/>
              </a:rPr>
              <a:t>token_ids</a:t>
            </a:r>
            <a:r>
              <a:rPr lang="en-US" sz="2400" b="1" dirty="0">
                <a:solidFill>
                  <a:srgbClr val="FF0000"/>
                </a:solidFill>
                <a:latin typeface="Times New Roman"/>
                <a:ea typeface="Times New Roman"/>
                <a:cs typeface="Times New Roman"/>
                <a:sym typeface="Times New Roman"/>
              </a:rPr>
              <a:t>`</a:t>
            </a:r>
            <a:r>
              <a:rPr lang="en-US" sz="2400" dirty="0">
                <a:latin typeface="Times New Roman"/>
                <a:ea typeface="Times New Roman"/>
                <a:cs typeface="Times New Roman"/>
                <a:sym typeface="Times New Roman"/>
              </a:rPr>
              <a:t> and </a:t>
            </a:r>
            <a:r>
              <a:rPr lang="en-US" sz="2400" b="1" dirty="0">
                <a:solidFill>
                  <a:srgbClr val="FF0000"/>
                </a:solidFill>
                <a:latin typeface="Times New Roman"/>
                <a:ea typeface="Times New Roman"/>
                <a:cs typeface="Times New Roman"/>
                <a:sym typeface="Times New Roman"/>
              </a:rPr>
              <a:t>`</a:t>
            </a:r>
            <a:r>
              <a:rPr lang="en-US" sz="2400" b="1" dirty="0" err="1">
                <a:solidFill>
                  <a:srgbClr val="FF0000"/>
                </a:solidFill>
                <a:latin typeface="Times New Roman"/>
                <a:ea typeface="Times New Roman"/>
                <a:cs typeface="Times New Roman"/>
                <a:sym typeface="Times New Roman"/>
              </a:rPr>
              <a:t>padding_mask</a:t>
            </a:r>
            <a:r>
              <a:rPr lang="en-US" sz="2400" b="1" dirty="0">
                <a:solidFill>
                  <a:srgbClr val="FF0000"/>
                </a:solidFill>
                <a:latin typeface="Times New Roman"/>
                <a:ea typeface="Times New Roman"/>
                <a:cs typeface="Times New Roman"/>
                <a:sym typeface="Times New Roman"/>
              </a:rPr>
              <a:t>`</a:t>
            </a:r>
            <a:r>
              <a:rPr lang="en-US" sz="2400" dirty="0">
                <a:latin typeface="Times New Roman"/>
                <a:ea typeface="Times New Roman"/>
                <a:cs typeface="Times New Roman"/>
                <a:sym typeface="Times New Roman"/>
              </a:rPr>
              <a:t>.</a:t>
            </a:r>
            <a:endParaRPr sz="2400" dirty="0">
              <a:latin typeface="Times New Roman"/>
              <a:ea typeface="Times New Roman"/>
              <a:cs typeface="Times New Roman"/>
              <a:sym typeface="Times New Roman"/>
            </a:endParaRPr>
          </a:p>
          <a:p>
            <a:pPr marL="457200" lvl="0" indent="-381000" algn="l" rtl="0">
              <a:spcBef>
                <a:spcPts val="1200"/>
              </a:spcBef>
              <a:spcAft>
                <a:spcPts val="0"/>
              </a:spcAft>
              <a:buSzPts val="2400"/>
              <a:buFont typeface="Times New Roman"/>
              <a:buChar char="▪"/>
            </a:pPr>
            <a:r>
              <a:rPr lang="en-US" sz="2400" b="1" dirty="0" err="1">
                <a:latin typeface="Times New Roman"/>
                <a:ea typeface="Times New Roman"/>
                <a:cs typeface="Times New Roman"/>
                <a:sym typeface="Times New Roman"/>
              </a:rPr>
              <a:t>DataLoader</a:t>
            </a:r>
            <a:endParaRPr sz="2400" b="1" dirty="0">
              <a:latin typeface="Times New Roman"/>
              <a:ea typeface="Times New Roman"/>
              <a:cs typeface="Times New Roman"/>
              <a:sym typeface="Times New Roman"/>
            </a:endParaRPr>
          </a:p>
          <a:p>
            <a:pPr marL="0" lvl="0" indent="0" algn="l" rtl="0">
              <a:spcBef>
                <a:spcPts val="1200"/>
              </a:spcBef>
              <a:spcAft>
                <a:spcPts val="0"/>
              </a:spcAft>
              <a:buNone/>
            </a:pPr>
            <a:r>
              <a:rPr lang="en-US" sz="2400" b="1" dirty="0">
                <a:latin typeface="Times New Roman"/>
                <a:ea typeface="Times New Roman"/>
                <a:cs typeface="Times New Roman"/>
                <a:sym typeface="Times New Roman"/>
              </a:rPr>
              <a:t>      </a:t>
            </a:r>
            <a:r>
              <a:rPr lang="en-US" sz="2400" b="1" dirty="0">
                <a:solidFill>
                  <a:srgbClr val="1155CC"/>
                </a:solidFill>
                <a:latin typeface="Times New Roman"/>
                <a:ea typeface="Times New Roman"/>
                <a:cs typeface="Times New Roman"/>
                <a:sym typeface="Times New Roman"/>
              </a:rPr>
              <a:t>Batch size</a:t>
            </a:r>
            <a:r>
              <a:rPr lang="en-US" sz="2400" dirty="0">
                <a:latin typeface="Times New Roman"/>
                <a:ea typeface="Times New Roman"/>
                <a:cs typeface="Times New Roman"/>
                <a:sym typeface="Times New Roman"/>
              </a:rPr>
              <a:t> for training and validation sets is </a:t>
            </a:r>
            <a:r>
              <a:rPr lang="en-US" sz="2400" b="1" dirty="0">
                <a:solidFill>
                  <a:srgbClr val="1155CC"/>
                </a:solidFill>
                <a:latin typeface="Times New Roman"/>
                <a:ea typeface="Times New Roman"/>
                <a:cs typeface="Times New Roman"/>
                <a:sym typeface="Times New Roman"/>
              </a:rPr>
              <a:t>16</a:t>
            </a:r>
            <a:r>
              <a:rPr lang="en-US" sz="2400" dirty="0">
                <a:latin typeface="Times New Roman"/>
                <a:ea typeface="Times New Roman"/>
                <a:cs typeface="Times New Roman"/>
                <a:sym typeface="Times New Roman"/>
              </a:rPr>
              <a:t>.</a:t>
            </a:r>
            <a:endParaRPr sz="2400" dirty="0">
              <a:latin typeface="Times New Roman"/>
              <a:ea typeface="Times New Roman"/>
              <a:cs typeface="Times New Roman"/>
              <a:sym typeface="Times New Roman"/>
            </a:endParaRPr>
          </a:p>
          <a:p>
            <a:pPr marL="0" lvl="0" indent="0" algn="l" rtl="0">
              <a:spcBef>
                <a:spcPts val="1200"/>
              </a:spcBef>
              <a:spcAft>
                <a:spcPts val="0"/>
              </a:spcAft>
              <a:buNone/>
            </a:pPr>
            <a:r>
              <a:rPr lang="en-US" sz="2400" b="1" dirty="0">
                <a:latin typeface="Times New Roman"/>
                <a:ea typeface="Times New Roman"/>
                <a:cs typeface="Times New Roman"/>
                <a:sym typeface="Times New Roman"/>
              </a:rPr>
              <a:t>      </a:t>
            </a:r>
            <a:endParaRPr sz="2400" b="1" dirty="0">
              <a:latin typeface="Times New Roman"/>
              <a:ea typeface="Times New Roman"/>
              <a:cs typeface="Times New Roman"/>
              <a:sym typeface="Times New Roman"/>
            </a:endParaRPr>
          </a:p>
        </p:txBody>
      </p:sp>
      <p:sp>
        <p:nvSpPr>
          <p:cNvPr id="185" name="Google Shape;185;p23"/>
          <p:cNvSpPr txBox="1">
            <a:spLocks noGrp="1"/>
          </p:cNvSpPr>
          <p:nvPr>
            <p:ph type="sldNum" idx="12"/>
          </p:nvPr>
        </p:nvSpPr>
        <p:spPr>
          <a:xfrm>
            <a:off x="11311128" y="6272784"/>
            <a:ext cx="6402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4"/>
          <p:cNvSpPr txBox="1">
            <a:spLocks noGrp="1"/>
          </p:cNvSpPr>
          <p:nvPr>
            <p:ph type="title"/>
          </p:nvPr>
        </p:nvSpPr>
        <p:spPr>
          <a:xfrm>
            <a:off x="687300" y="484625"/>
            <a:ext cx="10817400" cy="1609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Random Truncation Text Function</a:t>
            </a:r>
            <a:endParaRPr dirty="0">
              <a:latin typeface="Times New Roman"/>
              <a:ea typeface="Times New Roman"/>
              <a:cs typeface="Times New Roman"/>
              <a:sym typeface="Times New Roman"/>
            </a:endParaRPr>
          </a:p>
        </p:txBody>
      </p:sp>
      <p:sp>
        <p:nvSpPr>
          <p:cNvPr id="192" name="Google Shape;192;p24"/>
          <p:cNvSpPr txBox="1">
            <a:spLocks noGrp="1"/>
          </p:cNvSpPr>
          <p:nvPr>
            <p:ph type="body" idx="1"/>
          </p:nvPr>
        </p:nvSpPr>
        <p:spPr>
          <a:xfrm>
            <a:off x="209950" y="2093825"/>
            <a:ext cx="5622900" cy="4472400"/>
          </a:xfrm>
          <a:prstGeom prst="rect">
            <a:avLst/>
          </a:prstGeom>
        </p:spPr>
        <p:txBody>
          <a:bodyPr spcFirstLastPara="1" wrap="square" lIns="91425" tIns="45700" rIns="91425" bIns="45700" anchor="t" anchorCtr="0">
            <a:normAutofit fontScale="85000" lnSpcReduction="10000"/>
          </a:bodyPr>
          <a:lstStyle/>
          <a:p>
            <a:pPr marL="457200" lvl="0" indent="-355441" algn="just" rtl="0">
              <a:lnSpc>
                <a:spcPct val="115000"/>
              </a:lnSpc>
              <a:spcBef>
                <a:spcPts val="1200"/>
              </a:spcBef>
              <a:spcAft>
                <a:spcPts val="0"/>
              </a:spcAft>
              <a:buSzPct val="97916"/>
              <a:buFont typeface="Times New Roman"/>
              <a:buChar char="▪"/>
            </a:pPr>
            <a:r>
              <a:rPr lang="en-US" sz="2400" b="1" dirty="0">
                <a:latin typeface="Times New Roman"/>
                <a:ea typeface="Times New Roman"/>
                <a:cs typeface="Times New Roman"/>
                <a:sym typeface="Times New Roman"/>
              </a:rPr>
              <a:t>Input:</a:t>
            </a:r>
            <a:r>
              <a:rPr lang="en-US" sz="2400" dirty="0">
                <a:latin typeface="Times New Roman"/>
                <a:ea typeface="Times New Roman"/>
                <a:cs typeface="Times New Roman"/>
                <a:sym typeface="Times New Roman"/>
              </a:rPr>
              <a:t> A </a:t>
            </a:r>
            <a:r>
              <a:rPr lang="en-US" sz="2400" b="1" dirty="0">
                <a:solidFill>
                  <a:srgbClr val="FF0000"/>
                </a:solidFill>
                <a:latin typeface="Times New Roman"/>
                <a:ea typeface="Times New Roman"/>
                <a:cs typeface="Times New Roman"/>
                <a:sym typeface="Times New Roman"/>
              </a:rPr>
              <a:t>text (prompt or response)</a:t>
            </a:r>
            <a:r>
              <a:rPr lang="en-US" sz="2400" dirty="0">
                <a:latin typeface="Times New Roman"/>
                <a:ea typeface="Times New Roman"/>
                <a:cs typeface="Times New Roman"/>
                <a:sym typeface="Times New Roman"/>
              </a:rPr>
              <a:t> along with a specified maximum length for the text.</a:t>
            </a:r>
            <a:endParaRPr sz="2400" dirty="0">
              <a:latin typeface="Times New Roman"/>
              <a:ea typeface="Times New Roman"/>
              <a:cs typeface="Times New Roman"/>
              <a:sym typeface="Times New Roman"/>
            </a:endParaRPr>
          </a:p>
          <a:p>
            <a:pPr marL="457200" lvl="0" indent="-355441" algn="just" rtl="0">
              <a:lnSpc>
                <a:spcPct val="115000"/>
              </a:lnSpc>
              <a:spcBef>
                <a:spcPts val="0"/>
              </a:spcBef>
              <a:spcAft>
                <a:spcPts val="0"/>
              </a:spcAft>
              <a:buSzPct val="97916"/>
              <a:buFont typeface="Times New Roman"/>
              <a:buChar char="▪"/>
            </a:pPr>
            <a:r>
              <a:rPr lang="en-US" sz="2400" b="1" dirty="0">
                <a:latin typeface="Times New Roman"/>
                <a:ea typeface="Times New Roman"/>
                <a:cs typeface="Times New Roman"/>
                <a:sym typeface="Times New Roman"/>
              </a:rPr>
              <a:t>Operation:</a:t>
            </a:r>
            <a:r>
              <a:rPr lang="en-US" sz="2400" dirty="0">
                <a:latin typeface="Times New Roman"/>
                <a:ea typeface="Times New Roman"/>
                <a:cs typeface="Times New Roman"/>
                <a:sym typeface="Times New Roman"/>
              </a:rPr>
              <a:t> Randomly truncates the text by:</a:t>
            </a:r>
            <a:endParaRPr sz="2400" dirty="0">
              <a:latin typeface="Times New Roman"/>
              <a:ea typeface="Times New Roman"/>
              <a:cs typeface="Times New Roman"/>
              <a:sym typeface="Times New Roman"/>
            </a:endParaRPr>
          </a:p>
          <a:p>
            <a:pPr marL="457200" lvl="0" indent="0" algn="just" rtl="0">
              <a:lnSpc>
                <a:spcPct val="115000"/>
              </a:lnSpc>
              <a:spcBef>
                <a:spcPts val="1200"/>
              </a:spcBef>
              <a:spcAft>
                <a:spcPts val="0"/>
              </a:spcAft>
              <a:buNone/>
            </a:pPr>
            <a:r>
              <a:rPr lang="en-US" sz="2400" b="1" dirty="0">
                <a:latin typeface="Times New Roman"/>
                <a:ea typeface="Times New Roman"/>
                <a:cs typeface="Times New Roman"/>
                <a:sym typeface="Times New Roman"/>
              </a:rPr>
              <a:t>Step 1.</a:t>
            </a:r>
            <a:r>
              <a:rPr lang="en-US" sz="2400" dirty="0">
                <a:latin typeface="Times New Roman"/>
                <a:ea typeface="Times New Roman"/>
                <a:cs typeface="Times New Roman"/>
                <a:sym typeface="Times New Roman"/>
              </a:rPr>
              <a:t> Divide the text into individual words.</a:t>
            </a:r>
            <a:endParaRPr sz="2400" dirty="0">
              <a:latin typeface="Times New Roman"/>
              <a:ea typeface="Times New Roman"/>
              <a:cs typeface="Times New Roman"/>
              <a:sym typeface="Times New Roman"/>
            </a:endParaRPr>
          </a:p>
          <a:p>
            <a:pPr marL="457200" lvl="0" indent="0" algn="just" rtl="0">
              <a:lnSpc>
                <a:spcPct val="115000"/>
              </a:lnSpc>
              <a:spcBef>
                <a:spcPts val="1200"/>
              </a:spcBef>
              <a:spcAft>
                <a:spcPts val="0"/>
              </a:spcAft>
              <a:buNone/>
            </a:pPr>
            <a:r>
              <a:rPr lang="en-US" sz="2400" b="1" dirty="0">
                <a:latin typeface="Times New Roman"/>
                <a:ea typeface="Times New Roman"/>
                <a:cs typeface="Times New Roman"/>
                <a:sym typeface="Times New Roman"/>
              </a:rPr>
              <a:t>Step 2. </a:t>
            </a:r>
            <a:r>
              <a:rPr lang="en-US" sz="2400" dirty="0">
                <a:latin typeface="Times New Roman"/>
                <a:ea typeface="Times New Roman"/>
                <a:cs typeface="Times New Roman"/>
                <a:sym typeface="Times New Roman"/>
              </a:rPr>
              <a:t>Ensure that </a:t>
            </a:r>
            <a:r>
              <a:rPr lang="en-US" sz="2400" b="1" dirty="0">
                <a:solidFill>
                  <a:srgbClr val="1155CC"/>
                </a:solidFill>
                <a:latin typeface="Times New Roman"/>
                <a:ea typeface="Times New Roman"/>
                <a:cs typeface="Times New Roman"/>
                <a:sym typeface="Times New Roman"/>
              </a:rPr>
              <a:t>the text does not exceed the maximum length</a:t>
            </a:r>
            <a:r>
              <a:rPr lang="en-US" sz="2400" dirty="0">
                <a:latin typeface="Times New Roman"/>
                <a:ea typeface="Times New Roman"/>
                <a:cs typeface="Times New Roman"/>
                <a:sym typeface="Times New Roman"/>
              </a:rPr>
              <a:t>.</a:t>
            </a:r>
            <a:endParaRPr sz="2400" dirty="0">
              <a:latin typeface="Times New Roman"/>
              <a:ea typeface="Times New Roman"/>
              <a:cs typeface="Times New Roman"/>
              <a:sym typeface="Times New Roman"/>
            </a:endParaRPr>
          </a:p>
          <a:p>
            <a:pPr marL="457200" lvl="0" indent="0" algn="just" rtl="0">
              <a:lnSpc>
                <a:spcPct val="115000"/>
              </a:lnSpc>
              <a:spcBef>
                <a:spcPts val="1200"/>
              </a:spcBef>
              <a:spcAft>
                <a:spcPts val="0"/>
              </a:spcAft>
              <a:buNone/>
            </a:pPr>
            <a:r>
              <a:rPr lang="en-US" sz="2400" b="1" dirty="0">
                <a:latin typeface="Times New Roman"/>
                <a:ea typeface="Times New Roman"/>
                <a:cs typeface="Times New Roman"/>
                <a:sym typeface="Times New Roman"/>
              </a:rPr>
              <a:t>Step 3. </a:t>
            </a:r>
            <a:r>
              <a:rPr lang="en-US" sz="2400" dirty="0">
                <a:latin typeface="Times New Roman"/>
                <a:ea typeface="Times New Roman"/>
                <a:cs typeface="Times New Roman"/>
                <a:sym typeface="Times New Roman"/>
              </a:rPr>
              <a:t>Randomly select a contiguous subset of words, ensuring that it does not exceed a specified maximum length if the text is excessively long.</a:t>
            </a:r>
            <a:endParaRPr sz="2400" dirty="0">
              <a:latin typeface="Times New Roman"/>
              <a:ea typeface="Times New Roman"/>
              <a:cs typeface="Times New Roman"/>
              <a:sym typeface="Times New Roman"/>
            </a:endParaRPr>
          </a:p>
          <a:p>
            <a:pPr marL="457200" lvl="0" indent="-355441" algn="just" rtl="0">
              <a:lnSpc>
                <a:spcPct val="115000"/>
              </a:lnSpc>
              <a:spcBef>
                <a:spcPts val="1200"/>
              </a:spcBef>
              <a:spcAft>
                <a:spcPts val="0"/>
              </a:spcAft>
              <a:buSzPct val="97916"/>
              <a:buFont typeface="Times New Roman"/>
              <a:buChar char="▪"/>
            </a:pPr>
            <a:r>
              <a:rPr lang="en-US" sz="2400" b="1" dirty="0">
                <a:latin typeface="Times New Roman"/>
                <a:ea typeface="Times New Roman"/>
                <a:cs typeface="Times New Roman"/>
                <a:sym typeface="Times New Roman"/>
              </a:rPr>
              <a:t>Output: </a:t>
            </a:r>
            <a:r>
              <a:rPr lang="en-US" sz="2400" dirty="0">
                <a:latin typeface="Times New Roman"/>
                <a:ea typeface="Times New Roman"/>
                <a:cs typeface="Times New Roman"/>
                <a:sym typeface="Times New Roman"/>
              </a:rPr>
              <a:t>The truncated text.</a:t>
            </a:r>
            <a:endParaRPr sz="2400" dirty="0">
              <a:latin typeface="Times New Roman"/>
              <a:ea typeface="Times New Roman"/>
              <a:cs typeface="Times New Roman"/>
              <a:sym typeface="Times New Roman"/>
            </a:endParaRPr>
          </a:p>
        </p:txBody>
      </p:sp>
      <p:sp>
        <p:nvSpPr>
          <p:cNvPr id="193" name="Google Shape;193;p24"/>
          <p:cNvSpPr txBox="1">
            <a:spLocks noGrp="1"/>
          </p:cNvSpPr>
          <p:nvPr>
            <p:ph type="sldNum" idx="12"/>
          </p:nvPr>
        </p:nvSpPr>
        <p:spPr>
          <a:xfrm>
            <a:off x="11311128" y="6272784"/>
            <a:ext cx="6402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13</a:t>
            </a:fld>
            <a:endParaRPr/>
          </a:p>
        </p:txBody>
      </p:sp>
      <p:pic>
        <p:nvPicPr>
          <p:cNvPr id="194" name="Google Shape;194;p24"/>
          <p:cNvPicPr preferRelativeResize="0"/>
          <p:nvPr/>
        </p:nvPicPr>
        <p:blipFill>
          <a:blip r:embed="rId3">
            <a:alphaModFix/>
          </a:blip>
          <a:stretch>
            <a:fillRect/>
          </a:stretch>
        </p:blipFill>
        <p:spPr>
          <a:xfrm>
            <a:off x="5897074" y="2482257"/>
            <a:ext cx="6054250" cy="317314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5"/>
          <p:cNvSpPr txBox="1">
            <a:spLocks noGrp="1"/>
          </p:cNvSpPr>
          <p:nvPr>
            <p:ph type="title"/>
          </p:nvPr>
        </p:nvSpPr>
        <p:spPr>
          <a:xfrm>
            <a:off x="327675" y="0"/>
            <a:ext cx="11420400" cy="1609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Times New Roman"/>
                <a:ea typeface="Times New Roman"/>
                <a:cs typeface="Times New Roman"/>
                <a:sym typeface="Times New Roman"/>
              </a:rPr>
              <a:t>Random Ordering in Collation Function</a:t>
            </a:r>
            <a:endParaRPr>
              <a:latin typeface="Times New Roman"/>
              <a:ea typeface="Times New Roman"/>
              <a:cs typeface="Times New Roman"/>
              <a:sym typeface="Times New Roman"/>
            </a:endParaRPr>
          </a:p>
        </p:txBody>
      </p:sp>
      <p:sp>
        <p:nvSpPr>
          <p:cNvPr id="201" name="Google Shape;201;p25"/>
          <p:cNvSpPr txBox="1">
            <a:spLocks noGrp="1"/>
          </p:cNvSpPr>
          <p:nvPr>
            <p:ph type="body" idx="1"/>
          </p:nvPr>
        </p:nvSpPr>
        <p:spPr>
          <a:xfrm>
            <a:off x="385800" y="1403550"/>
            <a:ext cx="5519700" cy="5234400"/>
          </a:xfrm>
          <a:prstGeom prst="rect">
            <a:avLst/>
          </a:prstGeom>
        </p:spPr>
        <p:txBody>
          <a:bodyPr spcFirstLastPara="1" wrap="square" lIns="91425" tIns="45700" rIns="91425" bIns="45700" anchor="t" anchorCtr="0">
            <a:normAutofit fontScale="92500" lnSpcReduction="20000"/>
          </a:bodyPr>
          <a:lstStyle/>
          <a:p>
            <a:pPr marL="457200" lvl="0" indent="-357505" algn="just" rtl="0">
              <a:lnSpc>
                <a:spcPct val="115000"/>
              </a:lnSpc>
              <a:spcBef>
                <a:spcPts val="1200"/>
              </a:spcBef>
              <a:spcAft>
                <a:spcPts val="0"/>
              </a:spcAft>
              <a:buSzPts val="2030"/>
              <a:buChar char="▪"/>
            </a:pPr>
            <a:r>
              <a:rPr lang="en-US" b="1" dirty="0">
                <a:latin typeface="Times New Roman"/>
                <a:ea typeface="Times New Roman"/>
                <a:cs typeface="Times New Roman"/>
                <a:sym typeface="Times New Roman"/>
              </a:rPr>
              <a:t>Operation:</a:t>
            </a:r>
            <a:endParaRPr b="1" dirty="0">
              <a:latin typeface="Times New Roman"/>
              <a:ea typeface="Times New Roman"/>
              <a:cs typeface="Times New Roman"/>
              <a:sym typeface="Times New Roman"/>
            </a:endParaRPr>
          </a:p>
          <a:p>
            <a:pPr marL="457200" lvl="0" indent="0" algn="just" rtl="0">
              <a:lnSpc>
                <a:spcPct val="115000"/>
              </a:lnSpc>
              <a:spcBef>
                <a:spcPts val="1200"/>
              </a:spcBef>
              <a:spcAft>
                <a:spcPts val="0"/>
              </a:spcAft>
              <a:buNone/>
            </a:pPr>
            <a:r>
              <a:rPr lang="en-US" dirty="0">
                <a:latin typeface="Times New Roman"/>
                <a:ea typeface="Times New Roman"/>
                <a:cs typeface="Times New Roman"/>
                <a:sym typeface="Times New Roman"/>
              </a:rPr>
              <a:t>50% chance of maintaining the original order of responses.</a:t>
            </a:r>
            <a:endParaRPr dirty="0">
              <a:latin typeface="Times New Roman"/>
              <a:ea typeface="Times New Roman"/>
              <a:cs typeface="Times New Roman"/>
              <a:sym typeface="Times New Roman"/>
            </a:endParaRPr>
          </a:p>
          <a:p>
            <a:pPr marL="457200" lvl="0" indent="0" algn="just" rtl="0">
              <a:lnSpc>
                <a:spcPct val="115000"/>
              </a:lnSpc>
              <a:spcBef>
                <a:spcPts val="1200"/>
              </a:spcBef>
              <a:spcAft>
                <a:spcPts val="0"/>
              </a:spcAft>
              <a:buNone/>
            </a:pPr>
            <a:r>
              <a:rPr lang="en-US" b="1" dirty="0">
                <a:solidFill>
                  <a:srgbClr val="1155CC"/>
                </a:solidFill>
                <a:latin typeface="Times New Roman"/>
                <a:ea typeface="Times New Roman"/>
                <a:cs typeface="Times New Roman"/>
                <a:sym typeface="Times New Roman"/>
              </a:rPr>
              <a:t>50%</a:t>
            </a:r>
            <a:r>
              <a:rPr lang="en-US" b="1" dirty="0">
                <a:latin typeface="Times New Roman"/>
                <a:ea typeface="Times New Roman"/>
                <a:cs typeface="Times New Roman"/>
                <a:sym typeface="Times New Roman"/>
              </a:rPr>
              <a:t> chance of swapping the order of </a:t>
            </a:r>
            <a:r>
              <a:rPr lang="en-US" sz="2400" b="1" dirty="0">
                <a:solidFill>
                  <a:srgbClr val="FF0000"/>
                </a:solidFill>
                <a:latin typeface="Times New Roman"/>
                <a:ea typeface="Times New Roman"/>
                <a:cs typeface="Times New Roman"/>
                <a:sym typeface="Times New Roman"/>
              </a:rPr>
              <a:t>`</a:t>
            </a:r>
            <a:r>
              <a:rPr lang="en-US" b="1" dirty="0" err="1">
                <a:solidFill>
                  <a:srgbClr val="FF0000"/>
                </a:solidFill>
                <a:latin typeface="Times New Roman"/>
                <a:ea typeface="Times New Roman"/>
                <a:cs typeface="Times New Roman"/>
                <a:sym typeface="Times New Roman"/>
              </a:rPr>
              <a:t>response_a</a:t>
            </a:r>
            <a:r>
              <a:rPr lang="en-US" sz="2400" b="1" dirty="0">
                <a:solidFill>
                  <a:srgbClr val="FF0000"/>
                </a:solidFill>
                <a:latin typeface="Times New Roman"/>
                <a:ea typeface="Times New Roman"/>
                <a:cs typeface="Times New Roman"/>
                <a:sym typeface="Times New Roman"/>
              </a:rPr>
              <a:t>`</a:t>
            </a:r>
            <a:r>
              <a:rPr lang="en-US" b="1" dirty="0">
                <a:solidFill>
                  <a:srgbClr val="202124"/>
                </a:solidFill>
                <a:latin typeface="Times New Roman"/>
                <a:ea typeface="Times New Roman"/>
                <a:cs typeface="Times New Roman"/>
                <a:sym typeface="Times New Roman"/>
              </a:rPr>
              <a:t> and </a:t>
            </a:r>
            <a:r>
              <a:rPr lang="en-US" sz="2400" b="1" dirty="0">
                <a:solidFill>
                  <a:srgbClr val="FF0000"/>
                </a:solidFill>
                <a:latin typeface="Times New Roman"/>
                <a:ea typeface="Times New Roman"/>
                <a:cs typeface="Times New Roman"/>
                <a:sym typeface="Times New Roman"/>
              </a:rPr>
              <a:t>`</a:t>
            </a:r>
            <a:r>
              <a:rPr lang="en-US" b="1" dirty="0" err="1">
                <a:solidFill>
                  <a:srgbClr val="FF0000"/>
                </a:solidFill>
                <a:latin typeface="Times New Roman"/>
                <a:ea typeface="Times New Roman"/>
                <a:cs typeface="Times New Roman"/>
                <a:sym typeface="Times New Roman"/>
              </a:rPr>
              <a:t>response_b</a:t>
            </a:r>
            <a:r>
              <a:rPr lang="en-US" sz="2400" b="1" dirty="0">
                <a:solidFill>
                  <a:srgbClr val="FF0000"/>
                </a:solidFill>
                <a:latin typeface="Times New Roman"/>
                <a:ea typeface="Times New Roman"/>
                <a:cs typeface="Times New Roman"/>
                <a:sym typeface="Times New Roman"/>
              </a:rPr>
              <a:t>`</a:t>
            </a:r>
            <a:r>
              <a:rPr lang="en-US" b="1" dirty="0">
                <a:latin typeface="Times New Roman"/>
                <a:ea typeface="Times New Roman"/>
                <a:cs typeface="Times New Roman"/>
                <a:sym typeface="Times New Roman"/>
              </a:rPr>
              <a:t>, as well as flipping their corresponding labels.</a:t>
            </a:r>
            <a:endParaRPr b="1" dirty="0">
              <a:latin typeface="Times New Roman"/>
              <a:ea typeface="Times New Roman"/>
              <a:cs typeface="Times New Roman"/>
              <a:sym typeface="Times New Roman"/>
            </a:endParaRPr>
          </a:p>
          <a:p>
            <a:pPr marL="457200" lvl="0" indent="-355600" algn="just" rtl="0">
              <a:lnSpc>
                <a:spcPct val="115000"/>
              </a:lnSpc>
              <a:spcBef>
                <a:spcPts val="1200"/>
              </a:spcBef>
              <a:spcAft>
                <a:spcPts val="0"/>
              </a:spcAft>
              <a:buSzPts val="2000"/>
              <a:buFont typeface="Times New Roman"/>
              <a:buChar char="▪"/>
            </a:pPr>
            <a:r>
              <a:rPr lang="en-US" b="1" dirty="0">
                <a:latin typeface="Times New Roman"/>
                <a:ea typeface="Times New Roman"/>
                <a:cs typeface="Times New Roman"/>
                <a:sym typeface="Times New Roman"/>
              </a:rPr>
              <a:t>Labels:</a:t>
            </a:r>
            <a:endParaRPr b="1" dirty="0">
              <a:latin typeface="Times New Roman"/>
              <a:ea typeface="Times New Roman"/>
              <a:cs typeface="Times New Roman"/>
              <a:sym typeface="Times New Roman"/>
            </a:endParaRPr>
          </a:p>
          <a:p>
            <a:pPr marL="457200" lvl="0" indent="0" algn="just" rtl="0">
              <a:lnSpc>
                <a:spcPct val="115000"/>
              </a:lnSpc>
              <a:spcBef>
                <a:spcPts val="1200"/>
              </a:spcBef>
              <a:spcAft>
                <a:spcPts val="0"/>
              </a:spcAft>
              <a:buNone/>
            </a:pPr>
            <a:r>
              <a:rPr lang="en-US" dirty="0">
                <a:latin typeface="Times New Roman"/>
                <a:ea typeface="Times New Roman"/>
                <a:cs typeface="Times New Roman"/>
                <a:sym typeface="Times New Roman"/>
              </a:rPr>
              <a:t>If </a:t>
            </a:r>
            <a:r>
              <a:rPr lang="en-US" sz="2400" b="1" dirty="0">
                <a:solidFill>
                  <a:srgbClr val="202124"/>
                </a:solidFill>
                <a:latin typeface="Times New Roman"/>
                <a:ea typeface="Times New Roman"/>
                <a:cs typeface="Times New Roman"/>
                <a:sym typeface="Times New Roman"/>
              </a:rPr>
              <a:t>`</a:t>
            </a:r>
            <a:r>
              <a:rPr lang="en-US" b="1" dirty="0" err="1">
                <a:solidFill>
                  <a:srgbClr val="202124"/>
                </a:solidFill>
                <a:latin typeface="Times New Roman"/>
                <a:ea typeface="Times New Roman"/>
                <a:cs typeface="Times New Roman"/>
                <a:sym typeface="Times New Roman"/>
              </a:rPr>
              <a:t>winner_model_a</a:t>
            </a:r>
            <a:r>
              <a:rPr lang="en-US" sz="2400" b="1" dirty="0">
                <a:solidFill>
                  <a:srgbClr val="202124"/>
                </a:solidFill>
                <a:latin typeface="Times New Roman"/>
                <a:ea typeface="Times New Roman"/>
                <a:cs typeface="Times New Roman"/>
                <a:sym typeface="Times New Roman"/>
              </a:rPr>
              <a:t>`</a:t>
            </a:r>
            <a:r>
              <a:rPr lang="en-US" dirty="0">
                <a:solidFill>
                  <a:srgbClr val="202124"/>
                </a:solidFill>
                <a:latin typeface="Times New Roman"/>
                <a:ea typeface="Times New Roman"/>
                <a:cs typeface="Times New Roman"/>
                <a:sym typeface="Times New Roman"/>
              </a:rPr>
              <a:t> equals </a:t>
            </a:r>
            <a:r>
              <a:rPr lang="en-US" b="1" dirty="0">
                <a:solidFill>
                  <a:srgbClr val="202124"/>
                </a:solidFill>
                <a:latin typeface="Times New Roman"/>
                <a:ea typeface="Times New Roman"/>
                <a:cs typeface="Times New Roman"/>
                <a:sym typeface="Times New Roman"/>
              </a:rPr>
              <a:t>1</a:t>
            </a:r>
            <a:r>
              <a:rPr lang="en-US" dirty="0">
                <a:solidFill>
                  <a:srgbClr val="202124"/>
                </a:solidFill>
                <a:latin typeface="Times New Roman"/>
                <a:ea typeface="Times New Roman"/>
                <a:cs typeface="Times New Roman"/>
                <a:sym typeface="Times New Roman"/>
              </a:rPr>
              <a:t>, then the </a:t>
            </a:r>
            <a:r>
              <a:rPr lang="en-US" b="1" dirty="0">
                <a:solidFill>
                  <a:srgbClr val="202124"/>
                </a:solidFill>
                <a:latin typeface="Times New Roman"/>
                <a:ea typeface="Times New Roman"/>
                <a:cs typeface="Times New Roman"/>
                <a:sym typeface="Times New Roman"/>
              </a:rPr>
              <a:t>label</a:t>
            </a:r>
            <a:r>
              <a:rPr lang="en-US" dirty="0">
                <a:solidFill>
                  <a:srgbClr val="202124"/>
                </a:solidFill>
                <a:latin typeface="Times New Roman"/>
                <a:ea typeface="Times New Roman"/>
                <a:cs typeface="Times New Roman"/>
                <a:sym typeface="Times New Roman"/>
              </a:rPr>
              <a:t> is </a:t>
            </a:r>
            <a:r>
              <a:rPr lang="en-US" b="1" dirty="0">
                <a:solidFill>
                  <a:srgbClr val="202124"/>
                </a:solidFill>
                <a:latin typeface="Times New Roman"/>
                <a:ea typeface="Times New Roman"/>
                <a:cs typeface="Times New Roman"/>
                <a:sym typeface="Times New Roman"/>
              </a:rPr>
              <a:t>0</a:t>
            </a:r>
            <a:r>
              <a:rPr lang="en-US" dirty="0">
                <a:solidFill>
                  <a:srgbClr val="202124"/>
                </a:solidFill>
                <a:latin typeface="Times New Roman"/>
                <a:ea typeface="Times New Roman"/>
                <a:cs typeface="Times New Roman"/>
                <a:sym typeface="Times New Roman"/>
              </a:rPr>
              <a:t>, indicating that </a:t>
            </a:r>
            <a:r>
              <a:rPr lang="en-US" sz="2400" b="1" dirty="0">
                <a:solidFill>
                  <a:srgbClr val="FF0000"/>
                </a:solidFill>
                <a:latin typeface="Times New Roman"/>
                <a:ea typeface="Times New Roman"/>
                <a:cs typeface="Times New Roman"/>
                <a:sym typeface="Times New Roman"/>
              </a:rPr>
              <a:t>`</a:t>
            </a:r>
            <a:r>
              <a:rPr lang="en-US" b="1" dirty="0" err="1">
                <a:solidFill>
                  <a:srgbClr val="FF0000"/>
                </a:solidFill>
                <a:latin typeface="Times New Roman"/>
                <a:ea typeface="Times New Roman"/>
                <a:cs typeface="Times New Roman"/>
                <a:sym typeface="Times New Roman"/>
              </a:rPr>
              <a:t>response_a</a:t>
            </a:r>
            <a:r>
              <a:rPr lang="en-US" sz="2400" b="1" dirty="0">
                <a:solidFill>
                  <a:srgbClr val="FF0000"/>
                </a:solidFill>
                <a:latin typeface="Times New Roman"/>
                <a:ea typeface="Times New Roman"/>
                <a:cs typeface="Times New Roman"/>
                <a:sym typeface="Times New Roman"/>
              </a:rPr>
              <a:t>`</a:t>
            </a:r>
            <a:r>
              <a:rPr lang="en-US" dirty="0">
                <a:solidFill>
                  <a:srgbClr val="202124"/>
                </a:solidFill>
                <a:latin typeface="Times New Roman"/>
                <a:ea typeface="Times New Roman"/>
                <a:cs typeface="Times New Roman"/>
                <a:sym typeface="Times New Roman"/>
              </a:rPr>
              <a:t> is better.</a:t>
            </a:r>
            <a:endParaRPr dirty="0">
              <a:solidFill>
                <a:srgbClr val="202124"/>
              </a:solidFill>
              <a:latin typeface="Times New Roman"/>
              <a:ea typeface="Times New Roman"/>
              <a:cs typeface="Times New Roman"/>
              <a:sym typeface="Times New Roman"/>
            </a:endParaRPr>
          </a:p>
          <a:p>
            <a:pPr marL="457200" lvl="0" indent="0" algn="just" rtl="0">
              <a:lnSpc>
                <a:spcPct val="115000"/>
              </a:lnSpc>
              <a:spcBef>
                <a:spcPts val="1200"/>
              </a:spcBef>
              <a:spcAft>
                <a:spcPts val="0"/>
              </a:spcAft>
              <a:buClr>
                <a:schemeClr val="dk1"/>
              </a:buClr>
              <a:buSzPts val="1100"/>
              <a:buFont typeface="Arial"/>
              <a:buNone/>
            </a:pPr>
            <a:r>
              <a:rPr lang="en-US" dirty="0">
                <a:solidFill>
                  <a:srgbClr val="202124"/>
                </a:solidFill>
                <a:latin typeface="Times New Roman"/>
                <a:ea typeface="Times New Roman"/>
                <a:cs typeface="Times New Roman"/>
                <a:sym typeface="Times New Roman"/>
              </a:rPr>
              <a:t>If </a:t>
            </a:r>
            <a:r>
              <a:rPr lang="en-US" sz="2400" b="1" dirty="0">
                <a:solidFill>
                  <a:srgbClr val="202124"/>
                </a:solidFill>
                <a:latin typeface="Times New Roman"/>
                <a:ea typeface="Times New Roman"/>
                <a:cs typeface="Times New Roman"/>
                <a:sym typeface="Times New Roman"/>
              </a:rPr>
              <a:t>`</a:t>
            </a:r>
            <a:r>
              <a:rPr lang="en-US" b="1" dirty="0" err="1">
                <a:solidFill>
                  <a:srgbClr val="202124"/>
                </a:solidFill>
                <a:latin typeface="Times New Roman"/>
                <a:ea typeface="Times New Roman"/>
                <a:cs typeface="Times New Roman"/>
                <a:sym typeface="Times New Roman"/>
              </a:rPr>
              <a:t>winner_model_b</a:t>
            </a:r>
            <a:r>
              <a:rPr lang="en-US" sz="2400" b="1" dirty="0">
                <a:solidFill>
                  <a:srgbClr val="202124"/>
                </a:solidFill>
                <a:latin typeface="Times New Roman"/>
                <a:ea typeface="Times New Roman"/>
                <a:cs typeface="Times New Roman"/>
                <a:sym typeface="Times New Roman"/>
              </a:rPr>
              <a:t>`</a:t>
            </a:r>
            <a:r>
              <a:rPr lang="en-US" dirty="0">
                <a:solidFill>
                  <a:srgbClr val="202124"/>
                </a:solidFill>
                <a:latin typeface="Times New Roman"/>
                <a:ea typeface="Times New Roman"/>
                <a:cs typeface="Times New Roman"/>
                <a:sym typeface="Times New Roman"/>
              </a:rPr>
              <a:t> </a:t>
            </a:r>
            <a:r>
              <a:rPr lang="en-US" dirty="0">
                <a:latin typeface="Times New Roman"/>
                <a:ea typeface="Times New Roman"/>
                <a:cs typeface="Times New Roman"/>
                <a:sym typeface="Times New Roman"/>
              </a:rPr>
              <a:t>equals </a:t>
            </a:r>
            <a:r>
              <a:rPr lang="en-US" b="1" dirty="0">
                <a:latin typeface="Times New Roman"/>
                <a:ea typeface="Times New Roman"/>
                <a:cs typeface="Times New Roman"/>
                <a:sym typeface="Times New Roman"/>
              </a:rPr>
              <a:t>1</a:t>
            </a:r>
            <a:r>
              <a:rPr lang="en-US" dirty="0">
                <a:latin typeface="Times New Roman"/>
                <a:ea typeface="Times New Roman"/>
                <a:cs typeface="Times New Roman"/>
                <a:sym typeface="Times New Roman"/>
              </a:rPr>
              <a:t>, then the </a:t>
            </a:r>
            <a:r>
              <a:rPr lang="en-US" b="1" dirty="0">
                <a:latin typeface="Times New Roman"/>
                <a:ea typeface="Times New Roman"/>
                <a:cs typeface="Times New Roman"/>
                <a:sym typeface="Times New Roman"/>
              </a:rPr>
              <a:t>label</a:t>
            </a:r>
            <a:r>
              <a:rPr lang="en-US" dirty="0">
                <a:latin typeface="Times New Roman"/>
                <a:ea typeface="Times New Roman"/>
                <a:cs typeface="Times New Roman"/>
                <a:sym typeface="Times New Roman"/>
              </a:rPr>
              <a:t> is </a:t>
            </a:r>
            <a:r>
              <a:rPr lang="en-US" b="1" dirty="0">
                <a:latin typeface="Times New Roman"/>
                <a:ea typeface="Times New Roman"/>
                <a:cs typeface="Times New Roman"/>
                <a:sym typeface="Times New Roman"/>
              </a:rPr>
              <a:t>1</a:t>
            </a:r>
            <a:r>
              <a:rPr lang="en-US" dirty="0">
                <a:latin typeface="Times New Roman"/>
                <a:ea typeface="Times New Roman"/>
                <a:cs typeface="Times New Roman"/>
                <a:sym typeface="Times New Roman"/>
              </a:rPr>
              <a:t>, indicating that </a:t>
            </a:r>
            <a:r>
              <a:rPr lang="en-US" sz="2400" b="1" dirty="0">
                <a:solidFill>
                  <a:srgbClr val="FF0000"/>
                </a:solidFill>
                <a:latin typeface="Times New Roman"/>
                <a:ea typeface="Times New Roman"/>
                <a:cs typeface="Times New Roman"/>
                <a:sym typeface="Times New Roman"/>
              </a:rPr>
              <a:t>`</a:t>
            </a:r>
            <a:r>
              <a:rPr lang="en-US" b="1" dirty="0" err="1">
                <a:solidFill>
                  <a:srgbClr val="FF0000"/>
                </a:solidFill>
                <a:latin typeface="Times New Roman"/>
                <a:ea typeface="Times New Roman"/>
                <a:cs typeface="Times New Roman"/>
                <a:sym typeface="Times New Roman"/>
              </a:rPr>
              <a:t>response_b</a:t>
            </a:r>
            <a:r>
              <a:rPr lang="en-US" sz="2400" b="1" dirty="0">
                <a:solidFill>
                  <a:srgbClr val="FF0000"/>
                </a:solidFill>
                <a:latin typeface="Times New Roman"/>
                <a:ea typeface="Times New Roman"/>
                <a:cs typeface="Times New Roman"/>
                <a:sym typeface="Times New Roman"/>
              </a:rPr>
              <a:t>`</a:t>
            </a:r>
            <a:r>
              <a:rPr lang="en-US" dirty="0">
                <a:latin typeface="Times New Roman"/>
                <a:ea typeface="Times New Roman"/>
                <a:cs typeface="Times New Roman"/>
                <a:sym typeface="Times New Roman"/>
              </a:rPr>
              <a:t> is </a:t>
            </a:r>
            <a:r>
              <a:rPr lang="en-US" dirty="0">
                <a:solidFill>
                  <a:srgbClr val="202124"/>
                </a:solidFill>
                <a:latin typeface="Times New Roman"/>
                <a:ea typeface="Times New Roman"/>
                <a:cs typeface="Times New Roman"/>
                <a:sym typeface="Times New Roman"/>
              </a:rPr>
              <a:t>better</a:t>
            </a:r>
            <a:r>
              <a:rPr lang="en-US" dirty="0">
                <a:latin typeface="Times New Roman"/>
                <a:ea typeface="Times New Roman"/>
                <a:cs typeface="Times New Roman"/>
                <a:sym typeface="Times New Roman"/>
              </a:rPr>
              <a:t>.</a:t>
            </a:r>
            <a:endParaRPr dirty="0">
              <a:latin typeface="Times New Roman"/>
              <a:ea typeface="Times New Roman"/>
              <a:cs typeface="Times New Roman"/>
              <a:sym typeface="Times New Roman"/>
            </a:endParaRPr>
          </a:p>
          <a:p>
            <a:pPr marL="457200" lvl="0" indent="0" algn="just" rtl="0">
              <a:lnSpc>
                <a:spcPct val="115000"/>
              </a:lnSpc>
              <a:spcBef>
                <a:spcPts val="1200"/>
              </a:spcBef>
              <a:spcAft>
                <a:spcPts val="0"/>
              </a:spcAft>
              <a:buNone/>
            </a:pPr>
            <a:r>
              <a:rPr lang="en-US" dirty="0">
                <a:latin typeface="Times New Roman"/>
                <a:ea typeface="Times New Roman"/>
                <a:cs typeface="Times New Roman"/>
                <a:sym typeface="Times New Roman"/>
              </a:rPr>
              <a:t>If neither option is selected, </a:t>
            </a:r>
            <a:r>
              <a:rPr lang="en-US" b="1" dirty="0">
                <a:latin typeface="Times New Roman"/>
                <a:ea typeface="Times New Roman"/>
                <a:cs typeface="Times New Roman"/>
                <a:sym typeface="Times New Roman"/>
              </a:rPr>
              <a:t>label</a:t>
            </a:r>
            <a:r>
              <a:rPr lang="en-US" dirty="0">
                <a:latin typeface="Times New Roman"/>
                <a:ea typeface="Times New Roman"/>
                <a:cs typeface="Times New Roman"/>
                <a:sym typeface="Times New Roman"/>
              </a:rPr>
              <a:t> it as </a:t>
            </a:r>
            <a:r>
              <a:rPr lang="en-US" b="1" dirty="0">
                <a:latin typeface="Times New Roman"/>
                <a:ea typeface="Times New Roman"/>
                <a:cs typeface="Times New Roman"/>
                <a:sym typeface="Times New Roman"/>
              </a:rPr>
              <a:t>2</a:t>
            </a:r>
            <a:r>
              <a:rPr lang="en-US" dirty="0">
                <a:latin typeface="Times New Roman"/>
                <a:ea typeface="Times New Roman"/>
                <a:cs typeface="Times New Roman"/>
                <a:sym typeface="Times New Roman"/>
              </a:rPr>
              <a:t> (indicating a </a:t>
            </a:r>
            <a:r>
              <a:rPr lang="en-US" sz="2400" b="1" dirty="0">
                <a:solidFill>
                  <a:srgbClr val="202124"/>
                </a:solidFill>
                <a:latin typeface="Times New Roman"/>
                <a:ea typeface="Times New Roman"/>
                <a:cs typeface="Times New Roman"/>
                <a:sym typeface="Times New Roman"/>
              </a:rPr>
              <a:t>`</a:t>
            </a:r>
            <a:r>
              <a:rPr lang="en-US" b="1" dirty="0">
                <a:latin typeface="Times New Roman"/>
                <a:ea typeface="Times New Roman"/>
                <a:cs typeface="Times New Roman"/>
                <a:sym typeface="Times New Roman"/>
              </a:rPr>
              <a:t>tie</a:t>
            </a:r>
            <a:r>
              <a:rPr lang="en-US" sz="2400" b="1" dirty="0">
                <a:solidFill>
                  <a:srgbClr val="202124"/>
                </a:solidFill>
                <a:latin typeface="Times New Roman"/>
                <a:ea typeface="Times New Roman"/>
                <a:cs typeface="Times New Roman"/>
                <a:sym typeface="Times New Roman"/>
              </a:rPr>
              <a:t>`</a:t>
            </a:r>
            <a:r>
              <a:rPr lang="en-US" dirty="0">
                <a:latin typeface="Times New Roman"/>
                <a:ea typeface="Times New Roman"/>
                <a:cs typeface="Times New Roman"/>
                <a:sym typeface="Times New Roman"/>
              </a:rPr>
              <a:t>).</a:t>
            </a:r>
            <a:endParaRPr dirty="0">
              <a:latin typeface="Times New Roman"/>
              <a:ea typeface="Times New Roman"/>
              <a:cs typeface="Times New Roman"/>
              <a:sym typeface="Times New Roman"/>
            </a:endParaRPr>
          </a:p>
        </p:txBody>
      </p:sp>
      <p:sp>
        <p:nvSpPr>
          <p:cNvPr id="202" name="Google Shape;202;p25"/>
          <p:cNvSpPr txBox="1">
            <a:spLocks noGrp="1"/>
          </p:cNvSpPr>
          <p:nvPr>
            <p:ph type="sldNum" idx="12"/>
          </p:nvPr>
        </p:nvSpPr>
        <p:spPr>
          <a:xfrm>
            <a:off x="11311128" y="6272784"/>
            <a:ext cx="6402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14</a:t>
            </a:fld>
            <a:endParaRPr/>
          </a:p>
        </p:txBody>
      </p:sp>
      <p:pic>
        <p:nvPicPr>
          <p:cNvPr id="203" name="Google Shape;203;p25"/>
          <p:cNvPicPr preferRelativeResize="0"/>
          <p:nvPr/>
        </p:nvPicPr>
        <p:blipFill>
          <a:blip r:embed="rId3">
            <a:alphaModFix/>
          </a:blip>
          <a:stretch>
            <a:fillRect/>
          </a:stretch>
        </p:blipFill>
        <p:spPr>
          <a:xfrm>
            <a:off x="6097775" y="1422625"/>
            <a:ext cx="5213350" cy="5215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latin typeface="Times New Roman"/>
                <a:ea typeface="Times New Roman"/>
                <a:cs typeface="Times New Roman"/>
                <a:sym typeface="Times New Roman"/>
              </a:rPr>
              <a:t>Our </a:t>
            </a:r>
            <a:r>
              <a:rPr lang="en-US" altLang="zh-TW" sz="5400" dirty="0">
                <a:solidFill>
                  <a:schemeClr val="tx1"/>
                </a:solidFill>
                <a:latin typeface="Times New Roman"/>
                <a:ea typeface="Times New Roman"/>
                <a:cs typeface="Times New Roman"/>
                <a:sym typeface="Times New Roman"/>
              </a:rPr>
              <a:t>Proposed</a:t>
            </a:r>
            <a:r>
              <a:rPr lang="en-US" altLang="zh-TW" sz="5400" dirty="0">
                <a:solidFill>
                  <a:srgbClr val="202124"/>
                </a:solidFill>
                <a:latin typeface="Times New Roman"/>
                <a:ea typeface="Times New Roman"/>
                <a:cs typeface="Times New Roman"/>
                <a:sym typeface="Times New Roman"/>
              </a:rPr>
              <a:t> </a:t>
            </a:r>
            <a:r>
              <a:rPr lang="en-US" dirty="0">
                <a:latin typeface="Times New Roman"/>
                <a:ea typeface="Times New Roman"/>
                <a:cs typeface="Times New Roman"/>
                <a:sym typeface="Times New Roman"/>
              </a:rPr>
              <a:t>Method Framework</a:t>
            </a:r>
            <a:endParaRPr dirty="0">
              <a:latin typeface="Times New Roman"/>
              <a:ea typeface="Times New Roman"/>
              <a:cs typeface="Times New Roman"/>
              <a:sym typeface="Times New Roman"/>
            </a:endParaRPr>
          </a:p>
        </p:txBody>
      </p:sp>
      <p:sp>
        <p:nvSpPr>
          <p:cNvPr id="209" name="Google Shape;209;p26"/>
          <p:cNvSpPr txBox="1">
            <a:spLocks noGrp="1"/>
          </p:cNvSpPr>
          <p:nvPr>
            <p:ph type="sldNum" idx="12"/>
          </p:nvPr>
        </p:nvSpPr>
        <p:spPr>
          <a:xfrm>
            <a:off x="11311128" y="6272784"/>
            <a:ext cx="6402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sp>
        <p:nvSpPr>
          <p:cNvPr id="210" name="Google Shape;210;p26"/>
          <p:cNvSpPr txBox="1">
            <a:spLocks noGrp="1"/>
          </p:cNvSpPr>
          <p:nvPr>
            <p:ph type="body" idx="1"/>
          </p:nvPr>
        </p:nvSpPr>
        <p:spPr>
          <a:xfrm>
            <a:off x="717150" y="5171441"/>
            <a:ext cx="10123500" cy="914100"/>
          </a:xfrm>
          <a:prstGeom prst="rect">
            <a:avLst/>
          </a:prstGeom>
          <a:noFill/>
          <a:ln>
            <a:noFill/>
          </a:ln>
        </p:spPr>
        <p:txBody>
          <a:bodyPr spcFirstLastPara="1" wrap="square" lIns="91425" tIns="45700" rIns="91425" bIns="45700" anchor="t" anchorCtr="0">
            <a:normAutofit lnSpcReduction="10000"/>
          </a:bodyPr>
          <a:lstStyle/>
          <a:p>
            <a:pPr marL="182880" lvl="0" indent="-208280">
              <a:lnSpc>
                <a:spcPct val="100000"/>
              </a:lnSpc>
              <a:buSzPts val="2440"/>
              <a:buFont typeface="Times New Roman"/>
              <a:buChar char="▪"/>
            </a:pPr>
            <a:r>
              <a:rPr lang="en-US" sz="2400" dirty="0">
                <a:latin typeface="Times New Roman"/>
                <a:ea typeface="Times New Roman"/>
                <a:cs typeface="Times New Roman"/>
                <a:sym typeface="Times New Roman"/>
              </a:rPr>
              <a:t>We concatenate the prompt and responses </a:t>
            </a:r>
            <a:r>
              <a:rPr lang="en-US" sz="2400" dirty="0">
                <a:solidFill>
                  <a:srgbClr val="FF0000"/>
                </a:solidFill>
                <a:latin typeface="Times New Roman"/>
                <a:ea typeface="Times New Roman"/>
                <a:cs typeface="Times New Roman"/>
                <a:sym typeface="Times New Roman"/>
              </a:rPr>
              <a:t>after</a:t>
            </a:r>
            <a:r>
              <a:rPr lang="en-US" sz="2400" dirty="0">
                <a:latin typeface="Times New Roman"/>
                <a:ea typeface="Times New Roman"/>
                <a:cs typeface="Times New Roman"/>
                <a:sym typeface="Times New Roman"/>
              </a:rPr>
              <a:t> tokenizer and backbone, unlike the previous methods.</a:t>
            </a:r>
            <a:endParaRPr sz="2800" dirty="0">
              <a:latin typeface="Times New Roman"/>
              <a:ea typeface="Times New Roman"/>
              <a:cs typeface="Times New Roman"/>
              <a:sym typeface="Times New Roman"/>
            </a:endParaRPr>
          </a:p>
        </p:txBody>
      </p:sp>
      <p:sp>
        <p:nvSpPr>
          <p:cNvPr id="211" name="Google Shape;211;p26"/>
          <p:cNvSpPr/>
          <p:nvPr/>
        </p:nvSpPr>
        <p:spPr>
          <a:xfrm>
            <a:off x="102769" y="2227391"/>
            <a:ext cx="1069200" cy="60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a:latin typeface="Times New Roman"/>
                <a:ea typeface="Times New Roman"/>
                <a:cs typeface="Times New Roman"/>
                <a:sym typeface="Times New Roman"/>
              </a:rPr>
              <a:t>P</a:t>
            </a:r>
            <a:endParaRPr sz="2000" b="1">
              <a:latin typeface="Times New Roman"/>
              <a:ea typeface="Times New Roman"/>
              <a:cs typeface="Times New Roman"/>
              <a:sym typeface="Times New Roman"/>
            </a:endParaRPr>
          </a:p>
        </p:txBody>
      </p:sp>
      <p:sp>
        <p:nvSpPr>
          <p:cNvPr id="212" name="Google Shape;212;p26"/>
          <p:cNvSpPr/>
          <p:nvPr/>
        </p:nvSpPr>
        <p:spPr>
          <a:xfrm>
            <a:off x="102769" y="3160191"/>
            <a:ext cx="1069200" cy="60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a:latin typeface="Times New Roman"/>
                <a:ea typeface="Times New Roman"/>
                <a:cs typeface="Times New Roman"/>
                <a:sym typeface="Times New Roman"/>
              </a:rPr>
              <a:t>R_A</a:t>
            </a:r>
            <a:endParaRPr sz="2000" b="1">
              <a:latin typeface="Times New Roman"/>
              <a:ea typeface="Times New Roman"/>
              <a:cs typeface="Times New Roman"/>
              <a:sym typeface="Times New Roman"/>
            </a:endParaRPr>
          </a:p>
        </p:txBody>
      </p:sp>
      <p:sp>
        <p:nvSpPr>
          <p:cNvPr id="213" name="Google Shape;213;p26"/>
          <p:cNvSpPr/>
          <p:nvPr/>
        </p:nvSpPr>
        <p:spPr>
          <a:xfrm>
            <a:off x="102769" y="4092991"/>
            <a:ext cx="1069200" cy="60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a:latin typeface="Times New Roman"/>
                <a:ea typeface="Times New Roman"/>
                <a:cs typeface="Times New Roman"/>
                <a:sym typeface="Times New Roman"/>
              </a:rPr>
              <a:t>R_B</a:t>
            </a:r>
            <a:endParaRPr sz="2000" b="1">
              <a:latin typeface="Times New Roman"/>
              <a:ea typeface="Times New Roman"/>
              <a:cs typeface="Times New Roman"/>
              <a:sym typeface="Times New Roman"/>
            </a:endParaRPr>
          </a:p>
        </p:txBody>
      </p:sp>
      <p:sp>
        <p:nvSpPr>
          <p:cNvPr id="214" name="Google Shape;214;p26"/>
          <p:cNvSpPr/>
          <p:nvPr/>
        </p:nvSpPr>
        <p:spPr>
          <a:xfrm>
            <a:off x="4008114" y="2906075"/>
            <a:ext cx="2138400" cy="11232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dirty="0">
                <a:latin typeface="Times New Roman"/>
                <a:ea typeface="Times New Roman"/>
                <a:cs typeface="Times New Roman"/>
                <a:sym typeface="Times New Roman"/>
              </a:rPr>
              <a:t>BACK</a:t>
            </a:r>
            <a:endParaRPr sz="2000" b="1" dirty="0">
              <a:latin typeface="Times New Roman"/>
              <a:ea typeface="Times New Roman"/>
              <a:cs typeface="Times New Roman"/>
              <a:sym typeface="Times New Roman"/>
            </a:endParaRPr>
          </a:p>
          <a:p>
            <a:pPr marL="0" lvl="0" indent="0" algn="ctr" rtl="0">
              <a:spcBef>
                <a:spcPts val="0"/>
              </a:spcBef>
              <a:spcAft>
                <a:spcPts val="0"/>
              </a:spcAft>
              <a:buNone/>
            </a:pPr>
            <a:r>
              <a:rPr lang="en-US" sz="2000" b="1" dirty="0">
                <a:latin typeface="Times New Roman"/>
                <a:ea typeface="Times New Roman"/>
                <a:cs typeface="Times New Roman"/>
                <a:sym typeface="Times New Roman"/>
              </a:rPr>
              <a:t>BONE</a:t>
            </a:r>
            <a:endParaRPr sz="2000" b="1" dirty="0">
              <a:latin typeface="Times New Roman"/>
              <a:ea typeface="Times New Roman"/>
              <a:cs typeface="Times New Roman"/>
              <a:sym typeface="Times New Roman"/>
            </a:endParaRPr>
          </a:p>
        </p:txBody>
      </p:sp>
      <p:sp>
        <p:nvSpPr>
          <p:cNvPr id="215" name="Google Shape;215;p26"/>
          <p:cNvSpPr/>
          <p:nvPr/>
        </p:nvSpPr>
        <p:spPr>
          <a:xfrm>
            <a:off x="6451094" y="2845695"/>
            <a:ext cx="2357400" cy="1220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dirty="0">
                <a:latin typeface="Times New Roman"/>
                <a:ea typeface="Times New Roman"/>
                <a:cs typeface="Times New Roman"/>
                <a:sym typeface="Times New Roman"/>
              </a:rPr>
              <a:t>3 OUTPUT</a:t>
            </a:r>
            <a:endParaRPr sz="2000" b="1" dirty="0">
              <a:latin typeface="Times New Roman"/>
              <a:ea typeface="Times New Roman"/>
              <a:cs typeface="Times New Roman"/>
              <a:sym typeface="Times New Roman"/>
            </a:endParaRPr>
          </a:p>
          <a:p>
            <a:pPr marL="0" lvl="0" indent="0" algn="ctr" rtl="0">
              <a:spcBef>
                <a:spcPts val="0"/>
              </a:spcBef>
              <a:spcAft>
                <a:spcPts val="0"/>
              </a:spcAft>
              <a:buNone/>
            </a:pPr>
            <a:r>
              <a:rPr lang="en-US" sz="2000" b="1" dirty="0">
                <a:latin typeface="Times New Roman"/>
                <a:ea typeface="Times New Roman"/>
                <a:cs typeface="Times New Roman"/>
                <a:sym typeface="Times New Roman"/>
              </a:rPr>
              <a:t>EMBEDDINGS</a:t>
            </a:r>
            <a:endParaRPr sz="2000" b="1" dirty="0">
              <a:latin typeface="Times New Roman"/>
              <a:ea typeface="Times New Roman"/>
              <a:cs typeface="Times New Roman"/>
              <a:sym typeface="Times New Roman"/>
            </a:endParaRPr>
          </a:p>
        </p:txBody>
      </p:sp>
      <p:sp>
        <p:nvSpPr>
          <p:cNvPr id="216" name="Google Shape;216;p26"/>
          <p:cNvSpPr/>
          <p:nvPr/>
        </p:nvSpPr>
        <p:spPr>
          <a:xfrm>
            <a:off x="9211107" y="3147099"/>
            <a:ext cx="640200" cy="602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dirty="0">
                <a:latin typeface="Times New Roman"/>
                <a:ea typeface="Times New Roman"/>
                <a:cs typeface="Times New Roman"/>
                <a:sym typeface="Times New Roman"/>
              </a:rPr>
              <a:t>C</a:t>
            </a:r>
            <a:endParaRPr sz="2000" b="1" dirty="0">
              <a:latin typeface="Times New Roman"/>
              <a:ea typeface="Times New Roman"/>
              <a:cs typeface="Times New Roman"/>
              <a:sym typeface="Times New Roman"/>
            </a:endParaRPr>
          </a:p>
        </p:txBody>
      </p:sp>
      <p:sp>
        <p:nvSpPr>
          <p:cNvPr id="218" name="Google Shape;218;p26"/>
          <p:cNvSpPr/>
          <p:nvPr/>
        </p:nvSpPr>
        <p:spPr>
          <a:xfrm>
            <a:off x="10014967" y="2855131"/>
            <a:ext cx="2138400" cy="1220400"/>
          </a:xfrm>
          <a:prstGeom prst="diamond">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dirty="0">
                <a:latin typeface="Times New Roman"/>
                <a:ea typeface="Times New Roman"/>
                <a:cs typeface="Times New Roman"/>
                <a:sym typeface="Times New Roman"/>
              </a:rPr>
              <a:t>CLASSIFIER</a:t>
            </a:r>
            <a:endParaRPr sz="2000" b="1" dirty="0">
              <a:latin typeface="Times New Roman"/>
              <a:ea typeface="Times New Roman"/>
              <a:cs typeface="Times New Roman"/>
              <a:sym typeface="Times New Roman"/>
            </a:endParaRPr>
          </a:p>
        </p:txBody>
      </p:sp>
      <p:cxnSp>
        <p:nvCxnSpPr>
          <p:cNvPr id="219" name="Google Shape;219;p26"/>
          <p:cNvCxnSpPr>
            <a:cxnSpLocks/>
            <a:stCxn id="212" idx="3"/>
          </p:cNvCxnSpPr>
          <p:nvPr/>
        </p:nvCxnSpPr>
        <p:spPr>
          <a:xfrm flipV="1">
            <a:off x="1171969" y="3454095"/>
            <a:ext cx="704797" cy="7446"/>
          </a:xfrm>
          <a:prstGeom prst="straightConnector1">
            <a:avLst/>
          </a:prstGeom>
          <a:noFill/>
          <a:ln w="28575" cap="flat" cmpd="sng">
            <a:solidFill>
              <a:schemeClr val="dk2"/>
            </a:solidFill>
            <a:prstDash val="solid"/>
            <a:round/>
            <a:headEnd type="none" w="med" len="med"/>
            <a:tailEnd type="triangle" w="med" len="med"/>
          </a:ln>
        </p:spPr>
      </p:cxnSp>
      <p:cxnSp>
        <p:nvCxnSpPr>
          <p:cNvPr id="220" name="Google Shape;220;p26"/>
          <p:cNvCxnSpPr>
            <a:cxnSpLocks/>
          </p:cNvCxnSpPr>
          <p:nvPr/>
        </p:nvCxnSpPr>
        <p:spPr>
          <a:xfrm rot="10800000" flipH="1">
            <a:off x="1171969" y="2525141"/>
            <a:ext cx="518400" cy="3600"/>
          </a:xfrm>
          <a:prstGeom prst="straightConnector1">
            <a:avLst/>
          </a:prstGeom>
          <a:noFill/>
          <a:ln w="28575" cap="flat" cmpd="sng">
            <a:solidFill>
              <a:schemeClr val="dk2"/>
            </a:solidFill>
            <a:prstDash val="solid"/>
            <a:round/>
            <a:headEnd type="none" w="med" len="med"/>
            <a:tailEnd type="none" w="med" len="med"/>
          </a:ln>
        </p:spPr>
      </p:cxnSp>
      <p:cxnSp>
        <p:nvCxnSpPr>
          <p:cNvPr id="221" name="Google Shape;221;p26"/>
          <p:cNvCxnSpPr>
            <a:cxnSpLocks/>
          </p:cNvCxnSpPr>
          <p:nvPr/>
        </p:nvCxnSpPr>
        <p:spPr>
          <a:xfrm>
            <a:off x="1690369" y="2525141"/>
            <a:ext cx="4500" cy="648900"/>
          </a:xfrm>
          <a:prstGeom prst="straightConnector1">
            <a:avLst/>
          </a:prstGeom>
          <a:noFill/>
          <a:ln w="28575" cap="flat" cmpd="sng">
            <a:solidFill>
              <a:schemeClr val="dk2"/>
            </a:solidFill>
            <a:prstDash val="solid"/>
            <a:round/>
            <a:headEnd type="none" w="med" len="med"/>
            <a:tailEnd type="none" w="med" len="med"/>
          </a:ln>
        </p:spPr>
      </p:cxnSp>
      <p:cxnSp>
        <p:nvCxnSpPr>
          <p:cNvPr id="222" name="Google Shape;222;p26"/>
          <p:cNvCxnSpPr>
            <a:cxnSpLocks/>
          </p:cNvCxnSpPr>
          <p:nvPr/>
        </p:nvCxnSpPr>
        <p:spPr>
          <a:xfrm flipV="1">
            <a:off x="1694869" y="3170531"/>
            <a:ext cx="194447" cy="7110"/>
          </a:xfrm>
          <a:prstGeom prst="straightConnector1">
            <a:avLst/>
          </a:prstGeom>
          <a:noFill/>
          <a:ln w="28575" cap="flat" cmpd="sng">
            <a:solidFill>
              <a:schemeClr val="dk2"/>
            </a:solidFill>
            <a:prstDash val="solid"/>
            <a:round/>
            <a:headEnd type="none" w="med" len="med"/>
            <a:tailEnd type="triangle" w="med" len="med"/>
          </a:ln>
        </p:spPr>
      </p:cxnSp>
      <p:cxnSp>
        <p:nvCxnSpPr>
          <p:cNvPr id="223" name="Google Shape;223;p26"/>
          <p:cNvCxnSpPr>
            <a:cxnSpLocks/>
          </p:cNvCxnSpPr>
          <p:nvPr/>
        </p:nvCxnSpPr>
        <p:spPr>
          <a:xfrm rot="10800000" flipH="1">
            <a:off x="1171969" y="4394341"/>
            <a:ext cx="518400" cy="3600"/>
          </a:xfrm>
          <a:prstGeom prst="straightConnector1">
            <a:avLst/>
          </a:prstGeom>
          <a:noFill/>
          <a:ln w="28575" cap="flat" cmpd="sng">
            <a:solidFill>
              <a:schemeClr val="dk2"/>
            </a:solidFill>
            <a:prstDash val="solid"/>
            <a:round/>
            <a:headEnd type="none" w="med" len="med"/>
            <a:tailEnd type="none" w="med" len="med"/>
          </a:ln>
        </p:spPr>
      </p:cxnSp>
      <p:cxnSp>
        <p:nvCxnSpPr>
          <p:cNvPr id="224" name="Google Shape;224;p26"/>
          <p:cNvCxnSpPr>
            <a:cxnSpLocks/>
          </p:cNvCxnSpPr>
          <p:nvPr/>
        </p:nvCxnSpPr>
        <p:spPr>
          <a:xfrm>
            <a:off x="1685869" y="3762891"/>
            <a:ext cx="4500" cy="648900"/>
          </a:xfrm>
          <a:prstGeom prst="straightConnector1">
            <a:avLst/>
          </a:prstGeom>
          <a:noFill/>
          <a:ln w="28575" cap="flat" cmpd="sng">
            <a:solidFill>
              <a:schemeClr val="dk2"/>
            </a:solidFill>
            <a:prstDash val="solid"/>
            <a:round/>
            <a:headEnd type="none" w="med" len="med"/>
            <a:tailEnd type="none" w="med" len="med"/>
          </a:ln>
        </p:spPr>
      </p:cxnSp>
      <p:cxnSp>
        <p:nvCxnSpPr>
          <p:cNvPr id="225" name="Google Shape;225;p26"/>
          <p:cNvCxnSpPr>
            <a:cxnSpLocks/>
          </p:cNvCxnSpPr>
          <p:nvPr/>
        </p:nvCxnSpPr>
        <p:spPr>
          <a:xfrm flipV="1">
            <a:off x="1694869" y="3737995"/>
            <a:ext cx="194447" cy="22596"/>
          </a:xfrm>
          <a:prstGeom prst="straightConnector1">
            <a:avLst/>
          </a:prstGeom>
          <a:noFill/>
          <a:ln w="28575" cap="flat" cmpd="sng">
            <a:solidFill>
              <a:schemeClr val="dk2"/>
            </a:solidFill>
            <a:prstDash val="solid"/>
            <a:round/>
            <a:headEnd type="none" w="med" len="med"/>
            <a:tailEnd type="triangle" w="med" len="med"/>
          </a:ln>
        </p:spPr>
      </p:cxnSp>
      <p:cxnSp>
        <p:nvCxnSpPr>
          <p:cNvPr id="226" name="Google Shape;226;p26"/>
          <p:cNvCxnSpPr>
            <a:cxnSpLocks/>
            <a:stCxn id="214" idx="3"/>
            <a:endCxn id="215" idx="1"/>
          </p:cNvCxnSpPr>
          <p:nvPr/>
        </p:nvCxnSpPr>
        <p:spPr>
          <a:xfrm flipV="1">
            <a:off x="6146514" y="3455895"/>
            <a:ext cx="304580" cy="11780"/>
          </a:xfrm>
          <a:prstGeom prst="straightConnector1">
            <a:avLst/>
          </a:prstGeom>
          <a:noFill/>
          <a:ln w="28575" cap="flat" cmpd="sng">
            <a:solidFill>
              <a:schemeClr val="dk2"/>
            </a:solidFill>
            <a:prstDash val="solid"/>
            <a:round/>
            <a:headEnd type="none" w="med" len="med"/>
            <a:tailEnd type="triangle" w="med" len="med"/>
          </a:ln>
        </p:spPr>
      </p:cxnSp>
      <p:cxnSp>
        <p:nvCxnSpPr>
          <p:cNvPr id="227" name="Google Shape;227;p26"/>
          <p:cNvCxnSpPr>
            <a:stCxn id="215" idx="3"/>
          </p:cNvCxnSpPr>
          <p:nvPr/>
        </p:nvCxnSpPr>
        <p:spPr>
          <a:xfrm rot="10800000" flipH="1">
            <a:off x="8808494" y="3454095"/>
            <a:ext cx="415200" cy="1800"/>
          </a:xfrm>
          <a:prstGeom prst="straightConnector1">
            <a:avLst/>
          </a:prstGeom>
          <a:noFill/>
          <a:ln w="28575" cap="flat" cmpd="sng">
            <a:solidFill>
              <a:schemeClr val="dk2"/>
            </a:solidFill>
            <a:prstDash val="solid"/>
            <a:round/>
            <a:headEnd type="none" w="med" len="med"/>
            <a:tailEnd type="triangle" w="med" len="med"/>
          </a:ln>
        </p:spPr>
      </p:cxnSp>
      <p:cxnSp>
        <p:nvCxnSpPr>
          <p:cNvPr id="228" name="Google Shape;228;p26"/>
          <p:cNvCxnSpPr>
            <a:cxnSpLocks/>
            <a:stCxn id="216" idx="6"/>
          </p:cNvCxnSpPr>
          <p:nvPr/>
        </p:nvCxnSpPr>
        <p:spPr>
          <a:xfrm>
            <a:off x="9851307" y="3448449"/>
            <a:ext cx="238568" cy="1"/>
          </a:xfrm>
          <a:prstGeom prst="straightConnector1">
            <a:avLst/>
          </a:prstGeom>
          <a:noFill/>
          <a:ln w="28575" cap="flat" cmpd="sng">
            <a:solidFill>
              <a:schemeClr val="dk2"/>
            </a:solidFill>
            <a:prstDash val="solid"/>
            <a:round/>
            <a:headEnd type="none" w="med" len="med"/>
            <a:tailEnd type="triangle" w="med" len="med"/>
          </a:ln>
        </p:spPr>
      </p:cxnSp>
      <p:cxnSp>
        <p:nvCxnSpPr>
          <p:cNvPr id="24" name="Google Shape;222;p26">
            <a:extLst>
              <a:ext uri="{FF2B5EF4-FFF2-40B4-BE49-F238E27FC236}">
                <a16:creationId xmlns:a16="http://schemas.microsoft.com/office/drawing/2014/main" id="{BA8DBA25-5E6E-4B84-9BA8-B2B9DD98AC85}"/>
              </a:ext>
            </a:extLst>
          </p:cNvPr>
          <p:cNvCxnSpPr>
            <a:cxnSpLocks/>
          </p:cNvCxnSpPr>
          <p:nvPr/>
        </p:nvCxnSpPr>
        <p:spPr>
          <a:xfrm>
            <a:off x="5882104" y="3209478"/>
            <a:ext cx="568990" cy="7109"/>
          </a:xfrm>
          <a:prstGeom prst="straightConnector1">
            <a:avLst/>
          </a:prstGeom>
          <a:noFill/>
          <a:ln w="28575" cap="flat" cmpd="sng">
            <a:solidFill>
              <a:schemeClr val="dk2"/>
            </a:solidFill>
            <a:prstDash val="solid"/>
            <a:round/>
            <a:headEnd type="none" w="med" len="med"/>
            <a:tailEnd type="triangle" w="med" len="med"/>
          </a:ln>
        </p:spPr>
      </p:cxnSp>
      <p:cxnSp>
        <p:nvCxnSpPr>
          <p:cNvPr id="26" name="Google Shape;222;p26">
            <a:extLst>
              <a:ext uri="{FF2B5EF4-FFF2-40B4-BE49-F238E27FC236}">
                <a16:creationId xmlns:a16="http://schemas.microsoft.com/office/drawing/2014/main" id="{825C4DAE-5855-4FD5-A588-9D61CB932035}"/>
              </a:ext>
            </a:extLst>
          </p:cNvPr>
          <p:cNvCxnSpPr>
            <a:cxnSpLocks/>
          </p:cNvCxnSpPr>
          <p:nvPr/>
        </p:nvCxnSpPr>
        <p:spPr>
          <a:xfrm>
            <a:off x="5882104" y="3746675"/>
            <a:ext cx="568990" cy="491"/>
          </a:xfrm>
          <a:prstGeom prst="straightConnector1">
            <a:avLst/>
          </a:prstGeom>
          <a:noFill/>
          <a:ln w="28575" cap="flat" cmpd="sng">
            <a:solidFill>
              <a:schemeClr val="dk2"/>
            </a:solidFill>
            <a:prstDash val="solid"/>
            <a:round/>
            <a:headEnd type="none" w="med" len="med"/>
            <a:tailEnd type="triangle" w="med" len="med"/>
          </a:ln>
        </p:spPr>
      </p:cxnSp>
      <p:cxnSp>
        <p:nvCxnSpPr>
          <p:cNvPr id="27" name="Google Shape;227;p26">
            <a:extLst>
              <a:ext uri="{FF2B5EF4-FFF2-40B4-BE49-F238E27FC236}">
                <a16:creationId xmlns:a16="http://schemas.microsoft.com/office/drawing/2014/main" id="{3B2AC880-73ED-40CE-A72A-23C2EB29A41B}"/>
              </a:ext>
            </a:extLst>
          </p:cNvPr>
          <p:cNvCxnSpPr>
            <a:cxnSpLocks/>
          </p:cNvCxnSpPr>
          <p:nvPr/>
        </p:nvCxnSpPr>
        <p:spPr>
          <a:xfrm>
            <a:off x="8807444" y="3209478"/>
            <a:ext cx="572765" cy="7109"/>
          </a:xfrm>
          <a:prstGeom prst="straightConnector1">
            <a:avLst/>
          </a:prstGeom>
          <a:noFill/>
          <a:ln w="28575" cap="flat" cmpd="sng">
            <a:solidFill>
              <a:schemeClr val="dk2"/>
            </a:solidFill>
            <a:prstDash val="solid"/>
            <a:round/>
            <a:headEnd type="none" w="med" len="med"/>
            <a:tailEnd type="triangle" w="med" len="med"/>
          </a:ln>
        </p:spPr>
      </p:cxnSp>
      <p:cxnSp>
        <p:nvCxnSpPr>
          <p:cNvPr id="36" name="Google Shape;227;p26">
            <a:extLst>
              <a:ext uri="{FF2B5EF4-FFF2-40B4-BE49-F238E27FC236}">
                <a16:creationId xmlns:a16="http://schemas.microsoft.com/office/drawing/2014/main" id="{40915D01-0D84-4AA5-97B1-9A915E5A1265}"/>
              </a:ext>
            </a:extLst>
          </p:cNvPr>
          <p:cNvCxnSpPr>
            <a:cxnSpLocks/>
          </p:cNvCxnSpPr>
          <p:nvPr/>
        </p:nvCxnSpPr>
        <p:spPr>
          <a:xfrm>
            <a:off x="8807444" y="3711821"/>
            <a:ext cx="572765" cy="7109"/>
          </a:xfrm>
          <a:prstGeom prst="straightConnector1">
            <a:avLst/>
          </a:prstGeom>
          <a:noFill/>
          <a:ln w="28575" cap="flat" cmpd="sng">
            <a:solidFill>
              <a:schemeClr val="dk2"/>
            </a:solidFill>
            <a:prstDash val="solid"/>
            <a:round/>
            <a:headEnd type="none" w="med" len="med"/>
            <a:tailEnd type="triangle" w="med" len="med"/>
          </a:ln>
        </p:spPr>
      </p:cxnSp>
      <p:sp>
        <p:nvSpPr>
          <p:cNvPr id="41" name="Google Shape;215;p26">
            <a:extLst>
              <a:ext uri="{FF2B5EF4-FFF2-40B4-BE49-F238E27FC236}">
                <a16:creationId xmlns:a16="http://schemas.microsoft.com/office/drawing/2014/main" id="{B76D27CB-21B0-4994-BEFE-07B37234180A}"/>
              </a:ext>
            </a:extLst>
          </p:cNvPr>
          <p:cNvSpPr/>
          <p:nvPr/>
        </p:nvSpPr>
        <p:spPr>
          <a:xfrm>
            <a:off x="1874681" y="3012953"/>
            <a:ext cx="1868126" cy="967108"/>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dirty="0">
                <a:latin typeface="Times New Roman"/>
                <a:ea typeface="Times New Roman"/>
                <a:cs typeface="Times New Roman"/>
                <a:sym typeface="Times New Roman"/>
              </a:rPr>
              <a:t>TOKENIZER</a:t>
            </a:r>
            <a:endParaRPr sz="2000" b="1" dirty="0">
              <a:latin typeface="Times New Roman"/>
              <a:ea typeface="Times New Roman"/>
              <a:cs typeface="Times New Roman"/>
              <a:sym typeface="Times New Roman"/>
            </a:endParaRPr>
          </a:p>
        </p:txBody>
      </p:sp>
      <p:cxnSp>
        <p:nvCxnSpPr>
          <p:cNvPr id="60" name="Google Shape;226;p26">
            <a:extLst>
              <a:ext uri="{FF2B5EF4-FFF2-40B4-BE49-F238E27FC236}">
                <a16:creationId xmlns:a16="http://schemas.microsoft.com/office/drawing/2014/main" id="{4E631616-60BD-4B08-AD9B-DDA5C6F5ED20}"/>
              </a:ext>
            </a:extLst>
          </p:cNvPr>
          <p:cNvCxnSpPr>
            <a:cxnSpLocks/>
          </p:cNvCxnSpPr>
          <p:nvPr/>
        </p:nvCxnSpPr>
        <p:spPr>
          <a:xfrm>
            <a:off x="3742807" y="3460229"/>
            <a:ext cx="741985" cy="1312"/>
          </a:xfrm>
          <a:prstGeom prst="straightConnector1">
            <a:avLst/>
          </a:prstGeom>
          <a:noFill/>
          <a:ln w="28575" cap="flat" cmpd="sng">
            <a:solidFill>
              <a:schemeClr val="dk2"/>
            </a:solidFill>
            <a:prstDash val="solid"/>
            <a:round/>
            <a:headEnd type="none" w="med" len="med"/>
            <a:tailEnd type="triangle" w="med" len="med"/>
          </a:ln>
        </p:spPr>
      </p:cxnSp>
      <p:cxnSp>
        <p:nvCxnSpPr>
          <p:cNvPr id="67" name="Google Shape;222;p26">
            <a:extLst>
              <a:ext uri="{FF2B5EF4-FFF2-40B4-BE49-F238E27FC236}">
                <a16:creationId xmlns:a16="http://schemas.microsoft.com/office/drawing/2014/main" id="{954A4081-A5B1-44C3-85BD-977A5C96C5E9}"/>
              </a:ext>
            </a:extLst>
          </p:cNvPr>
          <p:cNvCxnSpPr>
            <a:cxnSpLocks/>
          </p:cNvCxnSpPr>
          <p:nvPr/>
        </p:nvCxnSpPr>
        <p:spPr>
          <a:xfrm>
            <a:off x="3742807" y="3233037"/>
            <a:ext cx="567877" cy="0"/>
          </a:xfrm>
          <a:prstGeom prst="straightConnector1">
            <a:avLst/>
          </a:prstGeom>
          <a:noFill/>
          <a:ln w="28575" cap="flat" cmpd="sng">
            <a:solidFill>
              <a:schemeClr val="dk2"/>
            </a:solidFill>
            <a:prstDash val="solid"/>
            <a:round/>
            <a:headEnd type="none" w="med" len="med"/>
            <a:tailEnd type="triangle" w="med" len="med"/>
          </a:ln>
        </p:spPr>
      </p:cxnSp>
      <p:cxnSp>
        <p:nvCxnSpPr>
          <p:cNvPr id="69" name="Google Shape;222;p26">
            <a:extLst>
              <a:ext uri="{FF2B5EF4-FFF2-40B4-BE49-F238E27FC236}">
                <a16:creationId xmlns:a16="http://schemas.microsoft.com/office/drawing/2014/main" id="{19C66BF7-B9CE-47E5-BFCD-7E3D6C33BAB8}"/>
              </a:ext>
            </a:extLst>
          </p:cNvPr>
          <p:cNvCxnSpPr>
            <a:cxnSpLocks/>
          </p:cNvCxnSpPr>
          <p:nvPr/>
        </p:nvCxnSpPr>
        <p:spPr>
          <a:xfrm>
            <a:off x="3742807" y="3705425"/>
            <a:ext cx="568990" cy="491"/>
          </a:xfrm>
          <a:prstGeom prst="straightConnector1">
            <a:avLst/>
          </a:prstGeom>
          <a:noFill/>
          <a:ln w="28575" cap="flat" cmpd="sng">
            <a:solidFill>
              <a:schemeClr val="dk2"/>
            </a:solidFill>
            <a:prstDash val="solid"/>
            <a:round/>
            <a:headEnd type="none" w="med" len="med"/>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7"/>
          <p:cNvSpPr txBox="1">
            <a:spLocks noGrp="1"/>
          </p:cNvSpPr>
          <p:nvPr>
            <p:ph type="title"/>
          </p:nvPr>
        </p:nvSpPr>
        <p:spPr>
          <a:xfrm>
            <a:off x="1066798" y="135907"/>
            <a:ext cx="10058400" cy="1609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Training Settings</a:t>
            </a:r>
            <a:endParaRPr dirty="0">
              <a:latin typeface="Times New Roman"/>
              <a:ea typeface="Times New Roman"/>
              <a:cs typeface="Times New Roman"/>
              <a:sym typeface="Times New Roman"/>
            </a:endParaRPr>
          </a:p>
        </p:txBody>
      </p:sp>
      <p:sp>
        <p:nvSpPr>
          <p:cNvPr id="236" name="Google Shape;236;p27"/>
          <p:cNvSpPr txBox="1">
            <a:spLocks noGrp="1"/>
          </p:cNvSpPr>
          <p:nvPr>
            <p:ph type="body" idx="1"/>
          </p:nvPr>
        </p:nvSpPr>
        <p:spPr>
          <a:xfrm>
            <a:off x="1066800" y="1668375"/>
            <a:ext cx="10058400" cy="5028600"/>
          </a:xfrm>
          <a:prstGeom prst="rect">
            <a:avLst/>
          </a:prstGeom>
        </p:spPr>
        <p:txBody>
          <a:bodyPr spcFirstLastPara="1" wrap="square" lIns="91425" tIns="45700" rIns="91425" bIns="45700" anchor="t" anchorCtr="0">
            <a:normAutofit/>
          </a:bodyPr>
          <a:lstStyle/>
          <a:p>
            <a:pPr marL="457200" lvl="0" indent="-382905" algn="l" rtl="0">
              <a:spcBef>
                <a:spcPts val="1200"/>
              </a:spcBef>
              <a:spcAft>
                <a:spcPts val="0"/>
              </a:spcAft>
              <a:buSzPts val="2430"/>
              <a:buFont typeface="Times New Roman"/>
              <a:buChar char="▪"/>
            </a:pPr>
            <a:r>
              <a:rPr lang="en-US" sz="2400" b="1" dirty="0">
                <a:latin typeface="Times New Roman"/>
                <a:ea typeface="Times New Roman"/>
                <a:cs typeface="Times New Roman"/>
                <a:sym typeface="Times New Roman"/>
              </a:rPr>
              <a:t>Hyperparameters</a:t>
            </a:r>
            <a:endParaRPr sz="2400" b="1" dirty="0">
              <a:latin typeface="Times New Roman"/>
              <a:ea typeface="Times New Roman"/>
              <a:cs typeface="Times New Roman"/>
              <a:sym typeface="Times New Roman"/>
            </a:endParaRPr>
          </a:p>
          <a:p>
            <a:pPr marL="457200" lvl="0" indent="0" algn="l" rtl="0">
              <a:spcBef>
                <a:spcPts val="1200"/>
              </a:spcBef>
              <a:spcAft>
                <a:spcPts val="0"/>
              </a:spcAft>
              <a:buNone/>
            </a:pPr>
            <a:r>
              <a:rPr lang="en-US" sz="2400" b="1" dirty="0">
                <a:solidFill>
                  <a:srgbClr val="FF0000"/>
                </a:solidFill>
                <a:latin typeface="Times New Roman"/>
                <a:ea typeface="Times New Roman"/>
                <a:cs typeface="Times New Roman"/>
                <a:sym typeface="Times New Roman"/>
              </a:rPr>
              <a:t>Learning Rate:</a:t>
            </a:r>
            <a:r>
              <a:rPr lang="en-US" sz="2400" dirty="0">
                <a:latin typeface="Times New Roman"/>
                <a:ea typeface="Times New Roman"/>
                <a:cs typeface="Times New Roman"/>
                <a:sym typeface="Times New Roman"/>
              </a:rPr>
              <a:t> </a:t>
            </a:r>
            <a:r>
              <a:rPr lang="en-US" sz="2400" b="1" dirty="0">
                <a:solidFill>
                  <a:srgbClr val="1155CC"/>
                </a:solidFill>
                <a:latin typeface="Times New Roman"/>
                <a:ea typeface="Times New Roman"/>
                <a:cs typeface="Times New Roman"/>
                <a:sym typeface="Times New Roman"/>
              </a:rPr>
              <a:t>0.00003</a:t>
            </a:r>
            <a:r>
              <a:rPr lang="en-US" sz="2400" dirty="0">
                <a:latin typeface="Times New Roman"/>
                <a:ea typeface="Times New Roman"/>
                <a:cs typeface="Times New Roman"/>
                <a:sym typeface="Times New Roman"/>
              </a:rPr>
              <a:t> </a:t>
            </a:r>
            <a:endParaRPr sz="2400" dirty="0">
              <a:latin typeface="Times New Roman"/>
              <a:ea typeface="Times New Roman"/>
              <a:cs typeface="Times New Roman"/>
              <a:sym typeface="Times New Roman"/>
            </a:endParaRPr>
          </a:p>
          <a:p>
            <a:pPr marL="457200" lvl="0" indent="0" algn="l" rtl="0">
              <a:spcBef>
                <a:spcPts val="1200"/>
              </a:spcBef>
              <a:spcAft>
                <a:spcPts val="0"/>
              </a:spcAft>
              <a:buNone/>
            </a:pPr>
            <a:r>
              <a:rPr lang="en-US" sz="2400" b="1" dirty="0">
                <a:solidFill>
                  <a:srgbClr val="FF0000"/>
                </a:solidFill>
                <a:latin typeface="Times New Roman"/>
                <a:ea typeface="Times New Roman"/>
                <a:cs typeface="Times New Roman"/>
                <a:sym typeface="Times New Roman"/>
              </a:rPr>
              <a:t>Epochs:</a:t>
            </a:r>
            <a:r>
              <a:rPr lang="en-US" sz="2400" dirty="0">
                <a:latin typeface="Times New Roman"/>
                <a:ea typeface="Times New Roman"/>
                <a:cs typeface="Times New Roman"/>
                <a:sym typeface="Times New Roman"/>
              </a:rPr>
              <a:t> </a:t>
            </a:r>
            <a:r>
              <a:rPr lang="en-US" sz="2400" b="1" dirty="0">
                <a:solidFill>
                  <a:srgbClr val="1155CC"/>
                </a:solidFill>
                <a:latin typeface="Times New Roman"/>
                <a:ea typeface="Times New Roman"/>
                <a:cs typeface="Times New Roman"/>
                <a:sym typeface="Times New Roman"/>
              </a:rPr>
              <a:t>2</a:t>
            </a:r>
            <a:endParaRPr sz="2400" b="1" dirty="0">
              <a:solidFill>
                <a:srgbClr val="1155CC"/>
              </a:solidFill>
              <a:latin typeface="Times New Roman"/>
              <a:ea typeface="Times New Roman"/>
              <a:cs typeface="Times New Roman"/>
              <a:sym typeface="Times New Roman"/>
            </a:endParaRPr>
          </a:p>
          <a:p>
            <a:pPr marL="457200" lvl="0" indent="0" algn="l" rtl="0">
              <a:spcBef>
                <a:spcPts val="1200"/>
              </a:spcBef>
              <a:spcAft>
                <a:spcPts val="0"/>
              </a:spcAft>
              <a:buNone/>
            </a:pPr>
            <a:r>
              <a:rPr lang="en-US" sz="2400" b="1" dirty="0">
                <a:solidFill>
                  <a:srgbClr val="FF0000"/>
                </a:solidFill>
                <a:latin typeface="Times New Roman"/>
                <a:ea typeface="Times New Roman"/>
                <a:cs typeface="Times New Roman"/>
                <a:sym typeface="Times New Roman"/>
              </a:rPr>
              <a:t>Weight Decay:</a:t>
            </a:r>
            <a:r>
              <a:rPr lang="en-US" sz="2400" dirty="0">
                <a:latin typeface="Times New Roman"/>
                <a:ea typeface="Times New Roman"/>
                <a:cs typeface="Times New Roman"/>
                <a:sym typeface="Times New Roman"/>
              </a:rPr>
              <a:t> </a:t>
            </a:r>
            <a:r>
              <a:rPr lang="en-US" sz="2400" b="1" dirty="0">
                <a:solidFill>
                  <a:srgbClr val="1155CC"/>
                </a:solidFill>
                <a:latin typeface="Times New Roman"/>
                <a:ea typeface="Times New Roman"/>
                <a:cs typeface="Times New Roman"/>
                <a:sym typeface="Times New Roman"/>
              </a:rPr>
              <a:t>0.01</a:t>
            </a:r>
            <a:endParaRPr sz="2400" b="1" dirty="0">
              <a:solidFill>
                <a:srgbClr val="1155CC"/>
              </a:solidFill>
              <a:latin typeface="Times New Roman"/>
              <a:ea typeface="Times New Roman"/>
              <a:cs typeface="Times New Roman"/>
              <a:sym typeface="Times New Roman"/>
            </a:endParaRPr>
          </a:p>
          <a:p>
            <a:pPr marL="457200" lvl="0" indent="0" algn="l" rtl="0">
              <a:spcBef>
                <a:spcPts val="1200"/>
              </a:spcBef>
              <a:spcAft>
                <a:spcPts val="0"/>
              </a:spcAft>
              <a:buNone/>
            </a:pPr>
            <a:r>
              <a:rPr lang="en-US" sz="2400" b="1" dirty="0">
                <a:solidFill>
                  <a:srgbClr val="FF0000"/>
                </a:solidFill>
                <a:latin typeface="Times New Roman"/>
                <a:ea typeface="Times New Roman"/>
                <a:cs typeface="Times New Roman"/>
                <a:sym typeface="Times New Roman"/>
              </a:rPr>
              <a:t>Max Length: </a:t>
            </a:r>
            <a:r>
              <a:rPr lang="en-US" sz="2400" b="1" dirty="0">
                <a:solidFill>
                  <a:srgbClr val="1155CC"/>
                </a:solidFill>
                <a:latin typeface="Times New Roman"/>
                <a:ea typeface="Times New Roman"/>
                <a:cs typeface="Times New Roman"/>
                <a:sym typeface="Times New Roman"/>
              </a:rPr>
              <a:t>512</a:t>
            </a:r>
            <a:endParaRPr sz="2400" b="1" dirty="0">
              <a:solidFill>
                <a:srgbClr val="1155CC"/>
              </a:solidFill>
              <a:latin typeface="Times New Roman"/>
              <a:ea typeface="Times New Roman"/>
              <a:cs typeface="Times New Roman"/>
              <a:sym typeface="Times New Roman"/>
            </a:endParaRPr>
          </a:p>
          <a:p>
            <a:pPr marL="457200" lvl="0" indent="-381000" algn="l" rtl="0">
              <a:spcBef>
                <a:spcPts val="1200"/>
              </a:spcBef>
              <a:spcAft>
                <a:spcPts val="0"/>
              </a:spcAft>
              <a:buClr>
                <a:srgbClr val="9E3611"/>
              </a:buClr>
              <a:buSzPts val="2400"/>
              <a:buFont typeface="Times New Roman"/>
              <a:buChar char="▪"/>
            </a:pPr>
            <a:r>
              <a:rPr lang="en-US" sz="2400" b="1" dirty="0">
                <a:latin typeface="Times New Roman"/>
                <a:ea typeface="Times New Roman"/>
                <a:cs typeface="Times New Roman"/>
                <a:sym typeface="Times New Roman"/>
              </a:rPr>
              <a:t>Optimizer</a:t>
            </a:r>
            <a:endParaRPr sz="2400" b="1" dirty="0">
              <a:latin typeface="Times New Roman"/>
              <a:ea typeface="Times New Roman"/>
              <a:cs typeface="Times New Roman"/>
              <a:sym typeface="Times New Roman"/>
            </a:endParaRPr>
          </a:p>
          <a:p>
            <a:pPr marL="457200" lvl="0" indent="0" algn="l" rtl="0">
              <a:spcBef>
                <a:spcPts val="1200"/>
              </a:spcBef>
              <a:spcAft>
                <a:spcPts val="0"/>
              </a:spcAft>
              <a:buNone/>
            </a:pPr>
            <a:r>
              <a:rPr lang="en-US" sz="2400" b="1" dirty="0" err="1">
                <a:solidFill>
                  <a:srgbClr val="FF0000"/>
                </a:solidFill>
                <a:latin typeface="Times New Roman"/>
                <a:ea typeface="Times New Roman"/>
                <a:cs typeface="Times New Roman"/>
                <a:sym typeface="Times New Roman"/>
              </a:rPr>
              <a:t>AdamW</a:t>
            </a:r>
            <a:endParaRPr sz="2400" b="1" dirty="0">
              <a:solidFill>
                <a:srgbClr val="FF0000"/>
              </a:solidFill>
              <a:latin typeface="Times New Roman"/>
              <a:ea typeface="Times New Roman"/>
              <a:cs typeface="Times New Roman"/>
              <a:sym typeface="Times New Roman"/>
            </a:endParaRPr>
          </a:p>
          <a:p>
            <a:pPr marL="457200" lvl="0" indent="-381000" algn="l" rtl="0">
              <a:spcBef>
                <a:spcPts val="1200"/>
              </a:spcBef>
              <a:spcAft>
                <a:spcPts val="0"/>
              </a:spcAft>
              <a:buClr>
                <a:srgbClr val="9E3611"/>
              </a:buClr>
              <a:buSzPts val="2400"/>
              <a:buFont typeface="Times New Roman"/>
              <a:buChar char="▪"/>
            </a:pPr>
            <a:r>
              <a:rPr lang="en-US" sz="2400" b="1" dirty="0">
                <a:latin typeface="Times New Roman"/>
                <a:ea typeface="Times New Roman"/>
                <a:cs typeface="Times New Roman"/>
                <a:sym typeface="Times New Roman"/>
              </a:rPr>
              <a:t>Loss Function</a:t>
            </a:r>
            <a:endParaRPr sz="2400" b="1" dirty="0">
              <a:latin typeface="Times New Roman"/>
              <a:ea typeface="Times New Roman"/>
              <a:cs typeface="Times New Roman"/>
              <a:sym typeface="Times New Roman"/>
            </a:endParaRPr>
          </a:p>
          <a:p>
            <a:pPr marL="0" lvl="0" indent="0" algn="l" rtl="0">
              <a:spcBef>
                <a:spcPts val="1200"/>
              </a:spcBef>
              <a:spcAft>
                <a:spcPts val="0"/>
              </a:spcAft>
              <a:buNone/>
            </a:pPr>
            <a:r>
              <a:rPr lang="en-US" sz="2400" b="1" dirty="0">
                <a:latin typeface="Times New Roman"/>
                <a:ea typeface="Times New Roman"/>
                <a:cs typeface="Times New Roman"/>
                <a:sym typeface="Times New Roman"/>
              </a:rPr>
              <a:t>      </a:t>
            </a:r>
            <a:r>
              <a:rPr lang="en-US" sz="2400" b="1" dirty="0">
                <a:solidFill>
                  <a:srgbClr val="FF0000"/>
                </a:solidFill>
                <a:latin typeface="Times New Roman"/>
                <a:ea typeface="Times New Roman"/>
                <a:cs typeface="Times New Roman"/>
                <a:sym typeface="Times New Roman"/>
              </a:rPr>
              <a:t>Cross-Entropy Loss / Log Loss</a:t>
            </a:r>
            <a:endParaRPr sz="2400" b="1" dirty="0">
              <a:solidFill>
                <a:srgbClr val="FF0000"/>
              </a:solidFill>
              <a:latin typeface="Times New Roman"/>
              <a:ea typeface="Times New Roman"/>
              <a:cs typeface="Times New Roman"/>
              <a:sym typeface="Times New Roman"/>
            </a:endParaRPr>
          </a:p>
          <a:p>
            <a:pPr marL="0" lvl="0" indent="0" algn="l" rtl="0">
              <a:spcBef>
                <a:spcPts val="1200"/>
              </a:spcBef>
              <a:spcAft>
                <a:spcPts val="0"/>
              </a:spcAft>
              <a:buNone/>
            </a:pPr>
            <a:r>
              <a:rPr lang="en-US" sz="2400" dirty="0">
                <a:latin typeface="Times New Roman"/>
                <a:ea typeface="Times New Roman"/>
                <a:cs typeface="Times New Roman"/>
                <a:sym typeface="Times New Roman"/>
              </a:rPr>
              <a:t>      </a:t>
            </a:r>
            <a:r>
              <a:rPr lang="en-US" sz="2400" b="1" dirty="0">
                <a:solidFill>
                  <a:srgbClr val="FF0000"/>
                </a:solidFill>
                <a:latin typeface="Times New Roman"/>
                <a:ea typeface="Times New Roman"/>
                <a:cs typeface="Times New Roman"/>
                <a:sym typeface="Times New Roman"/>
              </a:rPr>
              <a:t>Number of Classes:</a:t>
            </a:r>
            <a:r>
              <a:rPr lang="en-US" sz="2400" dirty="0">
                <a:latin typeface="Times New Roman"/>
                <a:ea typeface="Times New Roman"/>
                <a:cs typeface="Times New Roman"/>
                <a:sym typeface="Times New Roman"/>
              </a:rPr>
              <a:t> </a:t>
            </a:r>
            <a:r>
              <a:rPr lang="en-US" sz="2400" b="1" dirty="0">
                <a:solidFill>
                  <a:srgbClr val="1155CC"/>
                </a:solidFill>
                <a:latin typeface="Times New Roman"/>
                <a:ea typeface="Times New Roman"/>
                <a:cs typeface="Times New Roman"/>
                <a:sym typeface="Times New Roman"/>
              </a:rPr>
              <a:t>3 </a:t>
            </a:r>
            <a:r>
              <a:rPr lang="en-US" sz="2400" dirty="0">
                <a:solidFill>
                  <a:srgbClr val="202124"/>
                </a:solidFill>
                <a:latin typeface="Times New Roman"/>
                <a:ea typeface="Times New Roman"/>
                <a:cs typeface="Times New Roman"/>
                <a:sym typeface="Times New Roman"/>
              </a:rPr>
              <a:t>(</a:t>
            </a:r>
            <a:r>
              <a:rPr lang="en-US" sz="2400" b="1" dirty="0">
                <a:solidFill>
                  <a:srgbClr val="202124"/>
                </a:solidFill>
                <a:latin typeface="Times New Roman"/>
                <a:ea typeface="Times New Roman"/>
                <a:cs typeface="Times New Roman"/>
                <a:sym typeface="Times New Roman"/>
              </a:rPr>
              <a:t>`</a:t>
            </a:r>
            <a:r>
              <a:rPr lang="en-US" sz="2400" b="1" dirty="0" err="1">
                <a:solidFill>
                  <a:srgbClr val="202124"/>
                </a:solidFill>
                <a:latin typeface="Times New Roman"/>
                <a:ea typeface="Times New Roman"/>
                <a:cs typeface="Times New Roman"/>
                <a:sym typeface="Times New Roman"/>
              </a:rPr>
              <a:t>winner_model_a</a:t>
            </a:r>
            <a:r>
              <a:rPr lang="en-US" sz="2400" b="1" dirty="0">
                <a:solidFill>
                  <a:srgbClr val="202124"/>
                </a:solidFill>
                <a:latin typeface="Times New Roman"/>
                <a:ea typeface="Times New Roman"/>
                <a:cs typeface="Times New Roman"/>
                <a:sym typeface="Times New Roman"/>
              </a:rPr>
              <a:t>`</a:t>
            </a:r>
            <a:r>
              <a:rPr lang="en-US" sz="2400" dirty="0">
                <a:solidFill>
                  <a:srgbClr val="202124"/>
                </a:solidFill>
                <a:latin typeface="Times New Roman"/>
                <a:ea typeface="Times New Roman"/>
                <a:cs typeface="Times New Roman"/>
                <a:sym typeface="Times New Roman"/>
              </a:rPr>
              <a:t>, </a:t>
            </a:r>
            <a:r>
              <a:rPr lang="en-US" sz="2400" b="1" dirty="0">
                <a:solidFill>
                  <a:srgbClr val="202124"/>
                </a:solidFill>
                <a:latin typeface="Times New Roman"/>
                <a:ea typeface="Times New Roman"/>
                <a:cs typeface="Times New Roman"/>
                <a:sym typeface="Times New Roman"/>
              </a:rPr>
              <a:t>`</a:t>
            </a:r>
            <a:r>
              <a:rPr lang="en-US" sz="2400" b="1" dirty="0" err="1">
                <a:solidFill>
                  <a:srgbClr val="202124"/>
                </a:solidFill>
                <a:latin typeface="Times New Roman"/>
                <a:ea typeface="Times New Roman"/>
                <a:cs typeface="Times New Roman"/>
                <a:sym typeface="Times New Roman"/>
              </a:rPr>
              <a:t>winner_model_b</a:t>
            </a:r>
            <a:r>
              <a:rPr lang="en-US" sz="2400" b="1" dirty="0">
                <a:solidFill>
                  <a:srgbClr val="202124"/>
                </a:solidFill>
                <a:latin typeface="Times New Roman"/>
                <a:ea typeface="Times New Roman"/>
                <a:cs typeface="Times New Roman"/>
                <a:sym typeface="Times New Roman"/>
              </a:rPr>
              <a:t>`</a:t>
            </a:r>
            <a:r>
              <a:rPr lang="en-US" sz="2400" dirty="0">
                <a:solidFill>
                  <a:srgbClr val="202124"/>
                </a:solidFill>
                <a:latin typeface="Times New Roman"/>
                <a:ea typeface="Times New Roman"/>
                <a:cs typeface="Times New Roman"/>
                <a:sym typeface="Times New Roman"/>
              </a:rPr>
              <a:t>, and </a:t>
            </a:r>
            <a:r>
              <a:rPr lang="en-US" sz="2400" b="1" dirty="0">
                <a:solidFill>
                  <a:srgbClr val="202124"/>
                </a:solidFill>
                <a:latin typeface="Times New Roman"/>
                <a:ea typeface="Times New Roman"/>
                <a:cs typeface="Times New Roman"/>
                <a:sym typeface="Times New Roman"/>
              </a:rPr>
              <a:t>`tie`</a:t>
            </a:r>
            <a:r>
              <a:rPr lang="en-US" sz="2400" dirty="0">
                <a:solidFill>
                  <a:srgbClr val="202124"/>
                </a:solidFill>
                <a:latin typeface="Times New Roman"/>
                <a:ea typeface="Times New Roman"/>
                <a:cs typeface="Times New Roman"/>
                <a:sym typeface="Times New Roman"/>
              </a:rPr>
              <a:t>)</a:t>
            </a:r>
            <a:endParaRPr sz="2400" dirty="0">
              <a:solidFill>
                <a:srgbClr val="202124"/>
              </a:solidFill>
              <a:latin typeface="Times New Roman"/>
              <a:ea typeface="Times New Roman"/>
              <a:cs typeface="Times New Roman"/>
              <a:sym typeface="Times New Roman"/>
            </a:endParaRPr>
          </a:p>
        </p:txBody>
      </p:sp>
      <p:sp>
        <p:nvSpPr>
          <p:cNvPr id="237" name="Google Shape;237;p27"/>
          <p:cNvSpPr txBox="1">
            <a:spLocks noGrp="1"/>
          </p:cNvSpPr>
          <p:nvPr>
            <p:ph type="sldNum" idx="12"/>
          </p:nvPr>
        </p:nvSpPr>
        <p:spPr>
          <a:xfrm>
            <a:off x="11311128" y="6272784"/>
            <a:ext cx="6402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9"/>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5400"/>
              <a:buFont typeface="Times New Roman"/>
              <a:buNone/>
            </a:pPr>
            <a:r>
              <a:rPr lang="en-US" dirty="0">
                <a:solidFill>
                  <a:schemeClr val="dk1"/>
                </a:solidFill>
                <a:latin typeface="Times New Roman"/>
                <a:ea typeface="Times New Roman"/>
                <a:cs typeface="Times New Roman"/>
                <a:sym typeface="Times New Roman"/>
              </a:rPr>
              <a:t>Outline</a:t>
            </a:r>
            <a:endParaRPr dirty="0">
              <a:latin typeface="Times New Roman"/>
              <a:ea typeface="Times New Roman"/>
              <a:cs typeface="Times New Roman"/>
              <a:sym typeface="Times New Roman"/>
            </a:endParaRPr>
          </a:p>
        </p:txBody>
      </p:sp>
      <p:sp>
        <p:nvSpPr>
          <p:cNvPr id="251" name="Google Shape;251;p29"/>
          <p:cNvSpPr txBox="1">
            <a:spLocks noGrp="1"/>
          </p:cNvSpPr>
          <p:nvPr>
            <p:ph type="body" idx="1"/>
          </p:nvPr>
        </p:nvSpPr>
        <p:spPr>
          <a:xfrm>
            <a:off x="1069848" y="2121408"/>
            <a:ext cx="10058400" cy="4050900"/>
          </a:xfrm>
          <a:prstGeom prst="rect">
            <a:avLst/>
          </a:prstGeom>
          <a:noFill/>
          <a:ln>
            <a:noFill/>
          </a:ln>
        </p:spPr>
        <p:txBody>
          <a:bodyPr spcFirstLastPara="1" wrap="square" lIns="91425" tIns="45700" rIns="91425" bIns="45700" anchor="t" anchorCtr="0">
            <a:normAutofit/>
          </a:bodyPr>
          <a:lstStyle/>
          <a:p>
            <a:pPr marL="182880" lvl="0" indent="-205740" algn="l" rtl="0">
              <a:lnSpc>
                <a:spcPct val="100000"/>
              </a:lnSpc>
              <a:spcBef>
                <a:spcPts val="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Introduction</a:t>
            </a:r>
            <a:endParaRPr dirty="0">
              <a:solidFill>
                <a:srgbClr val="C3C0C0"/>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Reference Codes</a:t>
            </a:r>
            <a:endParaRPr dirty="0"/>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Our Proposed Methods</a:t>
            </a:r>
            <a:endParaRPr dirty="0">
              <a:solidFill>
                <a:srgbClr val="C3C0C0"/>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202124"/>
                </a:solidFill>
                <a:latin typeface="Times New Roman"/>
                <a:ea typeface="Times New Roman"/>
                <a:cs typeface="Times New Roman"/>
                <a:sym typeface="Times New Roman"/>
              </a:rPr>
              <a:t>Experimental Results</a:t>
            </a:r>
            <a:endParaRPr dirty="0">
              <a:solidFill>
                <a:srgbClr val="202124"/>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Analysis and Comparison</a:t>
            </a:r>
            <a:endParaRPr dirty="0"/>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Kaggle Competition Ranking</a:t>
            </a:r>
            <a:endParaRPr dirty="0"/>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Conclusion</a:t>
            </a:r>
            <a:endParaRPr sz="2400" dirty="0">
              <a:latin typeface="Times New Roman"/>
              <a:ea typeface="Times New Roman"/>
              <a:cs typeface="Times New Roman"/>
              <a:sym typeface="Times New Roman"/>
            </a:endParaRPr>
          </a:p>
        </p:txBody>
      </p:sp>
      <p:sp>
        <p:nvSpPr>
          <p:cNvPr id="252" name="Google Shape;252;p29"/>
          <p:cNvSpPr txBox="1">
            <a:spLocks noGrp="1"/>
          </p:cNvSpPr>
          <p:nvPr>
            <p:ph type="sldNum" idx="12"/>
          </p:nvPr>
        </p:nvSpPr>
        <p:spPr>
          <a:xfrm>
            <a:off x="11311128" y="6272784"/>
            <a:ext cx="6402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0"/>
          <p:cNvSpPr txBox="1">
            <a:spLocks noGrp="1"/>
          </p:cNvSpPr>
          <p:nvPr>
            <p:ph type="title"/>
          </p:nvPr>
        </p:nvSpPr>
        <p:spPr>
          <a:xfrm>
            <a:off x="1069848" y="484632"/>
            <a:ext cx="10058400" cy="1609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Experiments</a:t>
            </a:r>
            <a:endParaRPr dirty="0">
              <a:latin typeface="Times New Roman"/>
              <a:ea typeface="Times New Roman"/>
              <a:cs typeface="Times New Roman"/>
              <a:sym typeface="Times New Roman"/>
            </a:endParaRPr>
          </a:p>
        </p:txBody>
      </p:sp>
      <p:sp>
        <p:nvSpPr>
          <p:cNvPr id="259" name="Google Shape;259;p30"/>
          <p:cNvSpPr txBox="1">
            <a:spLocks noGrp="1"/>
          </p:cNvSpPr>
          <p:nvPr>
            <p:ph type="sldNum" idx="12"/>
          </p:nvPr>
        </p:nvSpPr>
        <p:spPr>
          <a:xfrm>
            <a:off x="11311128" y="6272784"/>
            <a:ext cx="6402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18</a:t>
            </a:fld>
            <a:endParaRPr/>
          </a:p>
        </p:txBody>
      </p:sp>
      <p:graphicFrame>
        <p:nvGraphicFramePr>
          <p:cNvPr id="260" name="Google Shape;260;p30"/>
          <p:cNvGraphicFramePr/>
          <p:nvPr>
            <p:extLst>
              <p:ext uri="{D42A27DB-BD31-4B8C-83A1-F6EECF244321}">
                <p14:modId xmlns:p14="http://schemas.microsoft.com/office/powerpoint/2010/main" val="993259330"/>
              </p:ext>
            </p:extLst>
          </p:nvPr>
        </p:nvGraphicFramePr>
        <p:xfrm>
          <a:off x="859168" y="2211025"/>
          <a:ext cx="10478632" cy="2560200"/>
        </p:xfrm>
        <a:graphic>
          <a:graphicData uri="http://schemas.openxmlformats.org/drawingml/2006/table">
            <a:tbl>
              <a:tblPr>
                <a:noFill/>
                <a:tableStyleId>{40B961F7-57B1-4752-A267-737E56559FA3}</a:tableStyleId>
              </a:tblPr>
              <a:tblGrid>
                <a:gridCol w="1747382">
                  <a:extLst>
                    <a:ext uri="{9D8B030D-6E8A-4147-A177-3AD203B41FA5}">
                      <a16:colId xmlns:a16="http://schemas.microsoft.com/office/drawing/2014/main" val="20000"/>
                    </a:ext>
                  </a:extLst>
                </a:gridCol>
                <a:gridCol w="1511800">
                  <a:extLst>
                    <a:ext uri="{9D8B030D-6E8A-4147-A177-3AD203B41FA5}">
                      <a16:colId xmlns:a16="http://schemas.microsoft.com/office/drawing/2014/main" val="20001"/>
                    </a:ext>
                  </a:extLst>
                </a:gridCol>
                <a:gridCol w="1629000">
                  <a:extLst>
                    <a:ext uri="{9D8B030D-6E8A-4147-A177-3AD203B41FA5}">
                      <a16:colId xmlns:a16="http://schemas.microsoft.com/office/drawing/2014/main" val="20002"/>
                    </a:ext>
                  </a:extLst>
                </a:gridCol>
                <a:gridCol w="2097950">
                  <a:extLst>
                    <a:ext uri="{9D8B030D-6E8A-4147-A177-3AD203B41FA5}">
                      <a16:colId xmlns:a16="http://schemas.microsoft.com/office/drawing/2014/main" val="20003"/>
                    </a:ext>
                  </a:extLst>
                </a:gridCol>
                <a:gridCol w="1746250">
                  <a:extLst>
                    <a:ext uri="{9D8B030D-6E8A-4147-A177-3AD203B41FA5}">
                      <a16:colId xmlns:a16="http://schemas.microsoft.com/office/drawing/2014/main" val="20004"/>
                    </a:ext>
                  </a:extLst>
                </a:gridCol>
                <a:gridCol w="1746250">
                  <a:extLst>
                    <a:ext uri="{9D8B030D-6E8A-4147-A177-3AD203B41FA5}">
                      <a16:colId xmlns:a16="http://schemas.microsoft.com/office/drawing/2014/main" val="20005"/>
                    </a:ext>
                  </a:extLst>
                </a:gridCol>
              </a:tblGrid>
              <a:tr h="899700">
                <a:tc>
                  <a:txBody>
                    <a:bodyPr/>
                    <a:lstStyle/>
                    <a:p>
                      <a:pPr marL="0" lvl="0" indent="0" algn="ctr" rtl="0">
                        <a:lnSpc>
                          <a:spcPct val="150000"/>
                        </a:lnSpc>
                        <a:spcBef>
                          <a:spcPts val="1000"/>
                        </a:spcBef>
                        <a:spcAft>
                          <a:spcPts val="0"/>
                        </a:spcAft>
                        <a:buNone/>
                      </a:pPr>
                      <a:r>
                        <a:rPr lang="en-US" sz="2400" b="1" dirty="0">
                          <a:latin typeface="Times New Roman"/>
                          <a:ea typeface="Times New Roman"/>
                          <a:cs typeface="Times New Roman"/>
                          <a:sym typeface="Times New Roman"/>
                        </a:rPr>
                        <a:t>Experiment</a:t>
                      </a:r>
                      <a:endParaRPr sz="2400" b="1" dirty="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DBD8D8"/>
                    </a:solidFill>
                  </a:tcPr>
                </a:tc>
                <a:tc>
                  <a:txBody>
                    <a:bodyPr/>
                    <a:lstStyle/>
                    <a:p>
                      <a:pPr marL="0" lvl="0" indent="0" algn="ctr" rtl="0">
                        <a:lnSpc>
                          <a:spcPct val="150000"/>
                        </a:lnSpc>
                        <a:spcBef>
                          <a:spcPts val="1000"/>
                        </a:spcBef>
                        <a:spcAft>
                          <a:spcPts val="0"/>
                        </a:spcAft>
                        <a:buNone/>
                      </a:pPr>
                      <a:r>
                        <a:rPr lang="en-US" sz="2400" b="1" dirty="0">
                          <a:latin typeface="Times New Roman"/>
                          <a:ea typeface="Times New Roman"/>
                          <a:cs typeface="Times New Roman"/>
                          <a:sym typeface="Times New Roman"/>
                        </a:rPr>
                        <a:t>Method</a:t>
                      </a:r>
                      <a:endParaRPr sz="2400" b="1" dirty="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DBD8D8"/>
                    </a:solidFill>
                  </a:tcPr>
                </a:tc>
                <a:tc>
                  <a:txBody>
                    <a:bodyPr/>
                    <a:lstStyle/>
                    <a:p>
                      <a:pPr marL="0" lvl="0" indent="0" algn="ctr" rtl="0">
                        <a:lnSpc>
                          <a:spcPct val="150000"/>
                        </a:lnSpc>
                        <a:spcBef>
                          <a:spcPts val="1000"/>
                        </a:spcBef>
                        <a:spcAft>
                          <a:spcPts val="0"/>
                        </a:spcAft>
                        <a:buNone/>
                      </a:pPr>
                      <a:r>
                        <a:rPr lang="en-US" sz="2400" b="1" dirty="0">
                          <a:latin typeface="Times New Roman"/>
                          <a:ea typeface="Times New Roman"/>
                          <a:cs typeface="Times New Roman"/>
                          <a:sym typeface="Times New Roman"/>
                        </a:rPr>
                        <a:t>Model</a:t>
                      </a:r>
                      <a:endParaRPr sz="2400" b="1" dirty="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DBD8D8"/>
                    </a:solidFill>
                  </a:tcPr>
                </a:tc>
                <a:tc>
                  <a:txBody>
                    <a:bodyPr/>
                    <a:lstStyle/>
                    <a:p>
                      <a:pPr marL="0" lvl="0" indent="0" algn="ctr" rtl="0">
                        <a:spcBef>
                          <a:spcPts val="0"/>
                        </a:spcBef>
                        <a:spcAft>
                          <a:spcPts val="0"/>
                        </a:spcAft>
                        <a:buNone/>
                      </a:pPr>
                      <a:r>
                        <a:rPr lang="en-US" sz="2400" b="1">
                          <a:latin typeface="Times New Roman"/>
                          <a:ea typeface="Times New Roman"/>
                          <a:cs typeface="Times New Roman"/>
                          <a:sym typeface="Times New Roman"/>
                        </a:rPr>
                        <a:t>Data</a:t>
                      </a:r>
                      <a:endParaRPr sz="2400" b="1">
                        <a:latin typeface="Times New Roman"/>
                        <a:ea typeface="Times New Roman"/>
                        <a:cs typeface="Times New Roman"/>
                        <a:sym typeface="Times New Roman"/>
                      </a:endParaRPr>
                    </a:p>
                    <a:p>
                      <a:pPr marL="0" lvl="0" indent="0" algn="ctr" rtl="0">
                        <a:spcBef>
                          <a:spcPts val="0"/>
                        </a:spcBef>
                        <a:spcAft>
                          <a:spcPts val="0"/>
                        </a:spcAft>
                        <a:buNone/>
                      </a:pPr>
                      <a:r>
                        <a:rPr lang="en-US" sz="2400" b="1">
                          <a:latin typeface="Times New Roman"/>
                          <a:ea typeface="Times New Roman"/>
                          <a:cs typeface="Times New Roman"/>
                          <a:sym typeface="Times New Roman"/>
                        </a:rPr>
                        <a:t>Augmentation</a:t>
                      </a:r>
                      <a:endParaRPr sz="2400" b="1">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DBD8D8"/>
                    </a:solidFill>
                  </a:tcPr>
                </a:tc>
                <a:tc>
                  <a:txBody>
                    <a:bodyPr/>
                    <a:lstStyle/>
                    <a:p>
                      <a:pPr marL="0" lvl="0" indent="0" algn="ctr" rtl="0">
                        <a:spcBef>
                          <a:spcPts val="0"/>
                        </a:spcBef>
                        <a:spcAft>
                          <a:spcPts val="0"/>
                        </a:spcAft>
                        <a:buNone/>
                      </a:pPr>
                      <a:r>
                        <a:rPr lang="en-US" sz="2400" b="1">
                          <a:latin typeface="Times New Roman"/>
                          <a:ea typeface="Times New Roman"/>
                          <a:cs typeface="Times New Roman"/>
                          <a:sym typeface="Times New Roman"/>
                        </a:rPr>
                        <a:t>Validation</a:t>
                      </a:r>
                      <a:endParaRPr sz="2400" b="1">
                        <a:latin typeface="Times New Roman"/>
                        <a:ea typeface="Times New Roman"/>
                        <a:cs typeface="Times New Roman"/>
                        <a:sym typeface="Times New Roman"/>
                      </a:endParaRPr>
                    </a:p>
                    <a:p>
                      <a:pPr marL="0" lvl="0" indent="0" algn="ctr" rtl="0">
                        <a:spcBef>
                          <a:spcPts val="0"/>
                        </a:spcBef>
                        <a:spcAft>
                          <a:spcPts val="0"/>
                        </a:spcAft>
                        <a:buNone/>
                      </a:pPr>
                      <a:r>
                        <a:rPr lang="en-US" sz="2400" b="1">
                          <a:latin typeface="Times New Roman"/>
                          <a:ea typeface="Times New Roman"/>
                          <a:cs typeface="Times New Roman"/>
                          <a:sym typeface="Times New Roman"/>
                        </a:rPr>
                        <a:t>Accuracy</a:t>
                      </a:r>
                      <a:endParaRPr sz="2400" b="1">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DBD8D8"/>
                    </a:solidFill>
                  </a:tcPr>
                </a:tc>
                <a:tc>
                  <a:txBody>
                    <a:bodyPr/>
                    <a:lstStyle/>
                    <a:p>
                      <a:pPr marL="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Validation</a:t>
                      </a:r>
                      <a:endParaRPr sz="2400" b="1">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r>
                        <a:rPr lang="en-US" sz="2400" b="1">
                          <a:solidFill>
                            <a:schemeClr val="dk1"/>
                          </a:solidFill>
                          <a:latin typeface="Times New Roman"/>
                          <a:ea typeface="Times New Roman"/>
                          <a:cs typeface="Times New Roman"/>
                          <a:sym typeface="Times New Roman"/>
                        </a:rPr>
                        <a:t>F1 Score</a:t>
                      </a:r>
                      <a:endParaRPr sz="2400" b="1">
                        <a:solidFill>
                          <a:schemeClr val="dk1"/>
                        </a:solidFill>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DBD8D8"/>
                    </a:solidFill>
                  </a:tcPr>
                </a:tc>
                <a:extLst>
                  <a:ext uri="{0D108BD9-81ED-4DB2-BD59-A6C34878D82A}">
                    <a16:rowId xmlns:a16="http://schemas.microsoft.com/office/drawing/2014/main" val="10000"/>
                  </a:ext>
                </a:extLst>
              </a:tr>
              <a:tr h="524300">
                <a:tc>
                  <a:txBody>
                    <a:bodyPr/>
                    <a:lstStyle/>
                    <a:p>
                      <a:pPr marL="0" lvl="0" indent="0" algn="ctr" rtl="0">
                        <a:spcBef>
                          <a:spcPts val="0"/>
                        </a:spcBef>
                        <a:spcAft>
                          <a:spcPts val="0"/>
                        </a:spcAft>
                        <a:buNone/>
                      </a:pPr>
                      <a:r>
                        <a:rPr lang="en-US" sz="2400" b="1">
                          <a:latin typeface="Times New Roman"/>
                          <a:ea typeface="Times New Roman"/>
                          <a:cs typeface="Times New Roman"/>
                          <a:sym typeface="Times New Roman"/>
                        </a:rPr>
                        <a:t>Case 1</a:t>
                      </a:r>
                      <a:endParaRPr sz="2400" b="1">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dirty="0">
                          <a:latin typeface="Times New Roman"/>
                          <a:ea typeface="Times New Roman"/>
                          <a:cs typeface="Times New Roman"/>
                          <a:sym typeface="Times New Roman"/>
                        </a:rPr>
                        <a:t>Baseline</a:t>
                      </a:r>
                      <a:endParaRPr sz="2400" dirty="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a:latin typeface="Times New Roman"/>
                          <a:ea typeface="Times New Roman"/>
                          <a:cs typeface="Times New Roman"/>
                          <a:sym typeface="Times New Roman"/>
                        </a:rPr>
                        <a:t>TinyBERT</a:t>
                      </a:r>
                      <a:endParaRPr sz="240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a:latin typeface="Times New Roman"/>
                          <a:ea typeface="Times New Roman"/>
                          <a:cs typeface="Times New Roman"/>
                          <a:sym typeface="Times New Roman"/>
                        </a:rPr>
                        <a:t>No</a:t>
                      </a:r>
                      <a:endParaRPr sz="240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a:latin typeface="Times New Roman"/>
                          <a:ea typeface="Times New Roman"/>
                          <a:cs typeface="Times New Roman"/>
                          <a:sym typeface="Times New Roman"/>
                        </a:rPr>
                        <a:t>0.4548</a:t>
                      </a:r>
                      <a:endParaRPr sz="240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a:latin typeface="Times New Roman"/>
                          <a:ea typeface="Times New Roman"/>
                          <a:cs typeface="Times New Roman"/>
                          <a:sym typeface="Times New Roman"/>
                        </a:rPr>
                        <a:t>0.4346</a:t>
                      </a:r>
                      <a:endParaRPr sz="240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24300">
                <a:tc>
                  <a:txBody>
                    <a:bodyPr/>
                    <a:lstStyle/>
                    <a:p>
                      <a:pPr marL="0" lvl="0" indent="0" algn="ctr" rtl="0">
                        <a:spcBef>
                          <a:spcPts val="0"/>
                        </a:spcBef>
                        <a:spcAft>
                          <a:spcPts val="0"/>
                        </a:spcAft>
                        <a:buClr>
                          <a:schemeClr val="dk1"/>
                        </a:buClr>
                        <a:buSzPts val="1100"/>
                        <a:buFont typeface="Arial"/>
                        <a:buNone/>
                      </a:pPr>
                      <a:r>
                        <a:rPr lang="en-US" sz="2400" b="1">
                          <a:solidFill>
                            <a:schemeClr val="dk1"/>
                          </a:solidFill>
                          <a:latin typeface="Times New Roman"/>
                          <a:ea typeface="Times New Roman"/>
                          <a:cs typeface="Times New Roman"/>
                          <a:sym typeface="Times New Roman"/>
                        </a:rPr>
                        <a:t>Case 2</a:t>
                      </a:r>
                      <a:endParaRPr sz="2400" b="1">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a:latin typeface="Times New Roman"/>
                          <a:ea typeface="Times New Roman"/>
                          <a:cs typeface="Times New Roman"/>
                          <a:sym typeface="Times New Roman"/>
                        </a:rPr>
                        <a:t>Our</a:t>
                      </a:r>
                      <a:endParaRPr sz="240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a:latin typeface="Times New Roman"/>
                          <a:ea typeface="Times New Roman"/>
                          <a:cs typeface="Times New Roman"/>
                          <a:sym typeface="Times New Roman"/>
                        </a:rPr>
                        <a:t>TinyBERT</a:t>
                      </a:r>
                      <a:endParaRPr sz="240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No</a:t>
                      </a:r>
                      <a:endParaRPr sz="240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a:latin typeface="Times New Roman"/>
                          <a:ea typeface="Times New Roman"/>
                          <a:cs typeface="Times New Roman"/>
                          <a:sym typeface="Times New Roman"/>
                        </a:rPr>
                        <a:t>0.4763</a:t>
                      </a:r>
                      <a:endParaRPr sz="240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a:latin typeface="Times New Roman"/>
                          <a:ea typeface="Times New Roman"/>
                          <a:cs typeface="Times New Roman"/>
                          <a:sym typeface="Times New Roman"/>
                        </a:rPr>
                        <a:t>0.4644</a:t>
                      </a:r>
                      <a:endParaRPr sz="2400">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24300">
                <a:tc>
                  <a:txBody>
                    <a:bodyPr/>
                    <a:lstStyle/>
                    <a:p>
                      <a:pPr marL="0" lvl="0" indent="0" algn="ctr" rtl="0">
                        <a:spcBef>
                          <a:spcPts val="0"/>
                        </a:spcBef>
                        <a:spcAft>
                          <a:spcPts val="0"/>
                        </a:spcAft>
                        <a:buClr>
                          <a:schemeClr val="dk1"/>
                        </a:buClr>
                        <a:buSzPts val="1100"/>
                        <a:buFont typeface="Arial"/>
                        <a:buNone/>
                      </a:pPr>
                      <a:r>
                        <a:rPr lang="en-US" sz="2400" b="1">
                          <a:solidFill>
                            <a:schemeClr val="dk1"/>
                          </a:solidFill>
                          <a:latin typeface="Times New Roman"/>
                          <a:ea typeface="Times New Roman"/>
                          <a:cs typeface="Times New Roman"/>
                          <a:sym typeface="Times New Roman"/>
                        </a:rPr>
                        <a:t>Case 3</a:t>
                      </a:r>
                      <a:endParaRPr sz="2400" b="1">
                        <a:solidFill>
                          <a:srgbClr val="FF0000"/>
                        </a:solidFill>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2400" b="1">
                          <a:solidFill>
                            <a:srgbClr val="FF0000"/>
                          </a:solidFill>
                          <a:latin typeface="Times New Roman"/>
                          <a:ea typeface="Times New Roman"/>
                          <a:cs typeface="Times New Roman"/>
                          <a:sym typeface="Times New Roman"/>
                        </a:rPr>
                        <a:t>Our</a:t>
                      </a:r>
                      <a:endParaRPr sz="2400" b="1">
                        <a:solidFill>
                          <a:srgbClr val="FF0000"/>
                        </a:solidFill>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b="1">
                          <a:solidFill>
                            <a:srgbClr val="FF0000"/>
                          </a:solidFill>
                          <a:latin typeface="Times New Roman"/>
                          <a:ea typeface="Times New Roman"/>
                          <a:cs typeface="Times New Roman"/>
                          <a:sym typeface="Times New Roman"/>
                        </a:rPr>
                        <a:t>TinyBERT</a:t>
                      </a:r>
                      <a:endParaRPr sz="2400" b="1">
                        <a:solidFill>
                          <a:srgbClr val="FF0000"/>
                        </a:solidFill>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b="1">
                          <a:solidFill>
                            <a:srgbClr val="FF0000"/>
                          </a:solidFill>
                          <a:latin typeface="Times New Roman"/>
                          <a:ea typeface="Times New Roman"/>
                          <a:cs typeface="Times New Roman"/>
                          <a:sym typeface="Times New Roman"/>
                        </a:rPr>
                        <a:t>Yes</a:t>
                      </a:r>
                      <a:endParaRPr sz="2400" b="1">
                        <a:solidFill>
                          <a:srgbClr val="FF0000"/>
                        </a:solidFill>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b="1">
                          <a:solidFill>
                            <a:srgbClr val="FF0000"/>
                          </a:solidFill>
                          <a:latin typeface="Times New Roman"/>
                          <a:ea typeface="Times New Roman"/>
                          <a:cs typeface="Times New Roman"/>
                          <a:sym typeface="Times New Roman"/>
                        </a:rPr>
                        <a:t>0.4828</a:t>
                      </a:r>
                      <a:endParaRPr sz="2400" b="1">
                        <a:solidFill>
                          <a:srgbClr val="FF0000"/>
                        </a:solidFill>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400" b="1" dirty="0">
                          <a:solidFill>
                            <a:srgbClr val="FF0000"/>
                          </a:solidFill>
                          <a:latin typeface="Times New Roman"/>
                          <a:ea typeface="Times New Roman"/>
                          <a:cs typeface="Times New Roman"/>
                          <a:sym typeface="Times New Roman"/>
                        </a:rPr>
                        <a:t>0.4711</a:t>
                      </a:r>
                      <a:endParaRPr sz="2400" b="1" dirty="0">
                        <a:solidFill>
                          <a:srgbClr val="FF0000"/>
                        </a:solidFill>
                        <a:latin typeface="Times New Roman"/>
                        <a:ea typeface="Times New Roman"/>
                        <a:cs typeface="Times New Roman"/>
                        <a:sym typeface="Times New Roman"/>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61" name="Google Shape;261;p30"/>
          <p:cNvSpPr txBox="1">
            <a:spLocks noGrp="1"/>
          </p:cNvSpPr>
          <p:nvPr>
            <p:ph type="body" idx="1"/>
          </p:nvPr>
        </p:nvSpPr>
        <p:spPr>
          <a:xfrm>
            <a:off x="717150" y="5431950"/>
            <a:ext cx="10620600" cy="914100"/>
          </a:xfrm>
          <a:prstGeom prst="rect">
            <a:avLst/>
          </a:prstGeom>
          <a:noFill/>
          <a:ln>
            <a:noFill/>
          </a:ln>
        </p:spPr>
        <p:txBody>
          <a:bodyPr spcFirstLastPara="1" wrap="square" lIns="91425" tIns="45700" rIns="91425" bIns="45700" anchor="t" anchorCtr="0">
            <a:normAutofit lnSpcReduction="10000"/>
          </a:bodyPr>
          <a:lstStyle/>
          <a:p>
            <a:pPr marL="182880" lvl="0" indent="-208280" algn="l" rtl="0">
              <a:lnSpc>
                <a:spcPct val="100000"/>
              </a:lnSpc>
              <a:spcBef>
                <a:spcPts val="1200"/>
              </a:spcBef>
              <a:spcAft>
                <a:spcPts val="0"/>
              </a:spcAft>
              <a:buSzPts val="2440"/>
              <a:buFont typeface="Times New Roman"/>
              <a:buChar char="▪"/>
            </a:pPr>
            <a:r>
              <a:rPr lang="en-US" sz="2400" dirty="0">
                <a:latin typeface="Times New Roman"/>
                <a:ea typeface="Times New Roman"/>
                <a:cs typeface="Times New Roman"/>
                <a:sym typeface="Times New Roman"/>
              </a:rPr>
              <a:t>Please note that </a:t>
            </a:r>
            <a:r>
              <a:rPr lang="en-US" sz="2400" b="1" dirty="0">
                <a:solidFill>
                  <a:srgbClr val="1155CC"/>
                </a:solidFill>
                <a:latin typeface="Times New Roman"/>
                <a:ea typeface="Times New Roman"/>
                <a:cs typeface="Times New Roman"/>
                <a:sym typeface="Times New Roman"/>
              </a:rPr>
              <a:t>data augmentation</a:t>
            </a:r>
            <a:r>
              <a:rPr lang="en-US" sz="2400" dirty="0">
                <a:latin typeface="Times New Roman"/>
                <a:ea typeface="Times New Roman"/>
                <a:cs typeface="Times New Roman"/>
                <a:sym typeface="Times New Roman"/>
              </a:rPr>
              <a:t> refers to the addition of the </a:t>
            </a:r>
            <a:r>
              <a:rPr lang="en-US" sz="2400" b="1" dirty="0">
                <a:solidFill>
                  <a:srgbClr val="1155CC"/>
                </a:solidFill>
                <a:latin typeface="Times New Roman"/>
                <a:ea typeface="Times New Roman"/>
                <a:cs typeface="Times New Roman"/>
                <a:sym typeface="Times New Roman"/>
              </a:rPr>
              <a:t>random truncation text function</a:t>
            </a:r>
            <a:r>
              <a:rPr lang="en-US" sz="2400" dirty="0">
                <a:latin typeface="Times New Roman"/>
                <a:ea typeface="Times New Roman"/>
                <a:cs typeface="Times New Roman"/>
                <a:sym typeface="Times New Roman"/>
              </a:rPr>
              <a:t> and the </a:t>
            </a:r>
            <a:r>
              <a:rPr lang="en-US" sz="2400" b="1" dirty="0">
                <a:solidFill>
                  <a:srgbClr val="1155CC"/>
                </a:solidFill>
                <a:latin typeface="Times New Roman"/>
                <a:ea typeface="Times New Roman"/>
                <a:cs typeface="Times New Roman"/>
                <a:sym typeface="Times New Roman"/>
              </a:rPr>
              <a:t>random ordering in the collation function</a:t>
            </a:r>
            <a:r>
              <a:rPr lang="en-US" sz="2400" dirty="0">
                <a:latin typeface="Times New Roman"/>
                <a:ea typeface="Times New Roman"/>
                <a:cs typeface="Times New Roman"/>
                <a:sym typeface="Times New Roman"/>
              </a:rPr>
              <a:t>. </a:t>
            </a:r>
            <a:endParaRPr sz="2400" dirty="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1"/>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5400"/>
              <a:buFont typeface="Times New Roman"/>
              <a:buNone/>
            </a:pPr>
            <a:r>
              <a:rPr lang="en-US">
                <a:solidFill>
                  <a:schemeClr val="dk1"/>
                </a:solidFill>
                <a:latin typeface="Times New Roman"/>
                <a:ea typeface="Times New Roman"/>
                <a:cs typeface="Times New Roman"/>
                <a:sym typeface="Times New Roman"/>
              </a:rPr>
              <a:t>Outline</a:t>
            </a:r>
            <a:endParaRPr>
              <a:latin typeface="Times New Roman"/>
              <a:ea typeface="Times New Roman"/>
              <a:cs typeface="Times New Roman"/>
              <a:sym typeface="Times New Roman"/>
            </a:endParaRPr>
          </a:p>
        </p:txBody>
      </p:sp>
      <p:sp>
        <p:nvSpPr>
          <p:cNvPr id="267" name="Google Shape;267;p31"/>
          <p:cNvSpPr txBox="1">
            <a:spLocks noGrp="1"/>
          </p:cNvSpPr>
          <p:nvPr>
            <p:ph type="body" idx="1"/>
          </p:nvPr>
        </p:nvSpPr>
        <p:spPr>
          <a:xfrm>
            <a:off x="1069848" y="2121408"/>
            <a:ext cx="10058400" cy="4050900"/>
          </a:xfrm>
          <a:prstGeom prst="rect">
            <a:avLst/>
          </a:prstGeom>
          <a:noFill/>
          <a:ln>
            <a:noFill/>
          </a:ln>
        </p:spPr>
        <p:txBody>
          <a:bodyPr spcFirstLastPara="1" wrap="square" lIns="91425" tIns="45700" rIns="91425" bIns="45700" anchor="t" anchorCtr="0">
            <a:normAutofit/>
          </a:bodyPr>
          <a:lstStyle/>
          <a:p>
            <a:pPr marL="182880" lvl="0" indent="-208280" algn="l" rtl="0">
              <a:lnSpc>
                <a:spcPct val="100000"/>
              </a:lnSpc>
              <a:spcBef>
                <a:spcPts val="0"/>
              </a:spcBef>
              <a:spcAft>
                <a:spcPts val="0"/>
              </a:spcAft>
              <a:buClr>
                <a:srgbClr val="9E3611"/>
              </a:buClr>
              <a:buSzPts val="2440"/>
              <a:buChar char="▪"/>
            </a:pPr>
            <a:r>
              <a:rPr lang="en-US" sz="2400" dirty="0">
                <a:solidFill>
                  <a:srgbClr val="C3C0C0"/>
                </a:solidFill>
                <a:latin typeface="Times New Roman"/>
                <a:ea typeface="Times New Roman"/>
                <a:cs typeface="Times New Roman"/>
                <a:sym typeface="Times New Roman"/>
              </a:rPr>
              <a:t>Introduction</a:t>
            </a:r>
            <a:endParaRPr dirty="0">
              <a:solidFill>
                <a:srgbClr val="C3C0C0"/>
              </a:solidFill>
            </a:endParaRPr>
          </a:p>
          <a:p>
            <a:pPr marL="182880" lvl="0" indent="-208280" algn="l" rtl="0">
              <a:lnSpc>
                <a:spcPct val="100000"/>
              </a:lnSpc>
              <a:spcBef>
                <a:spcPts val="1200"/>
              </a:spcBef>
              <a:spcAft>
                <a:spcPts val="0"/>
              </a:spcAft>
              <a:buClr>
                <a:srgbClr val="9E3611"/>
              </a:buClr>
              <a:buSzPts val="2440"/>
              <a:buChar char="▪"/>
            </a:pPr>
            <a:r>
              <a:rPr lang="en-US" sz="2400" dirty="0">
                <a:solidFill>
                  <a:srgbClr val="C3C0C0"/>
                </a:solidFill>
                <a:latin typeface="Times New Roman"/>
                <a:ea typeface="Times New Roman"/>
                <a:cs typeface="Times New Roman"/>
                <a:sym typeface="Times New Roman"/>
              </a:rPr>
              <a:t>Reference Codes</a:t>
            </a:r>
            <a:endParaRPr dirty="0"/>
          </a:p>
          <a:p>
            <a:pPr marL="182880" lvl="0" indent="-208280" algn="l" rtl="0">
              <a:lnSpc>
                <a:spcPct val="100000"/>
              </a:lnSpc>
              <a:spcBef>
                <a:spcPts val="1200"/>
              </a:spcBef>
              <a:spcAft>
                <a:spcPts val="0"/>
              </a:spcAft>
              <a:buClr>
                <a:srgbClr val="9E3611"/>
              </a:buClr>
              <a:buSzPts val="2440"/>
              <a:buChar char="▪"/>
            </a:pPr>
            <a:r>
              <a:rPr lang="en-US" sz="2400" dirty="0">
                <a:solidFill>
                  <a:srgbClr val="C3C0C0"/>
                </a:solidFill>
                <a:latin typeface="Times New Roman"/>
                <a:ea typeface="Times New Roman"/>
                <a:cs typeface="Times New Roman"/>
                <a:sym typeface="Times New Roman"/>
              </a:rPr>
              <a:t>Our Proposed Methods</a:t>
            </a:r>
            <a:endParaRPr dirty="0">
              <a:solidFill>
                <a:srgbClr val="C3C0C0"/>
              </a:solidFill>
            </a:endParaRPr>
          </a:p>
          <a:p>
            <a:pPr marL="182880" lvl="0" indent="-208280" algn="l" rtl="0">
              <a:lnSpc>
                <a:spcPct val="100000"/>
              </a:lnSpc>
              <a:spcBef>
                <a:spcPts val="1200"/>
              </a:spcBef>
              <a:spcAft>
                <a:spcPts val="0"/>
              </a:spcAft>
              <a:buClr>
                <a:srgbClr val="9E3611"/>
              </a:buClr>
              <a:buSzPts val="2440"/>
              <a:buChar char="▪"/>
            </a:pPr>
            <a:r>
              <a:rPr lang="en-US" sz="2400" dirty="0">
                <a:solidFill>
                  <a:srgbClr val="C3C0C0"/>
                </a:solidFill>
                <a:latin typeface="Times New Roman"/>
                <a:ea typeface="Times New Roman"/>
                <a:cs typeface="Times New Roman"/>
                <a:sym typeface="Times New Roman"/>
              </a:rPr>
              <a:t>Experimental Results</a:t>
            </a:r>
            <a:endParaRPr dirty="0">
              <a:solidFill>
                <a:srgbClr val="C3C0C0"/>
              </a:solidFill>
            </a:endParaRPr>
          </a:p>
          <a:p>
            <a:pPr marL="182880" lvl="0" indent="-208280" algn="l" rtl="0">
              <a:lnSpc>
                <a:spcPct val="100000"/>
              </a:lnSpc>
              <a:spcBef>
                <a:spcPts val="1200"/>
              </a:spcBef>
              <a:spcAft>
                <a:spcPts val="0"/>
              </a:spcAft>
              <a:buClr>
                <a:srgbClr val="9E3611"/>
              </a:buClr>
              <a:buSzPts val="2440"/>
              <a:buChar char="▪"/>
            </a:pPr>
            <a:r>
              <a:rPr lang="en-US" sz="2400" dirty="0">
                <a:solidFill>
                  <a:srgbClr val="202124"/>
                </a:solidFill>
                <a:latin typeface="Times New Roman"/>
                <a:ea typeface="Times New Roman"/>
                <a:cs typeface="Times New Roman"/>
                <a:sym typeface="Times New Roman"/>
              </a:rPr>
              <a:t>Analysis and Comparison</a:t>
            </a:r>
            <a:endParaRPr dirty="0">
              <a:solidFill>
                <a:srgbClr val="202124"/>
              </a:solidFill>
            </a:endParaRPr>
          </a:p>
          <a:p>
            <a:pPr marL="182880" lvl="0" indent="-208280" algn="l" rtl="0">
              <a:lnSpc>
                <a:spcPct val="100000"/>
              </a:lnSpc>
              <a:spcBef>
                <a:spcPts val="1200"/>
              </a:spcBef>
              <a:spcAft>
                <a:spcPts val="0"/>
              </a:spcAft>
              <a:buClr>
                <a:srgbClr val="9E3611"/>
              </a:buClr>
              <a:buSzPts val="2440"/>
              <a:buChar char="▪"/>
            </a:pPr>
            <a:r>
              <a:rPr lang="en-US" sz="2400" dirty="0">
                <a:solidFill>
                  <a:srgbClr val="C3C0C0"/>
                </a:solidFill>
                <a:latin typeface="Times New Roman"/>
                <a:ea typeface="Times New Roman"/>
                <a:cs typeface="Times New Roman"/>
                <a:sym typeface="Times New Roman"/>
              </a:rPr>
              <a:t>Kaggle Competition Ranking</a:t>
            </a:r>
            <a:endParaRPr dirty="0"/>
          </a:p>
          <a:p>
            <a:pPr marL="182880" lvl="0" indent="-208280" algn="l" rtl="0">
              <a:lnSpc>
                <a:spcPct val="100000"/>
              </a:lnSpc>
              <a:spcBef>
                <a:spcPts val="1200"/>
              </a:spcBef>
              <a:spcAft>
                <a:spcPts val="0"/>
              </a:spcAft>
              <a:buClr>
                <a:srgbClr val="9E3611"/>
              </a:buClr>
              <a:buSzPts val="2440"/>
              <a:buChar char="▪"/>
            </a:pPr>
            <a:r>
              <a:rPr lang="en-US" sz="2400" dirty="0">
                <a:solidFill>
                  <a:srgbClr val="C3C0C0"/>
                </a:solidFill>
                <a:latin typeface="Times New Roman"/>
                <a:ea typeface="Times New Roman"/>
                <a:cs typeface="Times New Roman"/>
                <a:sym typeface="Times New Roman"/>
              </a:rPr>
              <a:t>Conclusion</a:t>
            </a:r>
            <a:endParaRPr sz="2400" dirty="0">
              <a:latin typeface="Times New Roman"/>
              <a:ea typeface="Times New Roman"/>
              <a:cs typeface="Times New Roman"/>
              <a:sym typeface="Times New Roman"/>
            </a:endParaRPr>
          </a:p>
        </p:txBody>
      </p:sp>
      <p:sp>
        <p:nvSpPr>
          <p:cNvPr id="268" name="Google Shape;268;p31"/>
          <p:cNvSpPr txBox="1">
            <a:spLocks noGrp="1"/>
          </p:cNvSpPr>
          <p:nvPr>
            <p:ph type="sldNum" idx="12"/>
          </p:nvPr>
        </p:nvSpPr>
        <p:spPr>
          <a:xfrm>
            <a:off x="11311128" y="6272784"/>
            <a:ext cx="6402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2"/>
          <p:cNvSpPr txBox="1">
            <a:spLocks noGrp="1"/>
          </p:cNvSpPr>
          <p:nvPr>
            <p:ph type="title"/>
          </p:nvPr>
        </p:nvSpPr>
        <p:spPr>
          <a:xfrm>
            <a:off x="1069848" y="165509"/>
            <a:ext cx="10058400" cy="1609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Quantitative Analysis</a:t>
            </a:r>
            <a:endParaRPr dirty="0">
              <a:latin typeface="Times New Roman"/>
              <a:ea typeface="Times New Roman"/>
              <a:cs typeface="Times New Roman"/>
              <a:sym typeface="Times New Roman"/>
            </a:endParaRPr>
          </a:p>
        </p:txBody>
      </p:sp>
      <p:sp>
        <p:nvSpPr>
          <p:cNvPr id="275" name="Google Shape;275;p32"/>
          <p:cNvSpPr txBox="1">
            <a:spLocks noGrp="1"/>
          </p:cNvSpPr>
          <p:nvPr>
            <p:ph type="body" idx="1"/>
          </p:nvPr>
        </p:nvSpPr>
        <p:spPr>
          <a:xfrm>
            <a:off x="863328" y="1564913"/>
            <a:ext cx="10447800" cy="4884982"/>
          </a:xfrm>
          <a:prstGeom prst="rect">
            <a:avLst/>
          </a:prstGeom>
        </p:spPr>
        <p:txBody>
          <a:bodyPr spcFirstLastPara="1" wrap="square" lIns="91425" tIns="45700" rIns="91425" bIns="45700" anchor="t" anchorCtr="0">
            <a:normAutofit lnSpcReduction="10000"/>
          </a:bodyPr>
          <a:lstStyle/>
          <a:p>
            <a:pPr marL="457200" lvl="0" indent="-381000" algn="just" rtl="0">
              <a:lnSpc>
                <a:spcPct val="115000"/>
              </a:lnSpc>
              <a:spcBef>
                <a:spcPts val="1200"/>
              </a:spcBef>
              <a:spcAft>
                <a:spcPts val="0"/>
              </a:spcAft>
              <a:buSzPts val="2400"/>
              <a:buFont typeface="Times New Roman"/>
              <a:buChar char="▪"/>
            </a:pPr>
            <a:r>
              <a:rPr lang="en-US" sz="2400" dirty="0">
                <a:latin typeface="Times New Roman"/>
                <a:ea typeface="Times New Roman"/>
                <a:cs typeface="Times New Roman"/>
                <a:sym typeface="Times New Roman"/>
              </a:rPr>
              <a:t>From the comparison of the numerical results of Case 1 and Case 2, it is evident that by utilizing the same pretrained model and data preprocessing techniques, our method achieves higher accuracy and F1 score on the validation dataset. This improvement is achieved by incorporating </a:t>
            </a:r>
            <a:r>
              <a:rPr lang="en-US" sz="2400" b="1" dirty="0">
                <a:solidFill>
                  <a:srgbClr val="FF0000"/>
                </a:solidFill>
                <a:latin typeface="Times New Roman"/>
                <a:ea typeface="Times New Roman"/>
                <a:cs typeface="Times New Roman"/>
                <a:sym typeface="Times New Roman"/>
              </a:rPr>
              <a:t>three inputs</a:t>
            </a:r>
            <a:r>
              <a:rPr lang="en-US" sz="2400" dirty="0">
                <a:latin typeface="Times New Roman"/>
                <a:ea typeface="Times New Roman"/>
                <a:cs typeface="Times New Roman"/>
                <a:sym typeface="Times New Roman"/>
              </a:rPr>
              <a:t> in our method, as opposed to the two inputs used in the baseline method.</a:t>
            </a:r>
          </a:p>
          <a:p>
            <a:pPr marL="76200" lvl="0" indent="0" algn="just" rtl="0">
              <a:lnSpc>
                <a:spcPct val="115000"/>
              </a:lnSpc>
              <a:spcBef>
                <a:spcPts val="1200"/>
              </a:spcBef>
              <a:spcAft>
                <a:spcPts val="0"/>
              </a:spcAft>
              <a:buSzPts val="2400"/>
              <a:buNone/>
            </a:pPr>
            <a:endParaRPr sz="2400" dirty="0">
              <a:latin typeface="Times New Roman"/>
              <a:ea typeface="Times New Roman"/>
              <a:cs typeface="Times New Roman"/>
              <a:sym typeface="Times New Roman"/>
            </a:endParaRPr>
          </a:p>
          <a:p>
            <a:pPr marL="457200" lvl="0" indent="-381000" algn="just" rtl="0">
              <a:lnSpc>
                <a:spcPct val="115000"/>
              </a:lnSpc>
              <a:spcBef>
                <a:spcPts val="0"/>
              </a:spcBef>
              <a:spcAft>
                <a:spcPts val="0"/>
              </a:spcAft>
              <a:buSzPts val="2400"/>
              <a:buFont typeface="Times New Roman"/>
              <a:buChar char="▪"/>
            </a:pPr>
            <a:r>
              <a:rPr lang="en-US" sz="2400" dirty="0">
                <a:latin typeface="Times New Roman"/>
                <a:ea typeface="Times New Roman"/>
                <a:cs typeface="Times New Roman"/>
                <a:sym typeface="Times New Roman"/>
              </a:rPr>
              <a:t>The comparison of the numerical results from Case 2 and Case 3 further demonstrates that </a:t>
            </a:r>
            <a:r>
              <a:rPr lang="en-US" sz="2400" b="1" dirty="0">
                <a:solidFill>
                  <a:srgbClr val="FF0000"/>
                </a:solidFill>
                <a:latin typeface="Times New Roman"/>
                <a:ea typeface="Times New Roman"/>
                <a:cs typeface="Times New Roman"/>
                <a:sym typeface="Times New Roman"/>
              </a:rPr>
              <a:t>applying the random truncation technique to prompts and responses</a:t>
            </a:r>
            <a:r>
              <a:rPr lang="en-US" sz="2400" dirty="0">
                <a:latin typeface="Times New Roman"/>
                <a:ea typeface="Times New Roman"/>
                <a:cs typeface="Times New Roman"/>
                <a:sym typeface="Times New Roman"/>
              </a:rPr>
              <a:t> enables our method to achieve superior accuracy and F1 score on the validation dataset. It is evident that randomly extracting text yields better results than the default method of extracting text from scratch.</a:t>
            </a:r>
            <a:endParaRPr sz="2400" dirty="0">
              <a:latin typeface="Times New Roman"/>
              <a:ea typeface="Times New Roman"/>
              <a:cs typeface="Times New Roman"/>
              <a:sym typeface="Times New Roman"/>
            </a:endParaRPr>
          </a:p>
        </p:txBody>
      </p:sp>
      <p:sp>
        <p:nvSpPr>
          <p:cNvPr id="276" name="Google Shape;276;p32"/>
          <p:cNvSpPr txBox="1">
            <a:spLocks noGrp="1"/>
          </p:cNvSpPr>
          <p:nvPr>
            <p:ph type="sldNum" idx="12"/>
          </p:nvPr>
        </p:nvSpPr>
        <p:spPr>
          <a:xfrm>
            <a:off x="11311128" y="6272784"/>
            <a:ext cx="6402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3"/>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5400"/>
              <a:buFont typeface="Times New Roman"/>
              <a:buNone/>
            </a:pPr>
            <a:r>
              <a:rPr lang="en-US">
                <a:solidFill>
                  <a:schemeClr val="dk1"/>
                </a:solidFill>
                <a:latin typeface="Times New Roman"/>
                <a:ea typeface="Times New Roman"/>
                <a:cs typeface="Times New Roman"/>
                <a:sym typeface="Times New Roman"/>
              </a:rPr>
              <a:t>Outline</a:t>
            </a:r>
            <a:endParaRPr>
              <a:latin typeface="Times New Roman"/>
              <a:ea typeface="Times New Roman"/>
              <a:cs typeface="Times New Roman"/>
              <a:sym typeface="Times New Roman"/>
            </a:endParaRPr>
          </a:p>
        </p:txBody>
      </p:sp>
      <p:sp>
        <p:nvSpPr>
          <p:cNvPr id="282" name="Google Shape;282;p33"/>
          <p:cNvSpPr txBox="1">
            <a:spLocks noGrp="1"/>
          </p:cNvSpPr>
          <p:nvPr>
            <p:ph type="body" idx="1"/>
          </p:nvPr>
        </p:nvSpPr>
        <p:spPr>
          <a:xfrm>
            <a:off x="1069848" y="2121408"/>
            <a:ext cx="10058400" cy="4050900"/>
          </a:xfrm>
          <a:prstGeom prst="rect">
            <a:avLst/>
          </a:prstGeom>
          <a:noFill/>
          <a:ln>
            <a:noFill/>
          </a:ln>
        </p:spPr>
        <p:txBody>
          <a:bodyPr spcFirstLastPara="1" wrap="square" lIns="91425" tIns="45700" rIns="91425" bIns="45700" anchor="t" anchorCtr="0">
            <a:normAutofit/>
          </a:bodyPr>
          <a:lstStyle/>
          <a:p>
            <a:pPr marL="182880" lvl="0" indent="-205740" algn="l" rtl="0">
              <a:lnSpc>
                <a:spcPct val="100000"/>
              </a:lnSpc>
              <a:spcBef>
                <a:spcPts val="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Introduction</a:t>
            </a:r>
            <a:endParaRPr dirty="0">
              <a:solidFill>
                <a:srgbClr val="C3C0C0"/>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Reference Codes</a:t>
            </a:r>
            <a:endParaRPr dirty="0"/>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Our Proposed Methods</a:t>
            </a:r>
            <a:endParaRPr dirty="0">
              <a:solidFill>
                <a:srgbClr val="C3C0C0"/>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Experimental Results</a:t>
            </a:r>
            <a:endParaRPr dirty="0">
              <a:solidFill>
                <a:srgbClr val="C3C0C0"/>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Analysis and Comparison</a:t>
            </a:r>
            <a:endParaRPr dirty="0">
              <a:solidFill>
                <a:srgbClr val="C3C0C0"/>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202124"/>
                </a:solidFill>
                <a:latin typeface="Times New Roman"/>
                <a:ea typeface="Times New Roman"/>
                <a:cs typeface="Times New Roman"/>
                <a:sym typeface="Times New Roman"/>
              </a:rPr>
              <a:t>Kaggle Competition Ranking</a:t>
            </a:r>
            <a:endParaRPr dirty="0">
              <a:solidFill>
                <a:srgbClr val="202124"/>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Conclusion</a:t>
            </a:r>
            <a:endParaRPr sz="2400" dirty="0">
              <a:latin typeface="Times New Roman"/>
              <a:ea typeface="Times New Roman"/>
              <a:cs typeface="Times New Roman"/>
              <a:sym typeface="Times New Roman"/>
            </a:endParaRPr>
          </a:p>
        </p:txBody>
      </p:sp>
      <p:sp>
        <p:nvSpPr>
          <p:cNvPr id="283" name="Google Shape;283;p33"/>
          <p:cNvSpPr txBox="1">
            <a:spLocks noGrp="1"/>
          </p:cNvSpPr>
          <p:nvPr>
            <p:ph type="sldNum" idx="12"/>
          </p:nvPr>
        </p:nvSpPr>
        <p:spPr>
          <a:xfrm>
            <a:off x="11311128" y="6272784"/>
            <a:ext cx="6402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4"/>
          <p:cNvSpPr txBox="1">
            <a:spLocks noGrp="1"/>
          </p:cNvSpPr>
          <p:nvPr>
            <p:ph type="title"/>
          </p:nvPr>
        </p:nvSpPr>
        <p:spPr>
          <a:xfrm>
            <a:off x="1069848" y="484632"/>
            <a:ext cx="10058400" cy="1609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Times New Roman"/>
                <a:ea typeface="Times New Roman"/>
                <a:cs typeface="Times New Roman"/>
                <a:sym typeface="Times New Roman"/>
              </a:rPr>
              <a:t>Kaggle Competition Ranking</a:t>
            </a:r>
            <a:endParaRPr>
              <a:latin typeface="Times New Roman"/>
              <a:ea typeface="Times New Roman"/>
              <a:cs typeface="Times New Roman"/>
              <a:sym typeface="Times New Roman"/>
            </a:endParaRPr>
          </a:p>
        </p:txBody>
      </p:sp>
      <p:sp>
        <p:nvSpPr>
          <p:cNvPr id="290" name="Google Shape;290;p34"/>
          <p:cNvSpPr txBox="1">
            <a:spLocks noGrp="1"/>
          </p:cNvSpPr>
          <p:nvPr>
            <p:ph type="body" idx="1"/>
          </p:nvPr>
        </p:nvSpPr>
        <p:spPr>
          <a:xfrm>
            <a:off x="1069848" y="2121408"/>
            <a:ext cx="10058400" cy="4050900"/>
          </a:xfrm>
          <a:prstGeom prst="rect">
            <a:avLst/>
          </a:prstGeom>
        </p:spPr>
        <p:txBody>
          <a:bodyPr spcFirstLastPara="1" wrap="square" lIns="91425" tIns="45700" rIns="91425" bIns="45700" anchor="t" anchorCtr="0">
            <a:normAutofit/>
          </a:bodyPr>
          <a:lstStyle/>
          <a:p>
            <a:pPr marL="342900" indent="-342900">
              <a:buFont typeface="Wingdings" panose="05000000000000000000" pitchFamily="2" charset="2"/>
              <a:buChar char="n"/>
            </a:pPr>
            <a:r>
              <a:rPr lang="en-US" altLang="zh-TW" sz="2400" dirty="0">
                <a:latin typeface="Times New Roman" panose="02020603050405020304" pitchFamily="18" charset="0"/>
                <a:cs typeface="Times New Roman" panose="02020603050405020304" pitchFamily="18" charset="0"/>
              </a:rPr>
              <a:t>1.04387 log loss at 55</a:t>
            </a:r>
            <a:r>
              <a:rPr lang="en-US" altLang="zh-TW" sz="2400" baseline="30000" dirty="0">
                <a:latin typeface="Times New Roman" panose="02020603050405020304" pitchFamily="18" charset="0"/>
                <a:cs typeface="Times New Roman" panose="02020603050405020304" pitchFamily="18" charset="0"/>
              </a:rPr>
              <a:t>th</a:t>
            </a:r>
            <a:r>
              <a:rPr lang="en-US" altLang="zh-TW" sz="2400" dirty="0">
                <a:latin typeface="Times New Roman" panose="02020603050405020304" pitchFamily="18" charset="0"/>
                <a:cs typeface="Times New Roman" panose="02020603050405020304" pitchFamily="18" charset="0"/>
              </a:rPr>
              <a:t> place.</a:t>
            </a:r>
            <a:endParaRPr sz="2400" dirty="0">
              <a:latin typeface="Times New Roman" panose="02020603050405020304" pitchFamily="18" charset="0"/>
              <a:cs typeface="Times New Roman" panose="02020603050405020304" pitchFamily="18" charset="0"/>
            </a:endParaRPr>
          </a:p>
        </p:txBody>
      </p:sp>
      <p:sp>
        <p:nvSpPr>
          <p:cNvPr id="291" name="Google Shape;291;p34"/>
          <p:cNvSpPr txBox="1">
            <a:spLocks noGrp="1"/>
          </p:cNvSpPr>
          <p:nvPr>
            <p:ph type="sldNum" idx="12"/>
          </p:nvPr>
        </p:nvSpPr>
        <p:spPr>
          <a:xfrm>
            <a:off x="11311128" y="6272784"/>
            <a:ext cx="6402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22</a:t>
            </a:fld>
            <a:endParaRPr/>
          </a:p>
        </p:txBody>
      </p:sp>
      <p:graphicFrame>
        <p:nvGraphicFramePr>
          <p:cNvPr id="6" name="Google Shape;260;p30">
            <a:extLst>
              <a:ext uri="{FF2B5EF4-FFF2-40B4-BE49-F238E27FC236}">
                <a16:creationId xmlns:a16="http://schemas.microsoft.com/office/drawing/2014/main" id="{2F57CA54-9E44-4193-9411-C7525C111B8C}"/>
              </a:ext>
            </a:extLst>
          </p:cNvPr>
          <p:cNvGraphicFramePr/>
          <p:nvPr>
            <p:extLst>
              <p:ext uri="{D42A27DB-BD31-4B8C-83A1-F6EECF244321}">
                <p14:modId xmlns:p14="http://schemas.microsoft.com/office/powerpoint/2010/main" val="2187032473"/>
              </p:ext>
            </p:extLst>
          </p:nvPr>
        </p:nvGraphicFramePr>
        <p:xfrm>
          <a:off x="3715148" y="3526362"/>
          <a:ext cx="4761703" cy="1771971"/>
        </p:xfrm>
        <a:graphic>
          <a:graphicData uri="http://schemas.openxmlformats.org/drawingml/2006/table">
            <a:tbl>
              <a:tblPr>
                <a:noFill/>
                <a:tableStyleId>{40B961F7-57B1-4752-A267-737E56559FA3}</a:tableStyleId>
              </a:tblPr>
              <a:tblGrid>
                <a:gridCol w="2552945">
                  <a:extLst>
                    <a:ext uri="{9D8B030D-6E8A-4147-A177-3AD203B41FA5}">
                      <a16:colId xmlns:a16="http://schemas.microsoft.com/office/drawing/2014/main" val="20000"/>
                    </a:ext>
                  </a:extLst>
                </a:gridCol>
                <a:gridCol w="2208758">
                  <a:extLst>
                    <a:ext uri="{9D8B030D-6E8A-4147-A177-3AD203B41FA5}">
                      <a16:colId xmlns:a16="http://schemas.microsoft.com/office/drawing/2014/main" val="20001"/>
                    </a:ext>
                  </a:extLst>
                </a:gridCol>
              </a:tblGrid>
              <a:tr h="872081">
                <a:tc>
                  <a:txBody>
                    <a:bodyPr/>
                    <a:lstStyle/>
                    <a:p>
                      <a:pPr marL="0" lvl="0" indent="0" algn="ctr" rtl="0">
                        <a:lnSpc>
                          <a:spcPct val="150000"/>
                        </a:lnSpc>
                        <a:spcBef>
                          <a:spcPts val="1000"/>
                        </a:spcBef>
                        <a:spcAft>
                          <a:spcPts val="0"/>
                        </a:spcAft>
                        <a:buNone/>
                      </a:pPr>
                      <a:r>
                        <a:rPr lang="en-US" sz="3500" b="1" dirty="0">
                          <a:latin typeface="Times New Roman"/>
                          <a:ea typeface="Times New Roman"/>
                          <a:cs typeface="Times New Roman"/>
                          <a:sym typeface="Times New Roman"/>
                        </a:rPr>
                        <a:t>#</a:t>
                      </a:r>
                      <a:endParaRPr sz="3500" b="1" dirty="0">
                        <a:latin typeface="Times New Roman"/>
                        <a:ea typeface="Times New Roman"/>
                        <a:cs typeface="Times New Roman"/>
                        <a:sym typeface="Times New Roman"/>
                      </a:endParaRPr>
                    </a:p>
                  </a:txBody>
                  <a:tcPr marL="133573" marR="133573" marT="133573" marB="133573">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DBD8D8"/>
                    </a:solidFill>
                  </a:tcPr>
                </a:tc>
                <a:tc>
                  <a:txBody>
                    <a:bodyPr/>
                    <a:lstStyle/>
                    <a:p>
                      <a:pPr marL="0" lvl="0" indent="0" algn="ctr" rtl="0">
                        <a:lnSpc>
                          <a:spcPct val="150000"/>
                        </a:lnSpc>
                        <a:spcBef>
                          <a:spcPts val="1000"/>
                        </a:spcBef>
                        <a:spcAft>
                          <a:spcPts val="0"/>
                        </a:spcAft>
                        <a:buNone/>
                      </a:pPr>
                      <a:r>
                        <a:rPr lang="en-US" sz="3500" b="1" dirty="0">
                          <a:latin typeface="Times New Roman"/>
                          <a:ea typeface="Times New Roman"/>
                          <a:cs typeface="Times New Roman"/>
                          <a:sym typeface="Times New Roman"/>
                        </a:rPr>
                        <a:t>Score</a:t>
                      </a:r>
                      <a:endParaRPr sz="3500" b="1" dirty="0">
                        <a:latin typeface="Times New Roman"/>
                        <a:ea typeface="Times New Roman"/>
                        <a:cs typeface="Times New Roman"/>
                        <a:sym typeface="Times New Roman"/>
                      </a:endParaRPr>
                    </a:p>
                  </a:txBody>
                  <a:tcPr marL="133573" marR="133573" marT="133573" marB="133573">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DBD8D8"/>
                    </a:solidFill>
                  </a:tcPr>
                </a:tc>
                <a:extLst>
                  <a:ext uri="{0D108BD9-81ED-4DB2-BD59-A6C34878D82A}">
                    <a16:rowId xmlns:a16="http://schemas.microsoft.com/office/drawing/2014/main" val="10000"/>
                  </a:ext>
                </a:extLst>
              </a:tr>
              <a:tr h="719557">
                <a:tc>
                  <a:txBody>
                    <a:bodyPr/>
                    <a:lstStyle/>
                    <a:p>
                      <a:pPr marL="0" lvl="0" indent="0" algn="ctr" rtl="0">
                        <a:spcBef>
                          <a:spcPts val="0"/>
                        </a:spcBef>
                        <a:spcAft>
                          <a:spcPts val="0"/>
                        </a:spcAft>
                        <a:buNone/>
                      </a:pPr>
                      <a:r>
                        <a:rPr lang="en-US" sz="3500" b="1" dirty="0">
                          <a:latin typeface="Times New Roman"/>
                          <a:ea typeface="Times New Roman"/>
                          <a:cs typeface="Times New Roman"/>
                          <a:sym typeface="Times New Roman"/>
                        </a:rPr>
                        <a:t>55</a:t>
                      </a:r>
                      <a:endParaRPr sz="3500" b="1" dirty="0">
                        <a:latin typeface="Times New Roman"/>
                        <a:ea typeface="Times New Roman"/>
                        <a:cs typeface="Times New Roman"/>
                        <a:sym typeface="Times New Roman"/>
                      </a:endParaRPr>
                    </a:p>
                  </a:txBody>
                  <a:tcPr marL="133573" marR="133573" marT="133573" marB="133573">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3500" dirty="0">
                          <a:latin typeface="Times New Roman"/>
                          <a:ea typeface="Times New Roman"/>
                          <a:cs typeface="Times New Roman"/>
                          <a:sym typeface="Times New Roman"/>
                        </a:rPr>
                        <a:t>1.04387</a:t>
                      </a:r>
                      <a:endParaRPr sz="3500" dirty="0">
                        <a:latin typeface="Times New Roman"/>
                        <a:ea typeface="Times New Roman"/>
                        <a:cs typeface="Times New Roman"/>
                        <a:sym typeface="Times New Roman"/>
                      </a:endParaRPr>
                    </a:p>
                  </a:txBody>
                  <a:tcPr marL="133573" marR="133573" marT="133573" marB="133573">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5"/>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5400"/>
              <a:buFont typeface="Times New Roman"/>
              <a:buNone/>
            </a:pPr>
            <a:r>
              <a:rPr lang="en-US">
                <a:solidFill>
                  <a:schemeClr val="dk1"/>
                </a:solidFill>
                <a:latin typeface="Times New Roman"/>
                <a:ea typeface="Times New Roman"/>
                <a:cs typeface="Times New Roman"/>
                <a:sym typeface="Times New Roman"/>
              </a:rPr>
              <a:t>Outline</a:t>
            </a:r>
            <a:endParaRPr>
              <a:latin typeface="Times New Roman"/>
              <a:ea typeface="Times New Roman"/>
              <a:cs typeface="Times New Roman"/>
              <a:sym typeface="Times New Roman"/>
            </a:endParaRPr>
          </a:p>
        </p:txBody>
      </p:sp>
      <p:sp>
        <p:nvSpPr>
          <p:cNvPr id="297" name="Google Shape;297;p35"/>
          <p:cNvSpPr txBox="1">
            <a:spLocks noGrp="1"/>
          </p:cNvSpPr>
          <p:nvPr>
            <p:ph type="body" idx="1"/>
          </p:nvPr>
        </p:nvSpPr>
        <p:spPr>
          <a:xfrm>
            <a:off x="1069848" y="2121408"/>
            <a:ext cx="10058400" cy="4050900"/>
          </a:xfrm>
          <a:prstGeom prst="rect">
            <a:avLst/>
          </a:prstGeom>
          <a:noFill/>
          <a:ln>
            <a:noFill/>
          </a:ln>
        </p:spPr>
        <p:txBody>
          <a:bodyPr spcFirstLastPara="1" wrap="square" lIns="91425" tIns="45700" rIns="91425" bIns="45700" anchor="t" anchorCtr="0">
            <a:normAutofit/>
          </a:bodyPr>
          <a:lstStyle/>
          <a:p>
            <a:pPr marL="182880" lvl="0" indent="-205740" algn="l" rtl="0">
              <a:lnSpc>
                <a:spcPct val="100000"/>
              </a:lnSpc>
              <a:spcBef>
                <a:spcPts val="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Introduction</a:t>
            </a:r>
            <a:endParaRPr dirty="0">
              <a:solidFill>
                <a:srgbClr val="C3C0C0"/>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Reference Codes</a:t>
            </a:r>
            <a:endParaRPr dirty="0"/>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Our Proposed Methods</a:t>
            </a:r>
            <a:endParaRPr dirty="0">
              <a:solidFill>
                <a:srgbClr val="C3C0C0"/>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Experimental Results</a:t>
            </a:r>
            <a:endParaRPr dirty="0">
              <a:solidFill>
                <a:srgbClr val="C3C0C0"/>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Analysis and Comparison</a:t>
            </a:r>
            <a:endParaRPr dirty="0">
              <a:solidFill>
                <a:srgbClr val="C3C0C0"/>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C3C0C0"/>
                </a:solidFill>
                <a:latin typeface="Times New Roman"/>
                <a:ea typeface="Times New Roman"/>
                <a:cs typeface="Times New Roman"/>
                <a:sym typeface="Times New Roman"/>
              </a:rPr>
              <a:t>Kaggle Competition Ranking</a:t>
            </a:r>
            <a:endParaRPr dirty="0">
              <a:solidFill>
                <a:srgbClr val="C3C0C0"/>
              </a:solidFill>
            </a:endParaRPr>
          </a:p>
          <a:p>
            <a:pPr marL="182880" lvl="0" indent="-205740" algn="l" rtl="0">
              <a:lnSpc>
                <a:spcPct val="100000"/>
              </a:lnSpc>
              <a:spcBef>
                <a:spcPts val="1200"/>
              </a:spcBef>
              <a:spcAft>
                <a:spcPts val="0"/>
              </a:spcAft>
              <a:buClr>
                <a:srgbClr val="9E3611"/>
              </a:buClr>
              <a:buSzPts val="2400"/>
              <a:buChar char="▪"/>
            </a:pPr>
            <a:r>
              <a:rPr lang="en-US" sz="2400" dirty="0">
                <a:solidFill>
                  <a:srgbClr val="202124"/>
                </a:solidFill>
                <a:latin typeface="Times New Roman"/>
                <a:ea typeface="Times New Roman"/>
                <a:cs typeface="Times New Roman"/>
                <a:sym typeface="Times New Roman"/>
              </a:rPr>
              <a:t>Conclusion</a:t>
            </a:r>
            <a:endParaRPr sz="2400" dirty="0">
              <a:solidFill>
                <a:srgbClr val="202124"/>
              </a:solidFill>
              <a:latin typeface="Times New Roman"/>
              <a:ea typeface="Times New Roman"/>
              <a:cs typeface="Times New Roman"/>
              <a:sym typeface="Times New Roman"/>
            </a:endParaRPr>
          </a:p>
        </p:txBody>
      </p:sp>
      <p:sp>
        <p:nvSpPr>
          <p:cNvPr id="298" name="Google Shape;298;p35"/>
          <p:cNvSpPr txBox="1">
            <a:spLocks noGrp="1"/>
          </p:cNvSpPr>
          <p:nvPr>
            <p:ph type="sldNum" idx="12"/>
          </p:nvPr>
        </p:nvSpPr>
        <p:spPr>
          <a:xfrm>
            <a:off x="11311128" y="6272784"/>
            <a:ext cx="6402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6"/>
          <p:cNvSpPr txBox="1">
            <a:spLocks noGrp="1"/>
          </p:cNvSpPr>
          <p:nvPr>
            <p:ph type="title"/>
          </p:nvPr>
        </p:nvSpPr>
        <p:spPr>
          <a:xfrm>
            <a:off x="1069848" y="257563"/>
            <a:ext cx="10058400" cy="1609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Conclusion</a:t>
            </a:r>
            <a:endParaRPr dirty="0">
              <a:latin typeface="Times New Roman"/>
              <a:ea typeface="Times New Roman"/>
              <a:cs typeface="Times New Roman"/>
              <a:sym typeface="Times New Roman"/>
            </a:endParaRPr>
          </a:p>
        </p:txBody>
      </p:sp>
      <p:sp>
        <p:nvSpPr>
          <p:cNvPr id="305" name="Google Shape;305;p36"/>
          <p:cNvSpPr txBox="1">
            <a:spLocks noGrp="1"/>
          </p:cNvSpPr>
          <p:nvPr>
            <p:ph type="body" idx="1"/>
          </p:nvPr>
        </p:nvSpPr>
        <p:spPr>
          <a:xfrm>
            <a:off x="1069850" y="1753179"/>
            <a:ext cx="10058400" cy="4383600"/>
          </a:xfrm>
          <a:prstGeom prst="rect">
            <a:avLst/>
          </a:prstGeom>
        </p:spPr>
        <p:txBody>
          <a:bodyPr spcFirstLastPara="1" wrap="square" lIns="91425" tIns="45700" rIns="91425" bIns="45700" anchor="t" anchorCtr="0">
            <a:normAutofit/>
          </a:bodyPr>
          <a:lstStyle/>
          <a:p>
            <a:pPr marL="457200" lvl="0" indent="-381000" algn="just" rtl="0">
              <a:lnSpc>
                <a:spcPct val="115000"/>
              </a:lnSpc>
              <a:spcBef>
                <a:spcPts val="1200"/>
              </a:spcBef>
              <a:spcAft>
                <a:spcPts val="0"/>
              </a:spcAft>
              <a:buSzPts val="2400"/>
              <a:buFont typeface="Times New Roman"/>
              <a:buChar char="▪"/>
            </a:pPr>
            <a:r>
              <a:rPr lang="en-US" sz="2400" dirty="0">
                <a:latin typeface="Times New Roman"/>
                <a:ea typeface="Times New Roman"/>
                <a:cs typeface="Times New Roman"/>
                <a:sym typeface="Times New Roman"/>
              </a:rPr>
              <a:t>We have </a:t>
            </a:r>
            <a:r>
              <a:rPr lang="en-US" sz="2400" b="1" dirty="0">
                <a:solidFill>
                  <a:srgbClr val="FF0000"/>
                </a:solidFill>
                <a:latin typeface="Times New Roman"/>
                <a:ea typeface="Times New Roman"/>
                <a:cs typeface="Times New Roman"/>
                <a:sym typeface="Times New Roman"/>
              </a:rPr>
              <a:t>adjusted the selection of pre-trained model</a:t>
            </a:r>
            <a:r>
              <a:rPr lang="en-US" sz="2400" dirty="0">
                <a:latin typeface="Times New Roman"/>
                <a:ea typeface="Times New Roman"/>
                <a:cs typeface="Times New Roman"/>
                <a:sym typeface="Times New Roman"/>
              </a:rPr>
              <a:t> based on the baseline method, </a:t>
            </a:r>
            <a:r>
              <a:rPr lang="en-US" sz="2400" b="1" dirty="0">
                <a:solidFill>
                  <a:srgbClr val="FF0000"/>
                </a:solidFill>
                <a:latin typeface="Times New Roman"/>
                <a:ea typeface="Times New Roman"/>
                <a:cs typeface="Times New Roman"/>
                <a:sym typeface="Times New Roman"/>
              </a:rPr>
              <a:t>modified the input structure </a:t>
            </a:r>
            <a:r>
              <a:rPr lang="en-US" sz="2400" dirty="0">
                <a:solidFill>
                  <a:srgbClr val="202124"/>
                </a:solidFill>
                <a:latin typeface="Times New Roman"/>
                <a:ea typeface="Times New Roman"/>
                <a:cs typeface="Times New Roman"/>
                <a:sym typeface="Times New Roman"/>
              </a:rPr>
              <a:t>of the model</a:t>
            </a:r>
            <a:r>
              <a:rPr lang="en-US" sz="2400" dirty="0">
                <a:latin typeface="Times New Roman"/>
                <a:ea typeface="Times New Roman"/>
                <a:cs typeface="Times New Roman"/>
                <a:sym typeface="Times New Roman"/>
              </a:rPr>
              <a:t>, and </a:t>
            </a:r>
            <a:r>
              <a:rPr lang="en-US" sz="2400" b="1" dirty="0">
                <a:solidFill>
                  <a:srgbClr val="FF0000"/>
                </a:solidFill>
                <a:latin typeface="Times New Roman"/>
                <a:ea typeface="Times New Roman"/>
                <a:cs typeface="Times New Roman"/>
                <a:sym typeface="Times New Roman"/>
              </a:rPr>
              <a:t>applied data augmentation during preprocessing</a:t>
            </a:r>
            <a:r>
              <a:rPr lang="en-US" sz="2400" dirty="0">
                <a:latin typeface="Times New Roman"/>
                <a:ea typeface="Times New Roman"/>
                <a:cs typeface="Times New Roman"/>
                <a:sym typeface="Times New Roman"/>
              </a:rPr>
              <a:t>. The numerical results indicate that these methods effectively enhance the model's performance, resulting in higher accuracy and F1 score.</a:t>
            </a:r>
            <a:endParaRPr sz="2400" dirty="0">
              <a:latin typeface="Times New Roman"/>
              <a:ea typeface="Times New Roman"/>
              <a:cs typeface="Times New Roman"/>
              <a:sym typeface="Times New Roman"/>
            </a:endParaRPr>
          </a:p>
          <a:p>
            <a:pPr marL="457200" lvl="0" indent="0" algn="just" rtl="0">
              <a:lnSpc>
                <a:spcPct val="115000"/>
              </a:lnSpc>
              <a:spcBef>
                <a:spcPts val="1200"/>
              </a:spcBef>
              <a:spcAft>
                <a:spcPts val="0"/>
              </a:spcAft>
              <a:buNone/>
            </a:pPr>
            <a:r>
              <a:rPr lang="en-US" sz="2600" b="1" dirty="0">
                <a:latin typeface="Times New Roman"/>
                <a:ea typeface="Times New Roman"/>
                <a:cs typeface="Times New Roman"/>
                <a:sym typeface="Times New Roman"/>
              </a:rPr>
              <a:t>Future Work:</a:t>
            </a:r>
            <a:endParaRPr sz="2600" b="1" dirty="0">
              <a:latin typeface="Times New Roman"/>
              <a:ea typeface="Times New Roman"/>
              <a:cs typeface="Times New Roman"/>
              <a:sym typeface="Times New Roman"/>
            </a:endParaRPr>
          </a:p>
          <a:p>
            <a:pPr marL="457200" lvl="0" indent="-381000" algn="just" rtl="0">
              <a:lnSpc>
                <a:spcPct val="115000"/>
              </a:lnSpc>
              <a:spcBef>
                <a:spcPts val="1200"/>
              </a:spcBef>
              <a:spcAft>
                <a:spcPts val="0"/>
              </a:spcAft>
              <a:buSzPts val="2400"/>
              <a:buFont typeface="Times New Roman"/>
              <a:buChar char="▪"/>
            </a:pPr>
            <a:r>
              <a:rPr lang="en-US" altLang="zh-TW" sz="2400" dirty="0">
                <a:latin typeface="Times New Roman"/>
                <a:cs typeface="Times New Roman"/>
              </a:rPr>
              <a:t>In order to enhance accuracy and F1 score for better ranking in Kaggle competition, we manage to collect the win rate between different models and use multitask to let the model consider it </a:t>
            </a:r>
            <a:r>
              <a:rPr lang="en-US" altLang="zh-TW" sz="2400">
                <a:latin typeface="Times New Roman"/>
                <a:cs typeface="Times New Roman"/>
              </a:rPr>
              <a:t>when training.</a:t>
            </a:r>
            <a:endParaRPr sz="2400" dirty="0">
              <a:latin typeface="Times New Roman"/>
              <a:cs typeface="Times New Roman"/>
              <a:sym typeface="Times New Roman"/>
            </a:endParaRPr>
          </a:p>
        </p:txBody>
      </p:sp>
      <p:sp>
        <p:nvSpPr>
          <p:cNvPr id="306" name="Google Shape;306;p36"/>
          <p:cNvSpPr txBox="1">
            <a:spLocks noGrp="1"/>
          </p:cNvSpPr>
          <p:nvPr>
            <p:ph type="sldNum" idx="12"/>
          </p:nvPr>
        </p:nvSpPr>
        <p:spPr>
          <a:xfrm>
            <a:off x="11311128" y="6272784"/>
            <a:ext cx="6402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Times New Roman"/>
              <a:buNone/>
            </a:pPr>
            <a:r>
              <a:rPr lang="en-US" dirty="0">
                <a:latin typeface="Times New Roman"/>
                <a:ea typeface="Times New Roman"/>
                <a:cs typeface="Times New Roman"/>
                <a:sym typeface="Times New Roman"/>
              </a:rPr>
              <a:t>References</a:t>
            </a:r>
            <a:endParaRPr dirty="0">
              <a:latin typeface="Times New Roman"/>
              <a:ea typeface="Times New Roman"/>
              <a:cs typeface="Times New Roman"/>
              <a:sym typeface="Times New Roman"/>
            </a:endParaRPr>
          </a:p>
        </p:txBody>
      </p:sp>
      <p:sp>
        <p:nvSpPr>
          <p:cNvPr id="312" name="Google Shape;312;p37"/>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240030" algn="just" rtl="0">
              <a:lnSpc>
                <a:spcPct val="115000"/>
              </a:lnSpc>
              <a:spcBef>
                <a:spcPts val="0"/>
              </a:spcBef>
              <a:spcAft>
                <a:spcPts val="0"/>
              </a:spcAft>
              <a:buSzPts val="2600"/>
              <a:buChar char="▪"/>
            </a:pPr>
            <a:r>
              <a:rPr lang="en-US" sz="2400" u="sng" dirty="0">
                <a:solidFill>
                  <a:schemeClr val="hlink"/>
                </a:solidFill>
                <a:latin typeface="Times New Roman"/>
                <a:ea typeface="Times New Roman"/>
                <a:cs typeface="Times New Roman"/>
                <a:sym typeface="Times New Roman"/>
                <a:hlinkClick r:id="rId3"/>
              </a:rPr>
              <a:t>https://www.kaggle.com/code/addisonhoward/lmsys-kerasnlp-starter</a:t>
            </a:r>
            <a:endParaRPr sz="2400" dirty="0">
              <a:latin typeface="Times New Roman"/>
              <a:ea typeface="Times New Roman"/>
              <a:cs typeface="Times New Roman"/>
              <a:sym typeface="Times New Roman"/>
            </a:endParaRPr>
          </a:p>
          <a:p>
            <a:pPr marL="182880" lvl="0" indent="-229234" algn="just" rtl="0">
              <a:lnSpc>
                <a:spcPct val="115000"/>
              </a:lnSpc>
              <a:spcBef>
                <a:spcPts val="0"/>
              </a:spcBef>
              <a:spcAft>
                <a:spcPts val="0"/>
              </a:spcAft>
              <a:buSzPts val="2430"/>
              <a:buFont typeface="Times New Roman"/>
              <a:buChar char="▪"/>
            </a:pPr>
            <a:r>
              <a:rPr lang="en-US" sz="2400" u="sng" dirty="0">
                <a:solidFill>
                  <a:schemeClr val="hlink"/>
                </a:solidFill>
                <a:latin typeface="Times New Roman"/>
                <a:ea typeface="Times New Roman"/>
                <a:cs typeface="Times New Roman"/>
                <a:sym typeface="Times New Roman"/>
                <a:hlinkClick r:id="rId4"/>
              </a:rPr>
              <a:t>https://www.kaggle.com/code/salmarashwan/predicting-chatbot-response-preferences-with-llms</a:t>
            </a:r>
            <a:endParaRPr sz="2400" dirty="0">
              <a:latin typeface="Times New Roman"/>
              <a:ea typeface="Times New Roman"/>
              <a:cs typeface="Times New Roman"/>
              <a:sym typeface="Times New Roman"/>
            </a:endParaRPr>
          </a:p>
          <a:p>
            <a:pPr marL="182880" lvl="0" indent="-259080" algn="just" rtl="0">
              <a:lnSpc>
                <a:spcPct val="115000"/>
              </a:lnSpc>
              <a:spcBef>
                <a:spcPts val="0"/>
              </a:spcBef>
              <a:spcAft>
                <a:spcPts val="0"/>
              </a:spcAft>
              <a:buSzPts val="2900"/>
              <a:buFont typeface="Times New Roman"/>
              <a:buChar char="▪"/>
            </a:pPr>
            <a:r>
              <a:rPr lang="en-US" sz="2400" u="sng" dirty="0">
                <a:solidFill>
                  <a:schemeClr val="hlink"/>
                </a:solidFill>
                <a:latin typeface="Times New Roman"/>
                <a:ea typeface="Times New Roman"/>
                <a:cs typeface="Times New Roman"/>
                <a:sym typeface="Times New Roman"/>
                <a:hlinkClick r:id="rId5"/>
              </a:rPr>
              <a:t>https://huggingface.co/huawei-noah/TinyBERT_General_4L_312D</a:t>
            </a:r>
            <a:endParaRPr sz="2400" dirty="0">
              <a:latin typeface="Times New Roman"/>
              <a:ea typeface="Times New Roman"/>
              <a:cs typeface="Times New Roman"/>
              <a:sym typeface="Times New Roman"/>
            </a:endParaRPr>
          </a:p>
          <a:p>
            <a:pPr marL="182880" lvl="0" indent="0" algn="just" rtl="0">
              <a:lnSpc>
                <a:spcPct val="90000"/>
              </a:lnSpc>
              <a:spcBef>
                <a:spcPts val="0"/>
              </a:spcBef>
              <a:spcAft>
                <a:spcPts val="0"/>
              </a:spcAft>
              <a:buNone/>
            </a:pPr>
            <a:endParaRPr sz="2400" dirty="0">
              <a:latin typeface="Times New Roman"/>
              <a:ea typeface="Times New Roman"/>
              <a:cs typeface="Times New Roman"/>
              <a:sym typeface="Times New Roman"/>
            </a:endParaRPr>
          </a:p>
          <a:p>
            <a:pPr marL="0" lvl="0" indent="0" algn="just" rtl="0">
              <a:lnSpc>
                <a:spcPct val="90000"/>
              </a:lnSpc>
              <a:spcBef>
                <a:spcPts val="0"/>
              </a:spcBef>
              <a:spcAft>
                <a:spcPts val="0"/>
              </a:spcAft>
              <a:buNone/>
            </a:pPr>
            <a:endParaRPr sz="2400" dirty="0">
              <a:latin typeface="Times New Roman"/>
              <a:ea typeface="Times New Roman"/>
              <a:cs typeface="Times New Roman"/>
              <a:sym typeface="Times New Roman"/>
            </a:endParaRPr>
          </a:p>
        </p:txBody>
      </p:sp>
      <p:sp>
        <p:nvSpPr>
          <p:cNvPr id="313" name="Google Shape;313;p37"/>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2EED5F-FFEF-407D-9FDB-6247DA8B916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Presentation Video Link</a:t>
            </a:r>
            <a:endParaRPr lang="zh-TW" altLang="en-US" dirty="0">
              <a:latin typeface="Times New Roman" panose="02020603050405020304" pitchFamily="18" charset="0"/>
              <a:cs typeface="Times New Roman" panose="02020603050405020304" pitchFamily="18" charset="0"/>
            </a:endParaRPr>
          </a:p>
        </p:txBody>
      </p:sp>
      <p:sp>
        <p:nvSpPr>
          <p:cNvPr id="3" name="文字版面配置區 2">
            <a:extLst>
              <a:ext uri="{FF2B5EF4-FFF2-40B4-BE49-F238E27FC236}">
                <a16:creationId xmlns:a16="http://schemas.microsoft.com/office/drawing/2014/main" id="{A9335222-63D3-41D8-A771-26C652B7E025}"/>
              </a:ext>
            </a:extLst>
          </p:cNvPr>
          <p:cNvSpPr>
            <a:spLocks noGrp="1"/>
          </p:cNvSpPr>
          <p:nvPr>
            <p:ph type="body" idx="1"/>
          </p:nvPr>
        </p:nvSpPr>
        <p:spPr/>
        <p:txBody>
          <a:bodyPr/>
          <a:lstStyle/>
          <a:p>
            <a:pPr>
              <a:buFont typeface="Wingdings" panose="05000000000000000000" pitchFamily="2" charset="2"/>
              <a:buChar char="n"/>
            </a:pPr>
            <a:r>
              <a:rPr lang="en-US" altLang="zh-TW" sz="2400" dirty="0">
                <a:latin typeface="Times New Roman" panose="02020603050405020304" pitchFamily="18" charset="0"/>
                <a:cs typeface="Times New Roman" panose="02020603050405020304" pitchFamily="18" charset="0"/>
                <a:hlinkClick r:id="rId2"/>
              </a:rPr>
              <a:t>https://</a:t>
            </a:r>
            <a:r>
              <a:rPr lang="en-US" altLang="zh-TW" sz="2400" dirty="0" err="1">
                <a:latin typeface="Times New Roman" panose="02020603050405020304" pitchFamily="18" charset="0"/>
                <a:cs typeface="Times New Roman" panose="02020603050405020304" pitchFamily="18" charset="0"/>
                <a:hlinkClick r:id="rId2"/>
              </a:rPr>
              <a:t>youtu.be</a:t>
            </a:r>
            <a:r>
              <a:rPr lang="en-US" altLang="zh-TW" sz="2400" dirty="0">
                <a:latin typeface="Times New Roman" panose="02020603050405020304" pitchFamily="18" charset="0"/>
                <a:cs typeface="Times New Roman" panose="02020603050405020304" pitchFamily="18" charset="0"/>
                <a:hlinkClick r:id="rId2"/>
              </a:rPr>
              <a:t>/</a:t>
            </a:r>
            <a:r>
              <a:rPr lang="en-US" altLang="zh-TW" sz="2400" dirty="0" err="1">
                <a:latin typeface="Times New Roman" panose="02020603050405020304" pitchFamily="18" charset="0"/>
                <a:cs typeface="Times New Roman" panose="02020603050405020304" pitchFamily="18" charset="0"/>
                <a:hlinkClick r:id="rId2"/>
              </a:rPr>
              <a:t>B9_mr-H1Hbg</a:t>
            </a:r>
            <a:endParaRPr lang="en-US" altLang="zh-TW" sz="2400" dirty="0">
              <a:latin typeface="Times New Roman" panose="02020603050405020304" pitchFamily="18" charset="0"/>
              <a:cs typeface="Times New Roman" panose="02020603050405020304" pitchFamily="18" charset="0"/>
            </a:endParaRPr>
          </a:p>
          <a:p>
            <a:pPr marL="131445" indent="0">
              <a:buNone/>
            </a:pPr>
            <a:endParaRPr lang="zh-TW" altLang="en-US" dirty="0"/>
          </a:p>
        </p:txBody>
      </p:sp>
      <p:sp>
        <p:nvSpPr>
          <p:cNvPr id="4" name="投影片編號版面配置區 3">
            <a:extLst>
              <a:ext uri="{FF2B5EF4-FFF2-40B4-BE49-F238E27FC236}">
                <a16:creationId xmlns:a16="http://schemas.microsoft.com/office/drawing/2014/main" id="{54FE4A6D-5B85-4246-8EFB-2BD35B1C031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26</a:t>
            </a:fld>
            <a:endParaRPr lang="en-US"/>
          </a:p>
        </p:txBody>
      </p:sp>
    </p:spTree>
    <p:extLst>
      <p:ext uri="{BB962C8B-B14F-4D97-AF65-F5344CB8AC3E}">
        <p14:creationId xmlns:p14="http://schemas.microsoft.com/office/powerpoint/2010/main" val="1986943334"/>
      </p:ext>
    </p:extLst>
  </p:cSld>
  <p:clrMapOvr>
    <a:masterClrMapping/>
  </p:clrMapOvr>
</p:sld>
</file>

<file path=ppt/theme/theme1.xml><?xml version="1.0" encoding="utf-8"?>
<a:theme xmlns:a="http://schemas.openxmlformats.org/drawingml/2006/main" name="木刻字型">
  <a:themeElements>
    <a:clrScheme name="木刻字型">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1439</Words>
  <Application>Microsoft Office PowerPoint</Application>
  <PresentationFormat>寬螢幕</PresentationFormat>
  <Paragraphs>254</Paragraphs>
  <Slides>26</Slides>
  <Notes>25</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26</vt:i4>
      </vt:variant>
    </vt:vector>
  </HeadingPairs>
  <TitlesOfParts>
    <vt:vector size="33" baseType="lpstr">
      <vt:lpstr>Noto Sans Symbols</vt:lpstr>
      <vt:lpstr>DFKai-SB</vt:lpstr>
      <vt:lpstr>Arial</vt:lpstr>
      <vt:lpstr>Rockwell</vt:lpstr>
      <vt:lpstr>Times New Roman</vt:lpstr>
      <vt:lpstr>Wingdings</vt:lpstr>
      <vt:lpstr>木刻字型</vt:lpstr>
      <vt:lpstr>LLM  Classification Finetuning</vt:lpstr>
      <vt:lpstr>Outline</vt:lpstr>
      <vt:lpstr>Outline</vt:lpstr>
      <vt:lpstr>Introduction</vt:lpstr>
      <vt:lpstr>Dataset</vt:lpstr>
      <vt:lpstr>Outline</vt:lpstr>
      <vt:lpstr>LMSYS: KerasNLP Starter</vt:lpstr>
      <vt:lpstr>Predicting Chatbot Response Preferences with LLMs</vt:lpstr>
      <vt:lpstr>Baseline Method Framework</vt:lpstr>
      <vt:lpstr>Outline</vt:lpstr>
      <vt:lpstr>Pre-Trained Model-TinyBERT</vt:lpstr>
      <vt:lpstr>Data Preprocessing</vt:lpstr>
      <vt:lpstr>Random Truncation Text Function</vt:lpstr>
      <vt:lpstr>Random Ordering in Collation Function</vt:lpstr>
      <vt:lpstr>Our Proposed Method Framework</vt:lpstr>
      <vt:lpstr>Training Settings</vt:lpstr>
      <vt:lpstr>Outline</vt:lpstr>
      <vt:lpstr>Experiments</vt:lpstr>
      <vt:lpstr>Outline</vt:lpstr>
      <vt:lpstr>Quantitative Analysis</vt:lpstr>
      <vt:lpstr>Outline</vt:lpstr>
      <vt:lpstr>Kaggle Competition Ranking</vt:lpstr>
      <vt:lpstr>Outline</vt:lpstr>
      <vt:lpstr>Conclusion</vt:lpstr>
      <vt:lpstr>References</vt:lpstr>
      <vt:lpstr>Presentation Video Link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Classification Finetuning</dc:title>
  <dc:creator>user</dc:creator>
  <cp:lastModifiedBy>綉惠 徐</cp:lastModifiedBy>
  <cp:revision>26</cp:revision>
  <dcterms:modified xsi:type="dcterms:W3CDTF">2024-12-31T09:48:41Z</dcterms:modified>
</cp:coreProperties>
</file>